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8" r:id="rId3"/>
    <p:sldId id="257" r:id="rId4"/>
    <p:sldId id="258" r:id="rId5"/>
    <p:sldId id="259" r:id="rId6"/>
    <p:sldId id="260" r:id="rId7"/>
    <p:sldId id="269" r:id="rId8"/>
    <p:sldId id="262" r:id="rId9"/>
    <p:sldId id="264"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CC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72"/>
    <p:restoredTop sz="94659"/>
  </p:normalViewPr>
  <p:slideViewPr>
    <p:cSldViewPr snapToGrid="0" snapToObjects="1">
      <p:cViewPr varScale="1">
        <p:scale>
          <a:sx n="151" d="100"/>
          <a:sy n="151" d="100"/>
        </p:scale>
        <p:origin x="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049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and title. Fifteen seconds. No bio slide.
Worth considering: boot the machine cold, PRINT RND(1), reboot, same number. Do it three times before this slide. Then everything after is explaining something they already watched.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79F98-C012-E888-0FA0-197278B6AA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ED7CD-8601-33AC-0A84-77F857D8F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20D95-284C-D416-1373-8A5C81B78698}"/>
              </a:ext>
            </a:extLst>
          </p:cNvPr>
          <p:cNvSpPr>
            <a:spLocks noGrp="1"/>
          </p:cNvSpPr>
          <p:nvPr>
            <p:ph type="body" idx="1"/>
          </p:nvPr>
        </p:nvSpPr>
        <p:spPr/>
        <p:txBody>
          <a:bodyPr/>
          <a:lstStyle/>
          <a:p>
            <a:r>
              <a:rPr lang="en-US" dirty="0"/>
              <a:t>Most of this room knows what a PRNG is. Keep it short.
The amber box is the part that has to land. Slide 4 depends on it.</a:t>
            </a:r>
          </a:p>
        </p:txBody>
      </p:sp>
      <p:sp>
        <p:nvSpPr>
          <p:cNvPr id="4" name="Slide Number Placeholder 3">
            <a:extLst>
              <a:ext uri="{FF2B5EF4-FFF2-40B4-BE49-F238E27FC236}">
                <a16:creationId xmlns:a16="http://schemas.microsoft.com/office/drawing/2014/main" id="{377AA7C3-2AAC-91DD-74CA-DAC4C814774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225109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room knows what a PRNG is. Keep it short.
The amber box is the part that has to land. Slide 4 depends on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out loud that $4E/$4F is not a jiffy clock. That's a Commodore term. The Apple II has no timer doing this.
Don't make the regression argument yet. Just show what worked.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left side first. Point at the bne going back to KEYIN. That's the whole entropy source.
The counter gets bumped before the keyboard is read, every pass. It's a loop count, not a keystroke count. Sit there two seconds and it's gone round tens of thousands of times.
Then the right side: the second thing Integer BASIC's RND does is read $4E.
Sources: 6502disassembly.com/a2-rom/OrigF8ROM.html and IntegerBASIC.html. Worth mentioning that Woz wrote Integer BASIC with no assembler, so there is no original source, only hand-written pages in a binder. The disassembly is Paul Santa-Maria's work, converted by Andy McFadden.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thing. Twenty-six instructions.
Point at the top: the seed comes from $C9, which got a fixed value out of ROM at boot. Point at the bottom: the answer goes back to $C9. Nothing else feeds it.
If someone wants the source, this is McFadden's disassembly at 6502disassembly.com.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4C7C1-4FB0-4895-7D2A-C9D953E17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F11C9-1794-700A-93A3-08768418D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6496A-8BC9-7FEF-D071-CDC4B5DF17CC}"/>
              </a:ext>
            </a:extLst>
          </p:cNvPr>
          <p:cNvSpPr>
            <a:spLocks noGrp="1"/>
          </p:cNvSpPr>
          <p:nvPr>
            <p:ph type="body" idx="1"/>
          </p:nvPr>
        </p:nvSpPr>
        <p:spPr/>
        <p:txBody>
          <a:bodyPr/>
          <a:lstStyle/>
          <a:p>
            <a:r>
              <a:rPr lang="en-US" dirty="0"/>
              <a:t>This is the whole thing. Twenty-six instructions.
Point at the top: the seed comes from $C9, which got a fixed value out of ROM at boot. Point at the bottom: the answer goes back to $C9. Nothing else feeds it.
If someone wants the source, this is McFadden's disassembly at 6502disassembly.com.</a:t>
            </a:r>
          </a:p>
        </p:txBody>
      </p:sp>
      <p:sp>
        <p:nvSpPr>
          <p:cNvPr id="4" name="Slide Number Placeholder 3">
            <a:extLst>
              <a:ext uri="{FF2B5EF4-FFF2-40B4-BE49-F238E27FC236}">
                <a16:creationId xmlns:a16="http://schemas.microsoft.com/office/drawing/2014/main" id="{196DE66F-49D1-0447-4F0F-6BA538D122D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70190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decades of people finding the same thing and working around it one program at a time.
The 202 figure is measured, from the paper, on real Applesoft. Better than any secondhand claim about Commodore.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will say just seed it first. Say it yourself before they do, and agree with it for new code.
Then: you can't edit software you didn't write, the failure is silent so only people who already know can fix it, and this machine used to do it automatically.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and QR. Nothing else.
Questions to expect: does the C64 have this too (yes, same Microsoft code, but Commodore wired RND(0) to hardware timers and gave people TI). Why not replace the generator (speed, no space, and RND(-n) has to keep working). What's at $F5CB (HFIND, answer it straight).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81A"/>
        </a:solidFill>
        <a:effectLst/>
      </p:bgPr>
    </p:bg>
    <p:spTree>
      <p:nvGrpSpPr>
        <p:cNvPr id="1" name=""/>
        <p:cNvGrpSpPr/>
        <p:nvPr/>
      </p:nvGrpSpPr>
      <p:grpSpPr>
        <a:xfrm>
          <a:off x="0" y="0"/>
          <a:ext cx="0" cy="0"/>
          <a:chOff x="0" y="0"/>
          <a:chExt cx="0" cy="0"/>
        </a:xfrm>
      </p:grpSpPr>
      <p:sp>
        <p:nvSpPr>
          <p:cNvPr id="2" name="Text 0"/>
          <p:cNvSpPr txBox="1"/>
          <p:nvPr/>
        </p:nvSpPr>
        <p:spPr>
          <a:xfrm>
            <a:off x="822960" y="2194560"/>
            <a:ext cx="10515600" cy="914400"/>
          </a:xfrm>
          <a:prstGeom prst="rect">
            <a:avLst/>
          </a:prstGeom>
          <a:noFill/>
          <a:ln/>
        </p:spPr>
        <p:txBody>
          <a:bodyPr wrap="square" lIns="0" tIns="0" rIns="0" bIns="0" rtlCol="0" anchor="ctr"/>
          <a:lstStyle/>
          <a:p>
            <a:pPr marL="0" indent="0">
              <a:buNone/>
            </a:pPr>
            <a:r>
              <a:rPr lang="en-US" sz="5200" b="1" dirty="0">
                <a:solidFill>
                  <a:srgbClr val="E9E7E3"/>
                </a:solidFill>
                <a:latin typeface="Arial" pitchFamily="34" charset="0"/>
                <a:ea typeface="Arial" pitchFamily="34" charset="-122"/>
                <a:cs typeface="Arial" pitchFamily="34" charset="-120"/>
              </a:rPr>
              <a:t>Applesoft's Loaded Dice</a:t>
            </a:r>
            <a:endParaRPr lang="en-US" sz="5200" dirty="0"/>
          </a:p>
        </p:txBody>
      </p:sp>
      <p:sp>
        <p:nvSpPr>
          <p:cNvPr id="3" name="Text 1"/>
          <p:cNvSpPr txBox="1"/>
          <p:nvPr/>
        </p:nvSpPr>
        <p:spPr>
          <a:xfrm>
            <a:off x="822960" y="3108960"/>
            <a:ext cx="10515600" cy="457200"/>
          </a:xfrm>
          <a:prstGeom prst="rect">
            <a:avLst/>
          </a:prstGeom>
          <a:noFill/>
          <a:ln/>
        </p:spPr>
        <p:txBody>
          <a:bodyPr wrap="square" lIns="0" tIns="0" rIns="0" bIns="0" rtlCol="0" anchor="ctr"/>
          <a:lstStyle/>
          <a:p>
            <a:pPr marL="0" indent="0">
              <a:buNone/>
            </a:pPr>
            <a:r>
              <a:rPr lang="en-US" sz="2200" dirty="0">
                <a:solidFill>
                  <a:srgbClr val="5FCB7E"/>
                </a:solidFill>
                <a:latin typeface="Arial" pitchFamily="34" charset="0"/>
                <a:ea typeface="Arial" pitchFamily="34" charset="-122"/>
                <a:cs typeface="Arial" pitchFamily="34" charset="-120"/>
              </a:rPr>
              <a:t>The Truth About Randomness on the Apple II, Then and Now</a:t>
            </a:r>
            <a:endParaRPr lang="en-US" sz="2200" dirty="0"/>
          </a:p>
        </p:txBody>
      </p:sp>
      <p:sp>
        <p:nvSpPr>
          <p:cNvPr id="4" name="Shape 2"/>
          <p:cNvSpPr/>
          <p:nvPr/>
        </p:nvSpPr>
        <p:spPr>
          <a:xfrm>
            <a:off x="841248" y="3840480"/>
            <a:ext cx="1463040" cy="27432"/>
          </a:xfrm>
          <a:prstGeom prst="rect">
            <a:avLst/>
          </a:prstGeom>
          <a:solidFill>
            <a:srgbClr val="3A3E42"/>
          </a:solidFill>
          <a:ln/>
        </p:spPr>
        <p:txBody>
          <a:bodyPr/>
          <a:lstStyle/>
          <a:p>
            <a:endParaRPr lang="en-US"/>
          </a:p>
        </p:txBody>
      </p:sp>
      <p:sp>
        <p:nvSpPr>
          <p:cNvPr id="5" name="Text 3"/>
          <p:cNvSpPr txBox="1"/>
          <p:nvPr/>
        </p:nvSpPr>
        <p:spPr>
          <a:xfrm>
            <a:off x="822960" y="4114800"/>
            <a:ext cx="10515600" cy="365760"/>
          </a:xfrm>
          <a:prstGeom prst="rect">
            <a:avLst/>
          </a:prstGeom>
          <a:noFill/>
          <a:ln/>
        </p:spPr>
        <p:txBody>
          <a:bodyPr wrap="square" lIns="0" tIns="0" rIns="0" bIns="0" rtlCol="0" anchor="ctr"/>
          <a:lstStyle/>
          <a:p>
            <a:pPr marL="0" indent="0">
              <a:buNone/>
            </a:pPr>
            <a:r>
              <a:rPr lang="en-US" sz="1600" dirty="0">
                <a:solidFill>
                  <a:srgbClr val="9DA39B"/>
                </a:solidFill>
                <a:latin typeface="Arial" pitchFamily="34" charset="0"/>
                <a:ea typeface="Arial" pitchFamily="34" charset="-122"/>
                <a:cs typeface="Arial" pitchFamily="34" charset="-120"/>
              </a:rPr>
              <a:t>Jeff Robison   ·   VCF Midwest 21 2026</a:t>
            </a:r>
            <a:endParaRPr lang="en-US" sz="1600" dirty="0"/>
          </a:p>
        </p:txBody>
      </p:sp>
      <p:sp>
        <p:nvSpPr>
          <p:cNvPr id="9" name="Shape 0">
            <a:extLst>
              <a:ext uri="{FF2B5EF4-FFF2-40B4-BE49-F238E27FC236}">
                <a16:creationId xmlns:a16="http://schemas.microsoft.com/office/drawing/2014/main" id="{F82E9071-B57E-7DEF-4B2F-E2D7489BEADD}"/>
              </a:ext>
            </a:extLst>
          </p:cNvPr>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10" name="Text 1">
            <a:extLst>
              <a:ext uri="{FF2B5EF4-FFF2-40B4-BE49-F238E27FC236}">
                <a16:creationId xmlns:a16="http://schemas.microsoft.com/office/drawing/2014/main" id="{104F5BFB-E54F-6D3A-1145-A66D5AD7A0DC}"/>
              </a:ext>
            </a:extLst>
          </p:cNvPr>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181A"/>
        </a:solidFill>
        <a:effectLst/>
      </p:bgPr>
    </p:bg>
    <p:spTree>
      <p:nvGrpSpPr>
        <p:cNvPr id="1" name="">
          <a:extLst>
            <a:ext uri="{FF2B5EF4-FFF2-40B4-BE49-F238E27FC236}">
              <a16:creationId xmlns:a16="http://schemas.microsoft.com/office/drawing/2014/main" id="{C341935B-AD13-777C-6917-F19B34B1A4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E8A61C-C838-61CF-6973-FFE0B03DD614}"/>
              </a:ext>
            </a:extLst>
          </p:cNvPr>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a:extLst>
              <a:ext uri="{FF2B5EF4-FFF2-40B4-BE49-F238E27FC236}">
                <a16:creationId xmlns:a16="http://schemas.microsoft.com/office/drawing/2014/main" id="{CB1F8243-BE61-6F5F-8EB8-23063A11FC04}"/>
              </a:ext>
            </a:extLst>
          </p:cNvPr>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1</a:t>
            </a:r>
            <a:endParaRPr lang="en-US" sz="1600" dirty="0"/>
          </a:p>
        </p:txBody>
      </p:sp>
      <p:sp>
        <p:nvSpPr>
          <p:cNvPr id="4" name="Text 2">
            <a:extLst>
              <a:ext uri="{FF2B5EF4-FFF2-40B4-BE49-F238E27FC236}">
                <a16:creationId xmlns:a16="http://schemas.microsoft.com/office/drawing/2014/main" id="{3AC61C20-0928-F186-5741-28C2F0020ADF}"/>
              </a:ext>
            </a:extLst>
          </p:cNvPr>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The Problem</a:t>
            </a:r>
            <a:endParaRPr lang="en-US" sz="3400" dirty="0"/>
          </a:p>
        </p:txBody>
      </p:sp>
      <p:grpSp>
        <p:nvGrpSpPr>
          <p:cNvPr id="15" name="Group 14">
            <a:extLst>
              <a:ext uri="{FF2B5EF4-FFF2-40B4-BE49-F238E27FC236}">
                <a16:creationId xmlns:a16="http://schemas.microsoft.com/office/drawing/2014/main" id="{FE6F6199-B65F-584B-A5E5-D8452BCA38FB}"/>
              </a:ext>
            </a:extLst>
          </p:cNvPr>
          <p:cNvGrpSpPr/>
          <p:nvPr/>
        </p:nvGrpSpPr>
        <p:grpSpPr>
          <a:xfrm>
            <a:off x="4235298" y="2678203"/>
            <a:ext cx="3474720" cy="1280160"/>
            <a:chOff x="4235298" y="2678203"/>
            <a:chExt cx="3474720" cy="1280160"/>
          </a:xfrm>
        </p:grpSpPr>
        <p:sp>
          <p:nvSpPr>
            <p:cNvPr id="13" name="Shape 4">
              <a:extLst>
                <a:ext uri="{FF2B5EF4-FFF2-40B4-BE49-F238E27FC236}">
                  <a16:creationId xmlns:a16="http://schemas.microsoft.com/office/drawing/2014/main" id="{63AE3F3C-6B04-6204-C367-539535763409}"/>
                </a:ext>
              </a:extLst>
            </p:cNvPr>
            <p:cNvSpPr/>
            <p:nvPr/>
          </p:nvSpPr>
          <p:spPr>
            <a:xfrm>
              <a:off x="4235298" y="2678203"/>
              <a:ext cx="3474720" cy="1280160"/>
            </a:xfrm>
            <a:prstGeom prst="roundRect">
              <a:avLst>
                <a:gd name="adj" fmla="val 4286"/>
              </a:avLst>
            </a:prstGeom>
            <a:solidFill>
              <a:srgbClr val="202225"/>
            </a:solidFill>
            <a:ln w="12700">
              <a:solidFill>
                <a:srgbClr val="32363A"/>
              </a:solidFill>
              <a:prstDash val="solid"/>
            </a:ln>
          </p:spPr>
          <p:txBody>
            <a:bodyPr/>
            <a:lstStyle/>
            <a:p>
              <a:endParaRPr lang="en-US"/>
            </a:p>
          </p:txBody>
        </p:sp>
        <p:sp>
          <p:nvSpPr>
            <p:cNvPr id="14" name="Text 5">
              <a:extLst>
                <a:ext uri="{FF2B5EF4-FFF2-40B4-BE49-F238E27FC236}">
                  <a16:creationId xmlns:a16="http://schemas.microsoft.com/office/drawing/2014/main" id="{7095649B-44C7-A87E-E1B2-7E318385B852}"/>
                </a:ext>
              </a:extLst>
            </p:cNvPr>
            <p:cNvSpPr txBox="1"/>
            <p:nvPr/>
          </p:nvSpPr>
          <p:spPr>
            <a:xfrm>
              <a:off x="4463898" y="2861083"/>
              <a:ext cx="3017520" cy="914400"/>
            </a:xfrm>
            <a:prstGeom prst="rect">
              <a:avLst/>
            </a:prstGeom>
            <a:noFill/>
            <a:ln/>
          </p:spPr>
          <p:txBody>
            <a:bodyPr wrap="square" lIns="0" tIns="0" rIns="0" bIns="0" rtlCol="0" anchor="t"/>
            <a:lstStyle/>
            <a:p>
              <a:pPr marL="0" indent="0">
                <a:lnSpc>
                  <a:spcPct val="130000"/>
                </a:lnSpc>
                <a:buNone/>
              </a:pPr>
              <a:r>
                <a:rPr lang="en-US" sz="1700" dirty="0">
                  <a:solidFill>
                    <a:srgbClr val="5FCB7E"/>
                  </a:solidFill>
                  <a:latin typeface="Courier New" pitchFamily="34" charset="0"/>
                  <a:ea typeface="Courier New" pitchFamily="34" charset="-122"/>
                  <a:cs typeface="Courier New" pitchFamily="34" charset="-120"/>
                </a:rPr>
                <a:t>PRINT RND(1)</a:t>
              </a:r>
              <a:endParaRPr lang="en-US" sz="1700" dirty="0"/>
            </a:p>
            <a:p>
              <a:pPr marL="0" indent="0">
                <a:lnSpc>
                  <a:spcPct val="130000"/>
                </a:lnSpc>
                <a:buNone/>
              </a:pPr>
              <a:r>
                <a:rPr lang="en-US" sz="1700" dirty="0">
                  <a:solidFill>
                    <a:srgbClr val="5FCB7E"/>
                  </a:solidFill>
                  <a:latin typeface="Courier New" pitchFamily="34" charset="0"/>
                  <a:ea typeface="Courier New" pitchFamily="34" charset="-122"/>
                  <a:cs typeface="Courier New" pitchFamily="34" charset="-120"/>
                </a:rPr>
                <a:t>.973136996</a:t>
              </a:r>
              <a:endParaRPr lang="en-US" sz="1700" dirty="0"/>
            </a:p>
          </p:txBody>
        </p:sp>
      </p:grpSp>
    </p:spTree>
    <p:extLst>
      <p:ext uri="{BB962C8B-B14F-4D97-AF65-F5344CB8AC3E}">
        <p14:creationId xmlns:p14="http://schemas.microsoft.com/office/powerpoint/2010/main" val="1796803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2</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What a random number generator is</a:t>
            </a:r>
            <a:endParaRPr lang="en-US" sz="3400" dirty="0"/>
          </a:p>
        </p:txBody>
      </p:sp>
      <p:sp>
        <p:nvSpPr>
          <p:cNvPr id="5" name="Shape 3"/>
          <p:cNvSpPr/>
          <p:nvPr/>
        </p:nvSpPr>
        <p:spPr>
          <a:xfrm>
            <a:off x="640080" y="1965960"/>
            <a:ext cx="5394960" cy="2194560"/>
          </a:xfrm>
          <a:prstGeom prst="roundRect">
            <a:avLst>
              <a:gd name="adj" fmla="val 2500"/>
            </a:avLst>
          </a:prstGeom>
          <a:solidFill>
            <a:srgbClr val="202225"/>
          </a:solidFill>
          <a:ln w="12700">
            <a:solidFill>
              <a:srgbClr val="32363A"/>
            </a:solidFill>
            <a:prstDash val="solid"/>
          </a:ln>
        </p:spPr>
        <p:txBody>
          <a:bodyPr/>
          <a:lstStyle/>
          <a:p>
            <a:endParaRPr lang="en-US"/>
          </a:p>
        </p:txBody>
      </p:sp>
      <p:sp>
        <p:nvSpPr>
          <p:cNvPr id="6" name="Text 4"/>
          <p:cNvSpPr txBox="1"/>
          <p:nvPr/>
        </p:nvSpPr>
        <p:spPr>
          <a:xfrm>
            <a:off x="914400" y="2194560"/>
            <a:ext cx="484632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Truly random  </a:t>
            </a:r>
            <a:endParaRPr lang="en-US" sz="1600" dirty="0"/>
          </a:p>
        </p:txBody>
      </p:sp>
      <p:sp>
        <p:nvSpPr>
          <p:cNvPr id="7" name="Text 5"/>
          <p:cNvSpPr txBox="1"/>
          <p:nvPr/>
        </p:nvSpPr>
        <p:spPr>
          <a:xfrm>
            <a:off x="914400" y="2651760"/>
            <a:ext cx="4846320" cy="1280160"/>
          </a:xfrm>
          <a:prstGeom prst="rect">
            <a:avLst/>
          </a:prstGeom>
          <a:noFill/>
          <a:ln/>
        </p:spPr>
        <p:txBody>
          <a:bodyPr wrap="square" lIns="0" tIns="0" rIns="0" bIns="0" rtlCol="0" anchor="t"/>
          <a:lstStyle/>
          <a:p>
            <a:pPr marL="0" indent="0">
              <a:buNone/>
            </a:pPr>
            <a:r>
              <a:rPr lang="en-US" sz="1500" dirty="0">
                <a:solidFill>
                  <a:srgbClr val="E9E7E3"/>
                </a:solidFill>
                <a:latin typeface="Arial" pitchFamily="34" charset="0"/>
                <a:ea typeface="Arial" pitchFamily="34" charset="-122"/>
                <a:cs typeface="Arial" pitchFamily="34" charset="-120"/>
              </a:rPr>
              <a:t>Comes from something physical. A die. Thermal noise. You can't compute it.</a:t>
            </a:r>
            <a:endParaRPr lang="en-US" sz="1500" dirty="0"/>
          </a:p>
        </p:txBody>
      </p:sp>
      <p:sp>
        <p:nvSpPr>
          <p:cNvPr id="8" name="Shape 6"/>
          <p:cNvSpPr/>
          <p:nvPr/>
        </p:nvSpPr>
        <p:spPr>
          <a:xfrm>
            <a:off x="6309360" y="1965960"/>
            <a:ext cx="5212080" cy="2194560"/>
          </a:xfrm>
          <a:prstGeom prst="roundRect">
            <a:avLst>
              <a:gd name="adj" fmla="val 2500"/>
            </a:avLst>
          </a:prstGeom>
          <a:solidFill>
            <a:srgbClr val="202225"/>
          </a:solidFill>
          <a:ln w="25400">
            <a:solidFill>
              <a:srgbClr val="5FCB7E"/>
            </a:solidFill>
            <a:prstDash val="solid"/>
          </a:ln>
        </p:spPr>
        <p:txBody>
          <a:bodyPr/>
          <a:lstStyle/>
          <a:p>
            <a:endParaRPr lang="en-US"/>
          </a:p>
        </p:txBody>
      </p:sp>
      <p:sp>
        <p:nvSpPr>
          <p:cNvPr id="9" name="Text 7"/>
          <p:cNvSpPr txBox="1"/>
          <p:nvPr/>
        </p:nvSpPr>
        <p:spPr>
          <a:xfrm>
            <a:off x="6583680" y="2194560"/>
            <a:ext cx="466344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Pseudo-random</a:t>
            </a:r>
            <a:endParaRPr lang="en-US" sz="1600" dirty="0"/>
          </a:p>
        </p:txBody>
      </p:sp>
      <p:sp>
        <p:nvSpPr>
          <p:cNvPr id="10" name="Text 8"/>
          <p:cNvSpPr txBox="1"/>
          <p:nvPr/>
        </p:nvSpPr>
        <p:spPr>
          <a:xfrm>
            <a:off x="6583680" y="2651760"/>
            <a:ext cx="4663440" cy="1280160"/>
          </a:xfrm>
          <a:prstGeom prst="rect">
            <a:avLst/>
          </a:prstGeom>
          <a:noFill/>
          <a:ln/>
        </p:spPr>
        <p:txBody>
          <a:bodyPr wrap="square" lIns="0" tIns="0" rIns="0" bIns="0" rtlCol="0" anchor="t"/>
          <a:lstStyle/>
          <a:p>
            <a:pPr marL="0" indent="0">
              <a:buNone/>
            </a:pPr>
            <a:r>
              <a:rPr lang="en-US" sz="1500" dirty="0">
                <a:solidFill>
                  <a:srgbClr val="E9E7E3"/>
                </a:solidFill>
                <a:latin typeface="Arial" pitchFamily="34" charset="0"/>
                <a:ea typeface="Arial" pitchFamily="34" charset="-122"/>
                <a:cs typeface="Arial" pitchFamily="34" charset="-120"/>
              </a:rPr>
              <a:t>A formula. You give it a starting number. It does math on that number and hands back an answer. The answer becomes the next starting number.</a:t>
            </a:r>
            <a:endParaRPr lang="en-US" sz="1500" dirty="0"/>
          </a:p>
        </p:txBody>
      </p:sp>
      <p:sp>
        <p:nvSpPr>
          <p:cNvPr id="11" name="Shape 9"/>
          <p:cNvSpPr/>
          <p:nvPr/>
        </p:nvSpPr>
        <p:spPr>
          <a:xfrm>
            <a:off x="640080" y="4343400"/>
            <a:ext cx="10881360" cy="1051560"/>
          </a:xfrm>
          <a:prstGeom prst="roundRect">
            <a:avLst>
              <a:gd name="adj" fmla="val 5217"/>
            </a:avLst>
          </a:prstGeom>
          <a:solidFill>
            <a:srgbClr val="202225"/>
          </a:solidFill>
          <a:ln w="25400">
            <a:solidFill>
              <a:srgbClr val="E0A73E"/>
            </a:solidFill>
            <a:prstDash val="solid"/>
          </a:ln>
        </p:spPr>
        <p:txBody>
          <a:bodyPr/>
          <a:lstStyle/>
          <a:p>
            <a:endParaRPr lang="en-US"/>
          </a:p>
        </p:txBody>
      </p:sp>
      <p:sp>
        <p:nvSpPr>
          <p:cNvPr id="12" name="Text 10"/>
          <p:cNvSpPr txBox="1"/>
          <p:nvPr/>
        </p:nvSpPr>
        <p:spPr>
          <a:xfrm>
            <a:off x="1005840" y="4645152"/>
            <a:ext cx="10149840" cy="548640"/>
          </a:xfrm>
          <a:prstGeom prst="rect">
            <a:avLst/>
          </a:prstGeom>
          <a:noFill/>
          <a:ln/>
        </p:spPr>
        <p:txBody>
          <a:bodyPr wrap="square" lIns="0" tIns="0" rIns="0" bIns="0" rtlCol="0" anchor="ctr"/>
          <a:lstStyle/>
          <a:p>
            <a:pPr marL="0" indent="0">
              <a:buNone/>
            </a:pPr>
            <a:r>
              <a:rPr lang="en-US" sz="1900" dirty="0">
                <a:solidFill>
                  <a:srgbClr val="E9E7E3"/>
                </a:solidFill>
                <a:latin typeface="Arial" pitchFamily="34" charset="0"/>
                <a:ea typeface="Arial" pitchFamily="34" charset="-122"/>
                <a:cs typeface="Arial" pitchFamily="34" charset="-120"/>
              </a:rPr>
              <a:t>Entropy is the key to sufficient randomness and unpatterned results.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3</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Integer BASIC, 1977</a:t>
            </a:r>
            <a:endParaRPr lang="en-US" sz="3400" dirty="0"/>
          </a:p>
        </p:txBody>
      </p:sp>
      <p:sp>
        <p:nvSpPr>
          <p:cNvPr id="5" name="Shape 3"/>
          <p:cNvSpPr/>
          <p:nvPr/>
        </p:nvSpPr>
        <p:spPr>
          <a:xfrm>
            <a:off x="640080" y="1965960"/>
            <a:ext cx="5394960" cy="2697480"/>
          </a:xfrm>
          <a:prstGeom prst="roundRect">
            <a:avLst>
              <a:gd name="adj" fmla="val 2034"/>
            </a:avLst>
          </a:prstGeom>
          <a:solidFill>
            <a:srgbClr val="202225"/>
          </a:solidFill>
          <a:ln w="25400">
            <a:solidFill>
              <a:srgbClr val="5FCB7E"/>
            </a:solidFill>
            <a:prstDash val="solid"/>
          </a:ln>
        </p:spPr>
        <p:txBody>
          <a:bodyPr/>
          <a:lstStyle/>
          <a:p>
            <a:endParaRPr lang="en-US"/>
          </a:p>
        </p:txBody>
      </p:sp>
      <p:sp>
        <p:nvSpPr>
          <p:cNvPr id="6" name="Text 4"/>
          <p:cNvSpPr txBox="1"/>
          <p:nvPr/>
        </p:nvSpPr>
        <p:spPr>
          <a:xfrm>
            <a:off x="914400" y="2194560"/>
            <a:ext cx="484632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Woz wrote a generator at $EF4E</a:t>
            </a:r>
            <a:endParaRPr lang="en-US" sz="1600" dirty="0"/>
          </a:p>
        </p:txBody>
      </p:sp>
      <p:sp>
        <p:nvSpPr>
          <p:cNvPr id="7" name="Text 5"/>
          <p:cNvSpPr txBox="1"/>
          <p:nvPr/>
        </p:nvSpPr>
        <p:spPr>
          <a:xfrm>
            <a:off x="914400" y="2697480"/>
            <a:ext cx="4846320" cy="18288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9E7E3"/>
                </a:solidFill>
                <a:latin typeface="Arial" pitchFamily="34" charset="0"/>
                <a:ea typeface="Arial" pitchFamily="34" charset="-122"/>
                <a:cs typeface="Arial" pitchFamily="34" charset="-120"/>
              </a:rPr>
              <a:t>Known period with limited range</a:t>
            </a:r>
            <a:endParaRPr lang="en-US" sz="1500" dirty="0"/>
          </a:p>
          <a:p>
            <a:pPr marL="342900" indent="-342900">
              <a:spcAft>
                <a:spcPts val="900"/>
              </a:spcAft>
              <a:buSzPct val="100000"/>
              <a:buChar char="•"/>
            </a:pPr>
            <a:r>
              <a:rPr lang="en-US" sz="1500" dirty="0">
                <a:solidFill>
                  <a:srgbClr val="E9E7E3"/>
                </a:solidFill>
                <a:latin typeface="Arial" pitchFamily="34" charset="0"/>
                <a:ea typeface="Arial" pitchFamily="34" charset="-122"/>
                <a:cs typeface="Arial" pitchFamily="34" charset="-120"/>
              </a:rPr>
              <a:t>No Floating point</a:t>
            </a:r>
          </a:p>
          <a:p>
            <a:pPr marL="342900" indent="-342900">
              <a:spcAft>
                <a:spcPts val="900"/>
              </a:spcAft>
              <a:buSzPct val="100000"/>
              <a:buChar char="•"/>
            </a:pPr>
            <a:r>
              <a:rPr lang="en-US" sz="1500" dirty="0">
                <a:solidFill>
                  <a:srgbClr val="E9E7E3"/>
                </a:solidFill>
                <a:latin typeface="Arial" pitchFamily="34" charset="0"/>
                <a:cs typeface="Arial" pitchFamily="34" charset="-120"/>
              </a:rPr>
              <a:t>Sufficiently random</a:t>
            </a:r>
            <a:endParaRPr lang="en-US" sz="1500" dirty="0"/>
          </a:p>
        </p:txBody>
      </p:sp>
      <p:sp>
        <p:nvSpPr>
          <p:cNvPr id="8" name="Shape 6"/>
          <p:cNvSpPr/>
          <p:nvPr/>
        </p:nvSpPr>
        <p:spPr>
          <a:xfrm>
            <a:off x="6309360" y="1965960"/>
            <a:ext cx="5212080" cy="2697480"/>
          </a:xfrm>
          <a:prstGeom prst="roundRect">
            <a:avLst>
              <a:gd name="adj" fmla="val 2034"/>
            </a:avLst>
          </a:prstGeom>
          <a:solidFill>
            <a:srgbClr val="202225"/>
          </a:solidFill>
          <a:ln w="12700">
            <a:solidFill>
              <a:srgbClr val="32363A"/>
            </a:solidFill>
            <a:prstDash val="solid"/>
          </a:ln>
        </p:spPr>
        <p:txBody>
          <a:bodyPr/>
          <a:lstStyle/>
          <a:p>
            <a:endParaRPr lang="en-US"/>
          </a:p>
        </p:txBody>
      </p:sp>
      <p:sp>
        <p:nvSpPr>
          <p:cNvPr id="9" name="Text 7"/>
          <p:cNvSpPr txBox="1"/>
          <p:nvPr/>
        </p:nvSpPr>
        <p:spPr>
          <a:xfrm>
            <a:off x="6583680" y="2194560"/>
            <a:ext cx="466344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Built-in Seed</a:t>
            </a:r>
            <a:endParaRPr lang="en-US" sz="1600" dirty="0"/>
          </a:p>
        </p:txBody>
      </p:sp>
      <p:sp>
        <p:nvSpPr>
          <p:cNvPr id="10" name="Text 8"/>
          <p:cNvSpPr txBox="1"/>
          <p:nvPr/>
        </p:nvSpPr>
        <p:spPr>
          <a:xfrm>
            <a:off x="6583680" y="2697480"/>
            <a:ext cx="4663440" cy="1143000"/>
          </a:xfrm>
          <a:prstGeom prst="rect">
            <a:avLst/>
          </a:prstGeom>
          <a:noFill/>
          <a:ln/>
        </p:spPr>
        <p:txBody>
          <a:bodyPr wrap="square" lIns="0" tIns="0" rIns="0" bIns="0" rtlCol="0" anchor="t"/>
          <a:lstStyle/>
          <a:p>
            <a:pPr marL="0" indent="0">
              <a:buNone/>
            </a:pPr>
            <a:r>
              <a:rPr lang="en-US" sz="1500" dirty="0">
                <a:solidFill>
                  <a:srgbClr val="E9E7E3"/>
                </a:solidFill>
                <a:latin typeface="Arial" pitchFamily="34" charset="0"/>
                <a:ea typeface="Arial" pitchFamily="34" charset="-122"/>
                <a:cs typeface="Arial" pitchFamily="34" charset="-120"/>
              </a:rPr>
              <a:t>There's a counter at $4E and $4F that goes up while the monitor sits waiting for a keypress. Integer BASIC reads it. </a:t>
            </a:r>
            <a:endParaRPr lang="en-US" sz="1500" dirty="0"/>
          </a:p>
        </p:txBody>
      </p:sp>
      <p:sp>
        <p:nvSpPr>
          <p:cNvPr id="12" name="Text 10"/>
          <p:cNvSpPr txBox="1"/>
          <p:nvPr/>
        </p:nvSpPr>
        <p:spPr>
          <a:xfrm>
            <a:off x="640080" y="5623560"/>
            <a:ext cx="10881360" cy="457200"/>
          </a:xfrm>
          <a:prstGeom prst="rect">
            <a:avLst/>
          </a:prstGeom>
          <a:noFill/>
          <a:ln/>
        </p:spPr>
        <p:txBody>
          <a:bodyPr wrap="square" lIns="0" tIns="0" rIns="0" bIns="0" rtlCol="0" anchor="ctr"/>
          <a:lstStyle/>
          <a:p>
            <a:pPr marL="0" indent="0">
              <a:buNone/>
            </a:pPr>
            <a:r>
              <a:rPr lang="en-US" sz="1500" dirty="0">
                <a:solidFill>
                  <a:srgbClr val="9DA39B"/>
                </a:solidFill>
                <a:latin typeface="Arial" pitchFamily="34" charset="0"/>
                <a:ea typeface="Arial" pitchFamily="34" charset="-122"/>
                <a:cs typeface="Arial" pitchFamily="34" charset="-120"/>
              </a:rPr>
              <a:t>Sander-Cederlof, Apple Assembly Line, August 1981.</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4</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Built-in Entropy Source</a:t>
            </a:r>
            <a:endParaRPr lang="en-US" sz="3400" dirty="0"/>
          </a:p>
        </p:txBody>
      </p:sp>
      <p:pic>
        <p:nvPicPr>
          <p:cNvPr id="6" name="Image 0" descr="/home/claude/keyin.png"/>
          <p:cNvPicPr>
            <a:picLocks noChangeAspect="1"/>
          </p:cNvPicPr>
          <p:nvPr/>
        </p:nvPicPr>
        <p:blipFill>
          <a:blip r:embed="rId3"/>
          <a:stretch>
            <a:fillRect/>
          </a:stretch>
        </p:blipFill>
        <p:spPr>
          <a:xfrm>
            <a:off x="467085" y="1742604"/>
            <a:ext cx="5029200" cy="1069848"/>
          </a:xfrm>
          <a:prstGeom prst="rect">
            <a:avLst/>
          </a:prstGeom>
        </p:spPr>
      </p:pic>
      <p:sp>
        <p:nvSpPr>
          <p:cNvPr id="7" name="Text 4"/>
          <p:cNvSpPr txBox="1"/>
          <p:nvPr/>
        </p:nvSpPr>
        <p:spPr>
          <a:xfrm>
            <a:off x="211053" y="1468284"/>
            <a:ext cx="5394960" cy="914400"/>
          </a:xfrm>
          <a:prstGeom prst="rect">
            <a:avLst/>
          </a:prstGeom>
          <a:noFill/>
          <a:ln/>
        </p:spPr>
        <p:txBody>
          <a:bodyPr wrap="square" lIns="0" tIns="0" rIns="0" bIns="0" rtlCol="0" anchor="t"/>
          <a:lstStyle/>
          <a:p>
            <a:r>
              <a:rPr lang="en-US" sz="1500" dirty="0">
                <a:solidFill>
                  <a:srgbClr val="5FCC7E"/>
                </a:solidFill>
              </a:rPr>
              <a:t>https://6502disassembly.com/a2-rom/OrigF8ROM.html</a:t>
            </a:r>
          </a:p>
        </p:txBody>
      </p:sp>
      <p:grpSp>
        <p:nvGrpSpPr>
          <p:cNvPr id="32" name="Group 31">
            <a:extLst>
              <a:ext uri="{FF2B5EF4-FFF2-40B4-BE49-F238E27FC236}">
                <a16:creationId xmlns:a16="http://schemas.microsoft.com/office/drawing/2014/main" id="{A8C986C3-6CC0-CA6B-F5EE-16F56CF7BC3F}"/>
              </a:ext>
            </a:extLst>
          </p:cNvPr>
          <p:cNvGrpSpPr/>
          <p:nvPr/>
        </p:nvGrpSpPr>
        <p:grpSpPr>
          <a:xfrm>
            <a:off x="5562064" y="1329430"/>
            <a:ext cx="5771264" cy="3273552"/>
            <a:chOff x="5562064" y="1329430"/>
            <a:chExt cx="5771264" cy="3273552"/>
          </a:xfrm>
        </p:grpSpPr>
        <p:sp>
          <p:nvSpPr>
            <p:cNvPr id="11" name="Text 8"/>
            <p:cNvSpPr txBox="1"/>
            <p:nvPr/>
          </p:nvSpPr>
          <p:spPr>
            <a:xfrm>
              <a:off x="5562064" y="2749433"/>
              <a:ext cx="1005840" cy="320040"/>
            </a:xfrm>
            <a:prstGeom prst="rect">
              <a:avLst/>
            </a:prstGeom>
            <a:noFill/>
            <a:ln/>
          </p:spPr>
          <p:txBody>
            <a:bodyPr wrap="square" lIns="0" tIns="0" rIns="0" bIns="0" rtlCol="0" anchor="ctr"/>
            <a:lstStyle/>
            <a:p>
              <a:pPr marL="0" indent="0" algn="ctr">
                <a:buNone/>
              </a:pPr>
              <a:r>
                <a:rPr lang="en-US" sz="1100" dirty="0">
                  <a:solidFill>
                    <a:srgbClr val="5FCB7E"/>
                  </a:solidFill>
                  <a:latin typeface="Courier New" pitchFamily="34" charset="0"/>
                  <a:ea typeface="Courier New" pitchFamily="34" charset="-122"/>
                  <a:cs typeface="Courier New" pitchFamily="34" charset="-120"/>
                </a:rPr>
                <a:t>$4E/$4F</a:t>
              </a:r>
              <a:endParaRPr lang="en-US" sz="1100" dirty="0"/>
            </a:p>
          </p:txBody>
        </p:sp>
        <p:grpSp>
          <p:nvGrpSpPr>
            <p:cNvPr id="31" name="Group 30">
              <a:extLst>
                <a:ext uri="{FF2B5EF4-FFF2-40B4-BE49-F238E27FC236}">
                  <a16:creationId xmlns:a16="http://schemas.microsoft.com/office/drawing/2014/main" id="{3E3E7FBD-91A0-170C-4244-AE0EEFBBAA58}"/>
                </a:ext>
              </a:extLst>
            </p:cNvPr>
            <p:cNvGrpSpPr/>
            <p:nvPr/>
          </p:nvGrpSpPr>
          <p:grpSpPr>
            <a:xfrm>
              <a:off x="5661247" y="1329430"/>
              <a:ext cx="5672081" cy="3273552"/>
              <a:chOff x="5676364" y="1376844"/>
              <a:chExt cx="5672081" cy="3273552"/>
            </a:xfrm>
          </p:grpSpPr>
          <p:sp>
            <p:nvSpPr>
              <p:cNvPr id="10" name="Shape 7"/>
              <p:cNvSpPr/>
              <p:nvPr/>
            </p:nvSpPr>
            <p:spPr>
              <a:xfrm>
                <a:off x="5676364" y="3404588"/>
                <a:ext cx="777240" cy="0"/>
              </a:xfrm>
              <a:prstGeom prst="line">
                <a:avLst/>
              </a:prstGeom>
              <a:noFill/>
              <a:ln w="19050">
                <a:solidFill>
                  <a:srgbClr val="5FCB7E"/>
                </a:solidFill>
                <a:prstDash val="solid"/>
                <a:tailEnd type="triangle"/>
              </a:ln>
            </p:spPr>
            <p:txBody>
              <a:bodyPr/>
              <a:lstStyle/>
              <a:p>
                <a:endParaRPr lang="en-US"/>
              </a:p>
            </p:txBody>
          </p:sp>
          <p:sp>
            <p:nvSpPr>
              <p:cNvPr id="12" name="Text 9"/>
              <p:cNvSpPr txBox="1"/>
              <p:nvPr/>
            </p:nvSpPr>
            <p:spPr>
              <a:xfrm>
                <a:off x="6639285" y="1376844"/>
                <a:ext cx="4709160" cy="320040"/>
              </a:xfrm>
              <a:prstGeom prst="rect">
                <a:avLst/>
              </a:prstGeom>
              <a:noFill/>
              <a:ln/>
            </p:spPr>
            <p:txBody>
              <a:bodyPr wrap="square" lIns="0" tIns="0" rIns="0" bIns="0" rtlCol="0" anchor="ctr"/>
              <a:lstStyle/>
              <a:p>
                <a:pPr marL="0" indent="0">
                  <a:buNone/>
                </a:pPr>
                <a:r>
                  <a:rPr lang="en-US" sz="1500" b="1" dirty="0">
                    <a:solidFill>
                      <a:srgbClr val="5FCB7E"/>
                    </a:solidFill>
                    <a:latin typeface="Arial" pitchFamily="34" charset="0"/>
                    <a:ea typeface="Arial" pitchFamily="34" charset="-122"/>
                    <a:cs typeface="Arial" pitchFamily="34" charset="-120"/>
                  </a:rPr>
                  <a:t>Integer BASIC, at $EF4E</a:t>
                </a:r>
                <a:endParaRPr lang="en-US" sz="1500" dirty="0"/>
              </a:p>
            </p:txBody>
          </p:sp>
          <p:pic>
            <p:nvPicPr>
              <p:cNvPr id="13" name="Image 1" descr="/home/claude/intbasic_rnd.png"/>
              <p:cNvPicPr>
                <a:picLocks noChangeAspect="1"/>
              </p:cNvPicPr>
              <p:nvPr/>
            </p:nvPicPr>
            <p:blipFill>
              <a:blip r:embed="rId4"/>
              <a:stretch>
                <a:fillRect/>
              </a:stretch>
            </p:blipFill>
            <p:spPr>
              <a:xfrm>
                <a:off x="6639285" y="1742604"/>
                <a:ext cx="4709160" cy="2907792"/>
              </a:xfrm>
              <a:prstGeom prst="rect">
                <a:avLst/>
              </a:prstGeom>
            </p:spPr>
          </p:pic>
        </p:grpSp>
      </p:grpSp>
      <p:sp>
        <p:nvSpPr>
          <p:cNvPr id="15" name="Text 11"/>
          <p:cNvSpPr txBox="1"/>
          <p:nvPr/>
        </p:nvSpPr>
        <p:spPr>
          <a:xfrm>
            <a:off x="266287" y="1030855"/>
            <a:ext cx="3778080" cy="457200"/>
          </a:xfrm>
          <a:prstGeom prst="rect">
            <a:avLst/>
          </a:prstGeom>
          <a:noFill/>
          <a:ln/>
        </p:spPr>
        <p:txBody>
          <a:bodyPr wrap="square" lIns="0" tIns="0" rIns="0" bIns="0" rtlCol="0" anchor="ctr"/>
          <a:lstStyle/>
          <a:p>
            <a:pPr marL="0" indent="0">
              <a:buNone/>
            </a:pPr>
            <a:r>
              <a:rPr lang="en-US" sz="1600" dirty="0">
                <a:solidFill>
                  <a:srgbClr val="5FCB7E"/>
                </a:solidFill>
                <a:latin typeface="Arial" pitchFamily="34" charset="0"/>
                <a:ea typeface="Arial" pitchFamily="34" charset="-122"/>
                <a:cs typeface="Arial" pitchFamily="34" charset="-120"/>
              </a:rPr>
              <a:t>Present in some form in all Apple II ROMs</a:t>
            </a:r>
            <a:endParaRPr lang="en-US" sz="1600" dirty="0"/>
          </a:p>
        </p:txBody>
      </p:sp>
      <p:pic>
        <p:nvPicPr>
          <p:cNvPr id="18" name="Picture 17">
            <a:extLst>
              <a:ext uri="{FF2B5EF4-FFF2-40B4-BE49-F238E27FC236}">
                <a16:creationId xmlns:a16="http://schemas.microsoft.com/office/drawing/2014/main" id="{F8886198-9BCA-7628-C105-1DC0E737DE2D}"/>
              </a:ext>
            </a:extLst>
          </p:cNvPr>
          <p:cNvPicPr>
            <a:picLocks noChangeAspect="1"/>
          </p:cNvPicPr>
          <p:nvPr/>
        </p:nvPicPr>
        <p:blipFill>
          <a:blip r:embed="rId5"/>
          <a:stretch>
            <a:fillRect/>
          </a:stretch>
        </p:blipFill>
        <p:spPr>
          <a:xfrm>
            <a:off x="491799" y="3297084"/>
            <a:ext cx="4550719" cy="1174379"/>
          </a:xfrm>
          <a:prstGeom prst="rect">
            <a:avLst/>
          </a:prstGeom>
        </p:spPr>
      </p:pic>
      <p:sp>
        <p:nvSpPr>
          <p:cNvPr id="20" name="TextBox 19">
            <a:extLst>
              <a:ext uri="{FF2B5EF4-FFF2-40B4-BE49-F238E27FC236}">
                <a16:creationId xmlns:a16="http://schemas.microsoft.com/office/drawing/2014/main" id="{1D8E2C12-7EA0-26DB-72E8-A881BEBB80A3}"/>
              </a:ext>
            </a:extLst>
          </p:cNvPr>
          <p:cNvSpPr txBox="1"/>
          <p:nvPr/>
        </p:nvSpPr>
        <p:spPr>
          <a:xfrm>
            <a:off x="93292" y="2902106"/>
            <a:ext cx="6098058" cy="369332"/>
          </a:xfrm>
          <a:prstGeom prst="rect">
            <a:avLst/>
          </a:prstGeom>
          <a:noFill/>
        </p:spPr>
        <p:txBody>
          <a:bodyPr wrap="square">
            <a:spAutoFit/>
          </a:bodyPr>
          <a:lstStyle/>
          <a:p>
            <a:r>
              <a:rPr lang="en-US" dirty="0">
                <a:solidFill>
                  <a:srgbClr val="5FCC7E"/>
                </a:solidFill>
              </a:rPr>
              <a:t>https://6502disassembly.com/a2-rom/AutoF8ROM.html</a:t>
            </a:r>
          </a:p>
        </p:txBody>
      </p:sp>
      <p:pic>
        <p:nvPicPr>
          <p:cNvPr id="22" name="Picture 21">
            <a:extLst>
              <a:ext uri="{FF2B5EF4-FFF2-40B4-BE49-F238E27FC236}">
                <a16:creationId xmlns:a16="http://schemas.microsoft.com/office/drawing/2014/main" id="{F1B3D4F5-87FC-5B8C-D9DF-5FBB3A3A3F48}"/>
              </a:ext>
            </a:extLst>
          </p:cNvPr>
          <p:cNvPicPr>
            <a:picLocks noChangeAspect="1"/>
          </p:cNvPicPr>
          <p:nvPr/>
        </p:nvPicPr>
        <p:blipFill>
          <a:blip r:embed="rId6"/>
          <a:stretch>
            <a:fillRect/>
          </a:stretch>
        </p:blipFill>
        <p:spPr>
          <a:xfrm>
            <a:off x="467085" y="4983000"/>
            <a:ext cx="4941714" cy="417204"/>
          </a:xfrm>
          <a:prstGeom prst="rect">
            <a:avLst/>
          </a:prstGeom>
        </p:spPr>
      </p:pic>
      <p:sp>
        <p:nvSpPr>
          <p:cNvPr id="24" name="TextBox 23">
            <a:extLst>
              <a:ext uri="{FF2B5EF4-FFF2-40B4-BE49-F238E27FC236}">
                <a16:creationId xmlns:a16="http://schemas.microsoft.com/office/drawing/2014/main" id="{6A7A2822-511C-51D2-BB81-EC2B63DCA37C}"/>
              </a:ext>
            </a:extLst>
          </p:cNvPr>
          <p:cNvSpPr txBox="1"/>
          <p:nvPr/>
        </p:nvSpPr>
        <p:spPr>
          <a:xfrm>
            <a:off x="211053" y="4542565"/>
            <a:ext cx="6098058" cy="369332"/>
          </a:xfrm>
          <a:prstGeom prst="rect">
            <a:avLst/>
          </a:prstGeom>
          <a:noFill/>
        </p:spPr>
        <p:txBody>
          <a:bodyPr wrap="square">
            <a:spAutoFit/>
          </a:bodyPr>
          <a:lstStyle/>
          <a:p>
            <a:r>
              <a:rPr lang="en-US" dirty="0">
                <a:solidFill>
                  <a:srgbClr val="5FCC7E"/>
                </a:solidFill>
              </a:rPr>
              <a:t>https://6502disassembly.com/a2-rom/IIc_16kb.html</a:t>
            </a:r>
          </a:p>
        </p:txBody>
      </p:sp>
      <p:pic>
        <p:nvPicPr>
          <p:cNvPr id="26" name="Picture 25">
            <a:extLst>
              <a:ext uri="{FF2B5EF4-FFF2-40B4-BE49-F238E27FC236}">
                <a16:creationId xmlns:a16="http://schemas.microsoft.com/office/drawing/2014/main" id="{4E513ED2-6116-D2E0-63C7-41EFC1C01ACA}"/>
              </a:ext>
            </a:extLst>
          </p:cNvPr>
          <p:cNvPicPr>
            <a:picLocks noChangeAspect="1"/>
          </p:cNvPicPr>
          <p:nvPr/>
        </p:nvPicPr>
        <p:blipFill>
          <a:blip r:embed="rId7"/>
          <a:stretch>
            <a:fillRect/>
          </a:stretch>
        </p:blipFill>
        <p:spPr>
          <a:xfrm>
            <a:off x="520829" y="5779364"/>
            <a:ext cx="5021298" cy="895476"/>
          </a:xfrm>
          <a:prstGeom prst="rect">
            <a:avLst/>
          </a:prstGeom>
        </p:spPr>
      </p:pic>
      <p:sp>
        <p:nvSpPr>
          <p:cNvPr id="30" name="TextBox 29">
            <a:extLst>
              <a:ext uri="{FF2B5EF4-FFF2-40B4-BE49-F238E27FC236}">
                <a16:creationId xmlns:a16="http://schemas.microsoft.com/office/drawing/2014/main" id="{FA30E583-A9EF-1930-E2D5-E99E8A1821ED}"/>
              </a:ext>
            </a:extLst>
          </p:cNvPr>
          <p:cNvSpPr txBox="1"/>
          <p:nvPr/>
        </p:nvSpPr>
        <p:spPr>
          <a:xfrm>
            <a:off x="211053" y="5435343"/>
            <a:ext cx="6098058" cy="369332"/>
          </a:xfrm>
          <a:prstGeom prst="rect">
            <a:avLst/>
          </a:prstGeom>
          <a:noFill/>
        </p:spPr>
        <p:txBody>
          <a:bodyPr wrap="square">
            <a:spAutoFit/>
          </a:bodyPr>
          <a:lstStyle/>
          <a:p>
            <a:r>
              <a:rPr lang="en-US" dirty="0">
                <a:solidFill>
                  <a:srgbClr val="5FCC7E"/>
                </a:solidFill>
              </a:rPr>
              <a:t>https://6502disassembly.com/a2-rom/Unenh_IIe_80col.html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5</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Applesoft, 1978</a:t>
            </a:r>
            <a:endParaRPr lang="en-US" sz="3400" dirty="0"/>
          </a:p>
        </p:txBody>
      </p:sp>
      <p:sp>
        <p:nvSpPr>
          <p:cNvPr id="5" name="Text 3"/>
          <p:cNvSpPr txBox="1"/>
          <p:nvPr/>
        </p:nvSpPr>
        <p:spPr>
          <a:xfrm>
            <a:off x="640080" y="1115568"/>
            <a:ext cx="10058400" cy="365760"/>
          </a:xfrm>
          <a:prstGeom prst="rect">
            <a:avLst/>
          </a:prstGeom>
          <a:noFill/>
          <a:ln/>
        </p:spPr>
        <p:txBody>
          <a:bodyPr wrap="square" lIns="0" tIns="0" rIns="0" bIns="0" rtlCol="0" anchor="ctr"/>
          <a:lstStyle/>
          <a:p>
            <a:pPr marL="0" indent="0">
              <a:buNone/>
            </a:pPr>
            <a:endParaRPr lang="en-US" sz="1600" dirty="0"/>
          </a:p>
        </p:txBody>
      </p:sp>
      <p:pic>
        <p:nvPicPr>
          <p:cNvPr id="6" name="Image 0" descr="/home/claude/rnd_listing.png"/>
          <p:cNvPicPr>
            <a:picLocks noChangeAspect="1"/>
          </p:cNvPicPr>
          <p:nvPr/>
        </p:nvPicPr>
        <p:blipFill>
          <a:blip r:embed="rId3"/>
          <a:stretch>
            <a:fillRect/>
          </a:stretch>
        </p:blipFill>
        <p:spPr>
          <a:xfrm>
            <a:off x="640080" y="1691640"/>
            <a:ext cx="7772400" cy="4197096"/>
          </a:xfrm>
          <a:prstGeom prst="rect">
            <a:avLst/>
          </a:prstGeom>
        </p:spPr>
      </p:pic>
      <p:sp>
        <p:nvSpPr>
          <p:cNvPr id="7" name="Shape 4"/>
          <p:cNvSpPr/>
          <p:nvPr/>
        </p:nvSpPr>
        <p:spPr>
          <a:xfrm>
            <a:off x="8641080" y="1691640"/>
            <a:ext cx="2880360" cy="1965960"/>
          </a:xfrm>
          <a:prstGeom prst="roundRect">
            <a:avLst>
              <a:gd name="adj" fmla="val 2791"/>
            </a:avLst>
          </a:prstGeom>
          <a:solidFill>
            <a:srgbClr val="202225"/>
          </a:solidFill>
          <a:ln w="25400">
            <a:solidFill>
              <a:srgbClr val="D9564A"/>
            </a:solidFill>
            <a:prstDash val="solid"/>
          </a:ln>
        </p:spPr>
        <p:txBody>
          <a:bodyPr/>
          <a:lstStyle/>
          <a:p>
            <a:endParaRPr lang="en-US"/>
          </a:p>
        </p:txBody>
      </p:sp>
      <p:sp>
        <p:nvSpPr>
          <p:cNvPr id="8" name="Text 5"/>
          <p:cNvSpPr txBox="1"/>
          <p:nvPr/>
        </p:nvSpPr>
        <p:spPr>
          <a:xfrm>
            <a:off x="8869680" y="1874520"/>
            <a:ext cx="2624328" cy="320040"/>
          </a:xfrm>
          <a:prstGeom prst="rect">
            <a:avLst/>
          </a:prstGeom>
          <a:noFill/>
          <a:ln/>
        </p:spPr>
        <p:txBody>
          <a:bodyPr wrap="square" lIns="0" tIns="0" rIns="0" bIns="0" rtlCol="0" anchor="ctr"/>
          <a:lstStyle/>
          <a:p>
            <a:pPr marL="0" indent="0">
              <a:buNone/>
            </a:pPr>
            <a:r>
              <a:rPr lang="en-US" sz="1400" b="1" dirty="0">
                <a:solidFill>
                  <a:srgbClr val="D9564A"/>
                </a:solidFill>
                <a:latin typeface="Arial" pitchFamily="34" charset="0"/>
                <a:ea typeface="Arial" pitchFamily="34" charset="-122"/>
                <a:cs typeface="Arial" pitchFamily="34" charset="-120"/>
              </a:rPr>
              <a:t>Applesoft relies on different seed</a:t>
            </a:r>
            <a:endParaRPr lang="en-US" sz="1400" dirty="0"/>
          </a:p>
        </p:txBody>
      </p:sp>
      <p:sp>
        <p:nvSpPr>
          <p:cNvPr id="9" name="Text 6"/>
          <p:cNvSpPr txBox="1"/>
          <p:nvPr/>
        </p:nvSpPr>
        <p:spPr>
          <a:xfrm>
            <a:off x="8869680" y="2267712"/>
            <a:ext cx="2468880" cy="1188720"/>
          </a:xfrm>
          <a:prstGeom prst="rect">
            <a:avLst/>
          </a:prstGeom>
          <a:noFill/>
          <a:ln/>
        </p:spPr>
        <p:txBody>
          <a:bodyPr wrap="square" lIns="0" tIns="0" rIns="0" bIns="0" rtlCol="0" anchor="t"/>
          <a:lstStyle/>
          <a:p>
            <a:pPr marL="0" indent="0">
              <a:buNone/>
            </a:pPr>
            <a:r>
              <a:rPr lang="en-US" sz="1300" dirty="0">
                <a:solidFill>
                  <a:schemeClr val="bg1">
                    <a:lumMod val="95000"/>
                  </a:schemeClr>
                </a:solidFill>
              </a:rPr>
              <a:t>However, the seed for Integer BASIC remains.</a:t>
            </a:r>
          </a:p>
        </p:txBody>
      </p:sp>
      <p:sp>
        <p:nvSpPr>
          <p:cNvPr id="10" name="Shape 7"/>
          <p:cNvSpPr/>
          <p:nvPr/>
        </p:nvSpPr>
        <p:spPr>
          <a:xfrm>
            <a:off x="8641080" y="3840480"/>
            <a:ext cx="2880360" cy="2057400"/>
          </a:xfrm>
          <a:prstGeom prst="roundRect">
            <a:avLst>
              <a:gd name="adj" fmla="val 2667"/>
            </a:avLst>
          </a:prstGeom>
          <a:solidFill>
            <a:srgbClr val="202225"/>
          </a:solidFill>
          <a:ln w="12700">
            <a:solidFill>
              <a:srgbClr val="32363A"/>
            </a:solidFill>
            <a:prstDash val="solid"/>
          </a:ln>
        </p:spPr>
        <p:txBody>
          <a:bodyPr/>
          <a:lstStyle/>
          <a:p>
            <a:endParaRPr lang="en-US"/>
          </a:p>
        </p:txBody>
      </p:sp>
      <p:sp>
        <p:nvSpPr>
          <p:cNvPr id="11" name="Text 8"/>
          <p:cNvSpPr txBox="1"/>
          <p:nvPr/>
        </p:nvSpPr>
        <p:spPr>
          <a:xfrm>
            <a:off x="8869680" y="4023360"/>
            <a:ext cx="2468880" cy="32004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What it does</a:t>
            </a:r>
            <a:endParaRPr lang="en-US" sz="1400" dirty="0"/>
          </a:p>
        </p:txBody>
      </p:sp>
      <p:sp>
        <p:nvSpPr>
          <p:cNvPr id="12" name="Text 9"/>
          <p:cNvSpPr txBox="1"/>
          <p:nvPr/>
        </p:nvSpPr>
        <p:spPr>
          <a:xfrm>
            <a:off x="8869680" y="4416552"/>
            <a:ext cx="2468880" cy="1371600"/>
          </a:xfrm>
          <a:prstGeom prst="rect">
            <a:avLst/>
          </a:prstGeom>
          <a:noFill/>
          <a:ln/>
        </p:spPr>
        <p:txBody>
          <a:bodyPr wrap="square" lIns="0" tIns="0" rIns="0" bIns="0" rtlCol="0" anchor="t"/>
          <a:lstStyle/>
          <a:p>
            <a:pPr marL="0" indent="0">
              <a:buNone/>
            </a:pPr>
            <a:r>
              <a:rPr lang="en-US" sz="1300" dirty="0">
                <a:solidFill>
                  <a:srgbClr val="E9E7E3"/>
                </a:solidFill>
                <a:latin typeface="Arial" pitchFamily="34" charset="0"/>
                <a:ea typeface="Arial" pitchFamily="34" charset="-122"/>
                <a:cs typeface="Arial" pitchFamily="34" charset="-120"/>
              </a:rPr>
              <a:t>Takes the seed at $C9, multiplies, adds, swaps two bytes around, forces the result under 1, writes it back to $C9.</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181A"/>
        </a:solidFill>
        <a:effectLst/>
      </p:bgPr>
    </p:bg>
    <p:spTree>
      <p:nvGrpSpPr>
        <p:cNvPr id="1" name="">
          <a:extLst>
            <a:ext uri="{FF2B5EF4-FFF2-40B4-BE49-F238E27FC236}">
              <a16:creationId xmlns:a16="http://schemas.microsoft.com/office/drawing/2014/main" id="{CC1F5726-C349-6768-6410-497A76FE1D2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1C15018-2CFA-75D3-5FDF-9E3150F93F93}"/>
              </a:ext>
            </a:extLst>
          </p:cNvPr>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a:extLst>
              <a:ext uri="{FF2B5EF4-FFF2-40B4-BE49-F238E27FC236}">
                <a16:creationId xmlns:a16="http://schemas.microsoft.com/office/drawing/2014/main" id="{F46158A9-6D95-E04F-35CC-08070C1AC4EA}"/>
              </a:ext>
            </a:extLst>
          </p:cNvPr>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5</a:t>
            </a:r>
            <a:endParaRPr lang="en-US" sz="1600" dirty="0"/>
          </a:p>
        </p:txBody>
      </p:sp>
      <p:sp>
        <p:nvSpPr>
          <p:cNvPr id="4" name="Text 2">
            <a:extLst>
              <a:ext uri="{FF2B5EF4-FFF2-40B4-BE49-F238E27FC236}">
                <a16:creationId xmlns:a16="http://schemas.microsoft.com/office/drawing/2014/main" id="{E8D59CB5-8EEC-411E-6243-F8BBD3C1AB25}"/>
              </a:ext>
            </a:extLst>
          </p:cNvPr>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Applesoft Manual, 1978</a:t>
            </a:r>
            <a:endParaRPr lang="en-US" sz="3400" dirty="0"/>
          </a:p>
        </p:txBody>
      </p:sp>
      <p:sp>
        <p:nvSpPr>
          <p:cNvPr id="5" name="Text 3">
            <a:extLst>
              <a:ext uri="{FF2B5EF4-FFF2-40B4-BE49-F238E27FC236}">
                <a16:creationId xmlns:a16="http://schemas.microsoft.com/office/drawing/2014/main" id="{7F2DCEE7-5C6C-80B2-F13F-61AD06F13FE6}"/>
              </a:ext>
            </a:extLst>
          </p:cNvPr>
          <p:cNvSpPr txBox="1"/>
          <p:nvPr/>
        </p:nvSpPr>
        <p:spPr>
          <a:xfrm>
            <a:off x="640080" y="1115568"/>
            <a:ext cx="10058400" cy="365760"/>
          </a:xfrm>
          <a:prstGeom prst="rect">
            <a:avLst/>
          </a:prstGeom>
          <a:noFill/>
          <a:ln/>
        </p:spPr>
        <p:txBody>
          <a:bodyPr wrap="square" lIns="0" tIns="0" rIns="0" bIns="0" rtlCol="0" anchor="ctr"/>
          <a:lstStyle/>
          <a:p>
            <a:pPr marL="0" indent="0">
              <a:buNone/>
            </a:pPr>
            <a:endParaRPr lang="en-US" sz="1600" dirty="0"/>
          </a:p>
        </p:txBody>
      </p:sp>
      <p:pic>
        <p:nvPicPr>
          <p:cNvPr id="14" name="Picture 13">
            <a:extLst>
              <a:ext uri="{FF2B5EF4-FFF2-40B4-BE49-F238E27FC236}">
                <a16:creationId xmlns:a16="http://schemas.microsoft.com/office/drawing/2014/main" id="{0CDF9C1A-9E16-66DD-4AE2-956690AEF5E8}"/>
              </a:ext>
            </a:extLst>
          </p:cNvPr>
          <p:cNvPicPr>
            <a:picLocks noChangeAspect="1"/>
          </p:cNvPicPr>
          <p:nvPr/>
        </p:nvPicPr>
        <p:blipFill>
          <a:blip r:embed="rId3"/>
          <a:stretch>
            <a:fillRect/>
          </a:stretch>
        </p:blipFill>
        <p:spPr>
          <a:xfrm>
            <a:off x="571124" y="1132648"/>
            <a:ext cx="7561569" cy="669165"/>
          </a:xfrm>
          <a:prstGeom prst="rect">
            <a:avLst/>
          </a:prstGeom>
        </p:spPr>
      </p:pic>
      <p:pic>
        <p:nvPicPr>
          <p:cNvPr id="16" name="Picture 15">
            <a:extLst>
              <a:ext uri="{FF2B5EF4-FFF2-40B4-BE49-F238E27FC236}">
                <a16:creationId xmlns:a16="http://schemas.microsoft.com/office/drawing/2014/main" id="{FEDA7149-B6AA-1D1D-55D2-A9A0583932D7}"/>
              </a:ext>
            </a:extLst>
          </p:cNvPr>
          <p:cNvPicPr>
            <a:picLocks noChangeAspect="1"/>
          </p:cNvPicPr>
          <p:nvPr/>
        </p:nvPicPr>
        <p:blipFill>
          <a:blip r:embed="rId4"/>
          <a:stretch>
            <a:fillRect/>
          </a:stretch>
        </p:blipFill>
        <p:spPr>
          <a:xfrm>
            <a:off x="548582" y="2224781"/>
            <a:ext cx="7645962" cy="580274"/>
          </a:xfrm>
          <a:prstGeom prst="rect">
            <a:avLst/>
          </a:prstGeom>
        </p:spPr>
      </p:pic>
      <p:sp>
        <p:nvSpPr>
          <p:cNvPr id="17" name="Text 2">
            <a:extLst>
              <a:ext uri="{FF2B5EF4-FFF2-40B4-BE49-F238E27FC236}">
                <a16:creationId xmlns:a16="http://schemas.microsoft.com/office/drawing/2014/main" id="{50222E10-53A8-81B4-3915-21D2A28F82C3}"/>
              </a:ext>
            </a:extLst>
          </p:cNvPr>
          <p:cNvSpPr txBox="1"/>
          <p:nvPr/>
        </p:nvSpPr>
        <p:spPr>
          <a:xfrm>
            <a:off x="244548" y="1736915"/>
            <a:ext cx="10058400" cy="685800"/>
          </a:xfrm>
          <a:prstGeom prst="rect">
            <a:avLst/>
          </a:prstGeom>
          <a:noFill/>
          <a:ln/>
        </p:spPr>
        <p:txBody>
          <a:bodyPr wrap="square" lIns="0" tIns="0" rIns="0" bIns="0" rtlCol="0" anchor="ctr"/>
          <a:lstStyle/>
          <a:p>
            <a:pPr marL="0" indent="0">
              <a:buNone/>
            </a:pPr>
            <a:r>
              <a:rPr lang="en-US" sz="1600" b="1" dirty="0">
                <a:solidFill>
                  <a:srgbClr val="E9E7E3"/>
                </a:solidFill>
                <a:latin typeface="Arial" pitchFamily="34" charset="0"/>
                <a:ea typeface="Arial" pitchFamily="34" charset="-122"/>
                <a:cs typeface="Arial" pitchFamily="34" charset="-120"/>
              </a:rPr>
              <a:t>RND(n)</a:t>
            </a:r>
            <a:endParaRPr lang="en-US" sz="1600" dirty="0"/>
          </a:p>
        </p:txBody>
      </p:sp>
      <p:sp>
        <p:nvSpPr>
          <p:cNvPr id="18" name="Text 2">
            <a:extLst>
              <a:ext uri="{FF2B5EF4-FFF2-40B4-BE49-F238E27FC236}">
                <a16:creationId xmlns:a16="http://schemas.microsoft.com/office/drawing/2014/main" id="{4CFF5371-2777-FC7B-B899-7E943AC9F3F0}"/>
              </a:ext>
            </a:extLst>
          </p:cNvPr>
          <p:cNvSpPr txBox="1"/>
          <p:nvPr/>
        </p:nvSpPr>
        <p:spPr>
          <a:xfrm>
            <a:off x="244548" y="2743200"/>
            <a:ext cx="10058400" cy="685800"/>
          </a:xfrm>
          <a:prstGeom prst="rect">
            <a:avLst/>
          </a:prstGeom>
          <a:noFill/>
          <a:ln/>
        </p:spPr>
        <p:txBody>
          <a:bodyPr wrap="square" lIns="0" tIns="0" rIns="0" bIns="0" rtlCol="0" anchor="ctr"/>
          <a:lstStyle/>
          <a:p>
            <a:pPr marL="0" indent="0">
              <a:buNone/>
            </a:pPr>
            <a:r>
              <a:rPr lang="en-US" sz="1600" b="1" dirty="0">
                <a:solidFill>
                  <a:srgbClr val="E9E7E3"/>
                </a:solidFill>
                <a:latin typeface="Arial" pitchFamily="34" charset="0"/>
                <a:ea typeface="Arial" pitchFamily="34" charset="-122"/>
                <a:cs typeface="Arial" pitchFamily="34" charset="-120"/>
              </a:rPr>
              <a:t>RND(-n)</a:t>
            </a:r>
            <a:endParaRPr lang="en-US" sz="1600" dirty="0"/>
          </a:p>
        </p:txBody>
      </p:sp>
      <p:pic>
        <p:nvPicPr>
          <p:cNvPr id="24" name="Picture 23">
            <a:extLst>
              <a:ext uri="{FF2B5EF4-FFF2-40B4-BE49-F238E27FC236}">
                <a16:creationId xmlns:a16="http://schemas.microsoft.com/office/drawing/2014/main" id="{64AF6307-19BD-2FFB-E368-69788C55C266}"/>
              </a:ext>
            </a:extLst>
          </p:cNvPr>
          <p:cNvPicPr>
            <a:picLocks noChangeAspect="1"/>
          </p:cNvPicPr>
          <p:nvPr/>
        </p:nvPicPr>
        <p:blipFill>
          <a:blip r:embed="rId5"/>
          <a:stretch>
            <a:fillRect/>
          </a:stretch>
        </p:blipFill>
        <p:spPr>
          <a:xfrm>
            <a:off x="548580" y="3359351"/>
            <a:ext cx="7645963" cy="1866467"/>
          </a:xfrm>
          <a:prstGeom prst="rect">
            <a:avLst/>
          </a:prstGeom>
        </p:spPr>
      </p:pic>
      <p:sp>
        <p:nvSpPr>
          <p:cNvPr id="25" name="Text 2">
            <a:extLst>
              <a:ext uri="{FF2B5EF4-FFF2-40B4-BE49-F238E27FC236}">
                <a16:creationId xmlns:a16="http://schemas.microsoft.com/office/drawing/2014/main" id="{6B0FCE1F-78B1-0FA7-A06A-9AED4B76CC6D}"/>
              </a:ext>
            </a:extLst>
          </p:cNvPr>
          <p:cNvSpPr txBox="1"/>
          <p:nvPr/>
        </p:nvSpPr>
        <p:spPr>
          <a:xfrm>
            <a:off x="244548" y="5156169"/>
            <a:ext cx="10058400" cy="685800"/>
          </a:xfrm>
          <a:prstGeom prst="rect">
            <a:avLst/>
          </a:prstGeom>
          <a:noFill/>
          <a:ln/>
        </p:spPr>
        <p:txBody>
          <a:bodyPr wrap="square" lIns="0" tIns="0" rIns="0" bIns="0" rtlCol="0" anchor="ctr"/>
          <a:lstStyle/>
          <a:p>
            <a:pPr marL="0" indent="0">
              <a:buNone/>
            </a:pPr>
            <a:r>
              <a:rPr lang="en-US" sz="1600" b="1" dirty="0">
                <a:solidFill>
                  <a:srgbClr val="E9E7E3"/>
                </a:solidFill>
                <a:latin typeface="Arial" pitchFamily="34" charset="0"/>
                <a:ea typeface="Arial" pitchFamily="34" charset="-122"/>
                <a:cs typeface="Arial" pitchFamily="34" charset="-120"/>
              </a:rPr>
              <a:t>RND(0)</a:t>
            </a:r>
            <a:endParaRPr lang="en-US" sz="1600" dirty="0"/>
          </a:p>
        </p:txBody>
      </p:sp>
      <p:pic>
        <p:nvPicPr>
          <p:cNvPr id="27" name="Picture 26">
            <a:extLst>
              <a:ext uri="{FF2B5EF4-FFF2-40B4-BE49-F238E27FC236}">
                <a16:creationId xmlns:a16="http://schemas.microsoft.com/office/drawing/2014/main" id="{0D35BECF-8176-D8D4-940E-F68E11F7E6F4}"/>
              </a:ext>
            </a:extLst>
          </p:cNvPr>
          <p:cNvPicPr>
            <a:picLocks noChangeAspect="1"/>
          </p:cNvPicPr>
          <p:nvPr/>
        </p:nvPicPr>
        <p:blipFill>
          <a:blip r:embed="rId6"/>
          <a:stretch>
            <a:fillRect/>
          </a:stretch>
        </p:blipFill>
        <p:spPr>
          <a:xfrm>
            <a:off x="548580" y="5725352"/>
            <a:ext cx="7645963" cy="925816"/>
          </a:xfrm>
          <a:prstGeom prst="rect">
            <a:avLst/>
          </a:prstGeom>
        </p:spPr>
      </p:pic>
      <p:pic>
        <p:nvPicPr>
          <p:cNvPr id="29" name="Picture 28">
            <a:extLst>
              <a:ext uri="{FF2B5EF4-FFF2-40B4-BE49-F238E27FC236}">
                <a16:creationId xmlns:a16="http://schemas.microsoft.com/office/drawing/2014/main" id="{8FE12990-0DD9-EFA3-EC44-5EF1BF538716}"/>
              </a:ext>
            </a:extLst>
          </p:cNvPr>
          <p:cNvPicPr>
            <a:picLocks noChangeAspect="1"/>
          </p:cNvPicPr>
          <p:nvPr/>
        </p:nvPicPr>
        <p:blipFill>
          <a:blip r:embed="rId7"/>
          <a:stretch>
            <a:fillRect/>
          </a:stretch>
        </p:blipFill>
        <p:spPr>
          <a:xfrm>
            <a:off x="8633518" y="2273618"/>
            <a:ext cx="3009900" cy="482600"/>
          </a:xfrm>
          <a:prstGeom prst="rect">
            <a:avLst/>
          </a:prstGeom>
        </p:spPr>
      </p:pic>
    </p:spTree>
    <p:extLst>
      <p:ext uri="{BB962C8B-B14F-4D97-AF65-F5344CB8AC3E}">
        <p14:creationId xmlns:p14="http://schemas.microsoft.com/office/powerpoint/2010/main" val="344743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7</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Sources</a:t>
            </a:r>
            <a:endParaRPr lang="en-US" sz="3400" dirty="0"/>
          </a:p>
        </p:txBody>
      </p:sp>
      <p:sp>
        <p:nvSpPr>
          <p:cNvPr id="5" name="Text 3"/>
          <p:cNvSpPr txBox="1"/>
          <p:nvPr/>
        </p:nvSpPr>
        <p:spPr>
          <a:xfrm>
            <a:off x="731520" y="1920240"/>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Kaner &amp; Vokey, 1982</a:t>
            </a:r>
            <a:endParaRPr lang="en-US" sz="1400" dirty="0"/>
          </a:p>
        </p:txBody>
      </p:sp>
      <p:sp>
        <p:nvSpPr>
          <p:cNvPr id="6" name="Text 4"/>
          <p:cNvSpPr txBox="1"/>
          <p:nvPr/>
        </p:nvSpPr>
        <p:spPr>
          <a:xfrm>
            <a:off x="4754880" y="1920240"/>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First published account. Dr. Kaner sent me the paper directly.</a:t>
            </a:r>
            <a:endParaRPr lang="en-US" sz="1400" dirty="0"/>
          </a:p>
        </p:txBody>
      </p:sp>
      <p:sp>
        <p:nvSpPr>
          <p:cNvPr id="7" name="Text 5"/>
          <p:cNvSpPr txBox="1"/>
          <p:nvPr/>
        </p:nvSpPr>
        <p:spPr>
          <a:xfrm>
            <a:off x="731520" y="2578608"/>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Call A.P.P.L.E., Jan 1983</a:t>
            </a:r>
            <a:endParaRPr lang="en-US" sz="1400" dirty="0"/>
          </a:p>
        </p:txBody>
      </p:sp>
      <p:sp>
        <p:nvSpPr>
          <p:cNvPr id="8" name="Text 6"/>
          <p:cNvSpPr txBox="1"/>
          <p:nvPr/>
        </p:nvSpPr>
        <p:spPr>
          <a:xfrm>
            <a:off x="4754880" y="2578608"/>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“RND is Fatally Flawed.”</a:t>
            </a:r>
            <a:endParaRPr lang="en-US" sz="1400" dirty="0"/>
          </a:p>
        </p:txBody>
      </p:sp>
      <p:sp>
        <p:nvSpPr>
          <p:cNvPr id="9" name="Text 7"/>
          <p:cNvSpPr txBox="1"/>
          <p:nvPr/>
        </p:nvSpPr>
        <p:spPr>
          <a:xfrm>
            <a:off x="731520" y="3236976"/>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Sander-Cederlof, AAL May 1984</a:t>
            </a:r>
            <a:endParaRPr lang="en-US" sz="1400" dirty="0"/>
          </a:p>
        </p:txBody>
      </p:sp>
      <p:sp>
        <p:nvSpPr>
          <p:cNvPr id="10" name="Text 8"/>
          <p:cNvSpPr txBox="1"/>
          <p:nvPr/>
        </p:nvSpPr>
        <p:spPr>
          <a:xfrm>
            <a:off x="4754880" y="3236976"/>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Found the startup bug. The seed copy is off by one.</a:t>
            </a:r>
            <a:endParaRPr lang="en-US" sz="1400" dirty="0"/>
          </a:p>
        </p:txBody>
      </p:sp>
      <p:sp>
        <p:nvSpPr>
          <p:cNvPr id="11" name="Text 9"/>
          <p:cNvSpPr txBox="1"/>
          <p:nvPr/>
        </p:nvSpPr>
        <p:spPr>
          <a:xfrm>
            <a:off x="731520" y="3895344"/>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Aldridge 1987, Gleason 1988</a:t>
            </a:r>
            <a:endParaRPr lang="en-US" sz="1400" dirty="0"/>
          </a:p>
        </p:txBody>
      </p:sp>
      <p:sp>
        <p:nvSpPr>
          <p:cNvPr id="12" name="Text 10"/>
          <p:cNvSpPr txBox="1"/>
          <p:nvPr/>
        </p:nvSpPr>
        <p:spPr>
          <a:xfrm>
            <a:off x="4754880" y="3895344"/>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Behavior Research Methods. ERIC EJ372427.</a:t>
            </a:r>
            <a:endParaRPr lang="en-US" sz="1400" dirty="0"/>
          </a:p>
        </p:txBody>
      </p:sp>
      <p:sp>
        <p:nvSpPr>
          <p:cNvPr id="13" name="Text 11"/>
          <p:cNvSpPr txBox="1"/>
          <p:nvPr/>
        </p:nvSpPr>
        <p:spPr>
          <a:xfrm>
            <a:off x="731520" y="4553712"/>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Empson, GS WorldView 1999</a:t>
            </a:r>
            <a:endParaRPr lang="en-US" sz="1400" dirty="0"/>
          </a:p>
        </p:txBody>
      </p:sp>
      <p:sp>
        <p:nvSpPr>
          <p:cNvPr id="14" name="Text 12"/>
          <p:cNvSpPr txBox="1"/>
          <p:nvPr/>
        </p:nvSpPr>
        <p:spPr>
          <a:xfrm>
            <a:off x="4754880" y="4553712"/>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Built Moore's LFSR for the Apple II.</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9</a:t>
            </a:r>
            <a:endParaRPr lang="en-US" sz="1600" dirty="0"/>
          </a:p>
        </p:txBody>
      </p:sp>
      <p:sp>
        <p:nvSpPr>
          <p:cNvPr id="4" name="Text 2"/>
          <p:cNvSpPr txBox="1"/>
          <p:nvPr/>
        </p:nvSpPr>
        <p:spPr>
          <a:xfrm>
            <a:off x="474134" y="384048"/>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Two Part Solution</a:t>
            </a:r>
            <a:endParaRPr lang="en-US" sz="3400" dirty="0"/>
          </a:p>
        </p:txBody>
      </p:sp>
      <p:sp>
        <p:nvSpPr>
          <p:cNvPr id="19" name="TextBox 18">
            <a:extLst>
              <a:ext uri="{FF2B5EF4-FFF2-40B4-BE49-F238E27FC236}">
                <a16:creationId xmlns:a16="http://schemas.microsoft.com/office/drawing/2014/main" id="{8462916D-E1EA-BBD6-2BC9-975C565E3736}"/>
              </a:ext>
            </a:extLst>
          </p:cNvPr>
          <p:cNvSpPr txBox="1"/>
          <p:nvPr/>
        </p:nvSpPr>
        <p:spPr>
          <a:xfrm>
            <a:off x="550334" y="1670728"/>
            <a:ext cx="6096000" cy="2923877"/>
          </a:xfrm>
          <a:prstGeom prst="rect">
            <a:avLst/>
          </a:prstGeom>
          <a:noFill/>
        </p:spPr>
        <p:txBody>
          <a:bodyPr wrap="square">
            <a:spAutoFit/>
          </a:bodyPr>
          <a:lstStyle/>
          <a:p>
            <a:pPr marL="342900" lvl="0" indent="-342900" algn="l">
              <a:spcAft>
                <a:spcPts val="1200"/>
              </a:spcAft>
              <a:buFont typeface="+mj-lt"/>
              <a:buAutoNum type="arabicPeriod"/>
            </a:pPr>
            <a:r>
              <a:rPr lang="en-US" sz="1800" b="0" i="0" dirty="0">
                <a:solidFill>
                  <a:schemeClr val="bg1">
                    <a:lumMod val="95000"/>
                  </a:schemeClr>
                </a:solidFill>
                <a:effectLst/>
                <a:latin typeface="+mn-lt"/>
              </a:rPr>
              <a:t>Enables language card write mode while keeping ROM readable</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Copies $D000-$FFFF (all of Applesoft and the monitor ROM) from ROM to LC RAM</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Writes the patch code into the LC at $F5CB. (may impact HFIND, supposedly unused by AppleSoft.)</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Writes JMP $F5CB at $EFAE in the LC copy</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Switches the language card to read mode</a:t>
            </a:r>
            <a:endParaRPr lang="en-US" sz="1800" b="0" i="0" dirty="0">
              <a:solidFill>
                <a:schemeClr val="bg1">
                  <a:lumMod val="95000"/>
                </a:schemeClr>
              </a:solidFill>
              <a:effectLst/>
              <a:latin typeface="-apple-system"/>
            </a:endParaRPr>
          </a:p>
        </p:txBody>
      </p:sp>
      <p:sp>
        <p:nvSpPr>
          <p:cNvPr id="20" name="TextBox 19">
            <a:extLst>
              <a:ext uri="{FF2B5EF4-FFF2-40B4-BE49-F238E27FC236}">
                <a16:creationId xmlns:a16="http://schemas.microsoft.com/office/drawing/2014/main" id="{47DE3E91-E1F4-1BB1-C9E1-DE19C1DF1B89}"/>
              </a:ext>
            </a:extLst>
          </p:cNvPr>
          <p:cNvSpPr txBox="1"/>
          <p:nvPr/>
        </p:nvSpPr>
        <p:spPr>
          <a:xfrm>
            <a:off x="474134" y="1199338"/>
            <a:ext cx="6096000" cy="369332"/>
          </a:xfrm>
          <a:prstGeom prst="rect">
            <a:avLst/>
          </a:prstGeom>
          <a:noFill/>
        </p:spPr>
        <p:txBody>
          <a:bodyPr wrap="square">
            <a:spAutoFit/>
          </a:bodyPr>
          <a:lstStyle/>
          <a:p>
            <a:pPr lvl="0" algn="l">
              <a:spcAft>
                <a:spcPts val="1200"/>
              </a:spcAft>
            </a:pPr>
            <a:r>
              <a:rPr lang="en-US" u="sng" dirty="0" err="1">
                <a:solidFill>
                  <a:schemeClr val="bg1">
                    <a:lumMod val="95000"/>
                  </a:schemeClr>
                </a:solidFill>
              </a:rPr>
              <a:t>LC_Loader.bin</a:t>
            </a:r>
            <a:endParaRPr lang="en-US" sz="1800" b="0" i="0" u="sng" dirty="0">
              <a:solidFill>
                <a:schemeClr val="bg1">
                  <a:lumMod val="95000"/>
                </a:schemeClr>
              </a:solidFill>
              <a:effectLst/>
              <a:latin typeface="-apple-system"/>
            </a:endParaRPr>
          </a:p>
        </p:txBody>
      </p:sp>
      <p:sp>
        <p:nvSpPr>
          <p:cNvPr id="21" name="TextBox 20">
            <a:extLst>
              <a:ext uri="{FF2B5EF4-FFF2-40B4-BE49-F238E27FC236}">
                <a16:creationId xmlns:a16="http://schemas.microsoft.com/office/drawing/2014/main" id="{F7C4D2C5-364A-3040-A75E-4943A29F9D4B}"/>
              </a:ext>
            </a:extLst>
          </p:cNvPr>
          <p:cNvSpPr txBox="1"/>
          <p:nvPr/>
        </p:nvSpPr>
        <p:spPr>
          <a:xfrm>
            <a:off x="474134" y="4734467"/>
            <a:ext cx="6096000" cy="369332"/>
          </a:xfrm>
          <a:prstGeom prst="rect">
            <a:avLst/>
          </a:prstGeom>
          <a:noFill/>
        </p:spPr>
        <p:txBody>
          <a:bodyPr wrap="square">
            <a:spAutoFit/>
          </a:bodyPr>
          <a:lstStyle/>
          <a:p>
            <a:pPr lvl="0" algn="l">
              <a:spcAft>
                <a:spcPts val="1200"/>
              </a:spcAft>
            </a:pPr>
            <a:r>
              <a:rPr lang="en-US" u="sng" dirty="0" err="1">
                <a:solidFill>
                  <a:schemeClr val="bg1">
                    <a:lumMod val="95000"/>
                  </a:schemeClr>
                </a:solidFill>
              </a:rPr>
              <a:t>Patch_lc.bin</a:t>
            </a:r>
            <a:endParaRPr lang="en-US" u="sng" dirty="0">
              <a:solidFill>
                <a:schemeClr val="bg1">
                  <a:lumMod val="95000"/>
                </a:schemeClr>
              </a:solidFill>
            </a:endParaRPr>
          </a:p>
        </p:txBody>
      </p:sp>
      <p:sp>
        <p:nvSpPr>
          <p:cNvPr id="24" name="TextBox 23">
            <a:extLst>
              <a:ext uri="{FF2B5EF4-FFF2-40B4-BE49-F238E27FC236}">
                <a16:creationId xmlns:a16="http://schemas.microsoft.com/office/drawing/2014/main" id="{661F91C8-80F1-851F-01AA-8E6CC3C15F25}"/>
              </a:ext>
            </a:extLst>
          </p:cNvPr>
          <p:cNvSpPr txBox="1"/>
          <p:nvPr/>
        </p:nvSpPr>
        <p:spPr>
          <a:xfrm>
            <a:off x="474134" y="5137665"/>
            <a:ext cx="6096000" cy="646331"/>
          </a:xfrm>
          <a:prstGeom prst="rect">
            <a:avLst/>
          </a:prstGeom>
          <a:noFill/>
        </p:spPr>
        <p:txBody>
          <a:bodyPr wrap="square">
            <a:spAutoFit/>
          </a:bodyPr>
          <a:lstStyle/>
          <a:p>
            <a:pPr lvl="0" algn="l">
              <a:spcAft>
                <a:spcPts val="1200"/>
              </a:spcAft>
            </a:pPr>
            <a:r>
              <a:rPr lang="en-US" dirty="0">
                <a:solidFill>
                  <a:schemeClr val="bg1">
                    <a:lumMod val="95000"/>
                  </a:schemeClr>
                </a:solidFill>
              </a:rPr>
              <a:t>1. Preserves negative and zero RND() functionality while relying on the KEYIN counter present in the ROM.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7181A"/>
        </a:solidFill>
        <a:effectLst/>
      </p:bgPr>
    </p:bg>
    <p:spTree>
      <p:nvGrpSpPr>
        <p:cNvPr id="1" name=""/>
        <p:cNvGrpSpPr/>
        <p:nvPr/>
      </p:nvGrpSpPr>
      <p:grpSpPr>
        <a:xfrm>
          <a:off x="0" y="0"/>
          <a:ext cx="0" cy="0"/>
          <a:chOff x="0" y="0"/>
          <a:chExt cx="0" cy="0"/>
        </a:xfrm>
      </p:grpSpPr>
      <p:sp>
        <p:nvSpPr>
          <p:cNvPr id="2" name="Text 0"/>
          <p:cNvSpPr txBox="1"/>
          <p:nvPr/>
        </p:nvSpPr>
        <p:spPr>
          <a:xfrm>
            <a:off x="822960" y="2286000"/>
            <a:ext cx="10515600" cy="731520"/>
          </a:xfrm>
          <a:prstGeom prst="rect">
            <a:avLst/>
          </a:prstGeom>
          <a:noFill/>
          <a:ln/>
        </p:spPr>
        <p:txBody>
          <a:bodyPr wrap="square" lIns="0" tIns="0" rIns="0" bIns="0" rtlCol="0" anchor="ctr"/>
          <a:lstStyle/>
          <a:p>
            <a:pPr marL="0" indent="0">
              <a:buNone/>
            </a:pPr>
            <a:r>
              <a:rPr lang="en-US" sz="4400" b="1" dirty="0">
                <a:solidFill>
                  <a:srgbClr val="E9E7E3"/>
                </a:solidFill>
                <a:latin typeface="Arial" pitchFamily="34" charset="0"/>
                <a:ea typeface="Arial" pitchFamily="34" charset="-122"/>
                <a:cs typeface="Arial" pitchFamily="34" charset="-120"/>
              </a:rPr>
              <a:t>Try it yourself</a:t>
            </a:r>
            <a:endParaRPr lang="en-US" sz="4400" dirty="0"/>
          </a:p>
        </p:txBody>
      </p:sp>
      <p:sp>
        <p:nvSpPr>
          <p:cNvPr id="3" name="Shape 1"/>
          <p:cNvSpPr/>
          <p:nvPr/>
        </p:nvSpPr>
        <p:spPr>
          <a:xfrm>
            <a:off x="841248" y="3200400"/>
            <a:ext cx="1463040" cy="27432"/>
          </a:xfrm>
          <a:prstGeom prst="rect">
            <a:avLst/>
          </a:prstGeom>
          <a:solidFill>
            <a:srgbClr val="5FCB7E"/>
          </a:solidFill>
          <a:ln/>
        </p:spPr>
        <p:txBody>
          <a:bodyPr/>
          <a:lstStyle/>
          <a:p>
            <a:endParaRPr lang="en-US"/>
          </a:p>
        </p:txBody>
      </p:sp>
      <p:sp>
        <p:nvSpPr>
          <p:cNvPr id="5" name="Text 3"/>
          <p:cNvSpPr txBox="1"/>
          <p:nvPr/>
        </p:nvSpPr>
        <p:spPr>
          <a:xfrm>
            <a:off x="822960" y="5394960"/>
            <a:ext cx="10515600" cy="365760"/>
          </a:xfrm>
          <a:prstGeom prst="rect">
            <a:avLst/>
          </a:prstGeom>
          <a:noFill/>
          <a:ln/>
        </p:spPr>
        <p:txBody>
          <a:bodyPr wrap="square" lIns="0" tIns="0" rIns="0" bIns="0" rtlCol="0" anchor="ctr"/>
          <a:lstStyle/>
          <a:p>
            <a:pPr marL="0" indent="0">
              <a:buNone/>
            </a:pPr>
            <a:r>
              <a:rPr lang="en-US" sz="1500" dirty="0">
                <a:solidFill>
                  <a:srgbClr val="9DA39B"/>
                </a:solidFill>
                <a:latin typeface="Arial" pitchFamily="34" charset="0"/>
                <a:ea typeface="Arial" pitchFamily="34" charset="-122"/>
                <a:cs typeface="Arial" pitchFamily="34" charset="-120"/>
              </a:rPr>
              <a:t>Jeff Robison   ·   VCF Midwest 21 2026</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TotalTime>
  <Words>1104</Words>
  <Application>Microsoft Macintosh PowerPoint</Application>
  <PresentationFormat>Widescreen</PresentationFormat>
  <Paragraphs>88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-apple-system</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Jeff Robison</cp:lastModifiedBy>
  <cp:revision>2</cp:revision>
  <dcterms:created xsi:type="dcterms:W3CDTF">2026-09-12T23:48:10Z</dcterms:created>
  <dcterms:modified xsi:type="dcterms:W3CDTF">2026-09-13T03:24:31Z</dcterms:modified>
</cp:coreProperties>
</file>