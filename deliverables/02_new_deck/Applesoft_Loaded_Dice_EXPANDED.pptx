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Name and title. Fifteen seconds.</a:t>
            </a:r>
          </a:p>
          <a:p/>
          <a:p>
            <a:r>
              <a:t>Before this slide: power-cycle the machine (switch off, wait, on) and PRINT RND(1). Three times. Not Ctrl-Reset, not PR#6: a warm restart keeps the fifth seed byte in RAM and prints a different number.</a:t>
            </a:r>
          </a:p>
          <a:p/>
          <a:p>
            <a:r>
              <a:t>Applesoft is Microsoft's 6502 BASIC, licensed by Apple. That matters in a few slides.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number they just watched three times. Don't explain it yet: "Hold onto that number."</a:t>
            </a:r>
          </a:p>
          <a:p/>
          <a:p>
            <a:r>
              <a:t>If someone says their machine prints a different number: one seed byte is never set. $FF or $FE gives .973136996, $00 gives .270011996. Each machine still repeats its own number. We'll get to exactly why.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why it survived for years. The programmer at the desk reruns, reboots DOS, hits Reset: all different. Only the first user of the day, after a cold power-on, gets the repeat.</a:t>
            </a:r>
          </a:p>
          <a:p/>
          <a:p>
            <a:r>
              <a:t>Aldridge: "It is only when a machine is powered off and back on that the sequence begins repeating itself."</a:t>
            </a:r>
          </a:p>
          <a:p/>
          <a:p>
            <a:r>
              <a:t>Ctrl-Reset leaves $C9-$CD untouched (measured by running the ROM's warm-start path).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Thirty seconds. This room knows what a PRNG is.</a:t>
            </a:r>
          </a:p>
          <a:p/>
          <a:p>
            <a:r>
              <a:t>The split matters for the rest of the talk and for Q&amp;A: a random seed doesn't make a generator's output patternless, and a good generator doesn't help if it always starts in the same place. This talk is about the seed. The generator is weak too, and we'll say so honestly.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out loud that $4E/$4F is not a jiffy clock. The Apple II has no timer doing this.</a:t>
            </a:r>
          </a:p>
          <a:p/>
          <a:p>
            <a:r>
              <a:t>Not a toy: a 15-bit maximal shift register in 50 hand-assembled bytes. Woz wrote Integer BASIC with no assembler; there is no source file, only hand-written pages.</a:t>
            </a:r>
          </a:p>
          <a:p/>
          <a:p>
            <a:r>
              <a:t>The counter isn't just read as a seed. It IS the generator's state: RND scrambles $4E/$4F and writes it back, so every key wait stirs it.</a:t>
            </a:r>
          </a:p>
          <a:p/>
          <a:p>
            <a:r>
              <a:t>Don't make the regression argument yet. Just show what worked.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at the bne back to KEYIN. That's the whole entropy source.</a:t>
            </a:r>
          </a:p>
          <a:p/>
          <a:p>
            <a:r>
              <a:t>The counter is bumped before the keyboard is read, every pass. A loop count, not a keystroke count. 15 CPU cycles per pass: about 68,000 counts a second, wrapping roughly once a second. Human reaction time jitters by far more than a second's worth of counts, which is why it works.</a:t>
            </a:r>
          </a:p>
          <a:p/>
          <a:p>
            <a:r>
              <a:t>Same counter in the Autostart ROM, the IIe and the IIc. Say that in one line.</a:t>
            </a:r>
          </a:p>
          <a:p/>
          <a:p>
            <a:r>
              <a:t>Caveat if asked: it only moves while a KEYIN-style routine waits. A game polling $C000 never moves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promise before the reality.</a:t>
            </a:r>
          </a:p>
          <a:p/>
          <a:p>
            <a:r>
              <a:t>Read the RND(n) line aloud: "generates a new random number each time it is used." True. It never says the sequence starts in the same place every power-on.</a:t>
            </a:r>
          </a:p>
          <a:p/>
          <a:p>
            <a:r>
              <a:t>RND(-n): Apple documents repeatability as a feature, for debugging.</a:t>
            </a:r>
          </a:p>
          <a:p/>
          <a:p>
            <a:r>
              <a:t>The manual tells you how to get the same sequence on purpose. It never tells you you're getting it by accident.</a:t>
            </a:r>
          </a:p>
          <a:p/>
          <a:p>
            <a:r>
              <a:t>[Jeff: confirm which printing these scans come from.]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reveal. Twenty-eight instructions. Microsoft wrote it; Apple shipped it unchanged in every Applesoft ROM through the enhanced IIe.</a:t>
            </a:r>
          </a:p>
          <a:p/>
          <a:p>
            <a:r>
              <a:t>Top: the seed comes from $C9. Bottom: the answer goes back to $C9. Nothing else feeds it.</a:t>
            </a:r>
          </a:p>
          <a:p/>
          <a:p>
            <a:r>
              <a:t>The comments on this listing are Bob Sander-Cederlof's annotations, not Microsoft's. Say so before someone else does.</a:t>
            </a:r>
          </a:p>
          <a:p/>
          <a:p>
            <a:r>
              <a:t>The add is lost to precision: running the ROM, it changed the stored seed in 5 of 57,021 steps. "Effectively nothing."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interesting detail in the story, and it explains why your number might differ from mine.</a:t>
            </a:r>
          </a:p>
          <a:p/>
          <a:p>
            <a:r>
              <a:t>The copy loop moves CHRGET and the seed into zero page. The count is one too small. Four seed bytes arrive; the fifth, $CD, is whatever RAM held.</a:t>
            </a:r>
          </a:p>
          <a:p/>
          <a:p>
            <a:r>
              <a:t>The bug is in Microsoft's source. But look at $F157: STX SPEEDZ is Apple's own instruction, for SPEED=, inserted inside this loop. Apple's engineers worked inside this loop and kept the short count.</a:t>
            </a:r>
          </a:p>
          <a:p/>
          <a:p>
            <a:r>
              <a:t>Sander-Cederlof published the one-byte fix in 1984: $F151 from $1C to $1D.</a:t>
            </a:r>
          </a:p>
          <a:p/>
          <a:p>
            <a:r>
              <a:t>$CD at power-on on real DRAM is not published anywhere. [Jeff: measure on the demo machine; backup B3.]</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Kaner and Vokey saw a 202-number loop. Sander-Cederlof saw repetition at 37,758. Both were right.</a:t>
            </a:r>
          </a:p>
          <a:p/>
          <a:p>
            <a:r>
              <a:t>Running every possible value of the uncopied byte: nearly a quarter of cold starts end up in the 202-number loop. Microsoft's intended byte, $58, is one of them.</a:t>
            </a:r>
          </a:p>
          <a:p/>
          <a:p>
            <a:r>
              <a:t>Reseeding doesn't escape it: RND(-52894) and RND(-22258) both land in the 202 loop. Keep that for the question "does the patch fix the loop?" (No.)</a:t>
            </a:r>
          </a:p>
          <a:p/>
          <a:p>
            <a:r>
              <a:t>The four 12,559 results weren't checked to be one loop. Don't dwell on that bar.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strongest honest version of the thesis. Concede that both generators are weak.</a:t>
            </a:r>
          </a:p>
          <a:p/>
          <a:p>
            <a:r>
              <a:t>Integer BASIC: one 32,767-long cycle; a seed only picks a position. State MOD X. Weak.</a:t>
            </a:r>
          </a:p>
          <a:p>
            <a:r>
              <a:t>Applesoft: bigger state, short loops. Also weak.</a:t>
            </a:r>
          </a:p>
          <a:p/>
          <a:p>
            <a:r>
              <a:t>The difference that matters is the default. Integer BASIC got keypress timing automatically, because its state and the counter are the same bytes. Applesoft kept the counter running and ignored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record explains the decision. Every statement about motive is inference.</a:t>
            </a:r>
          </a:p>
          <a:p/>
          <a:p>
            <a:r>
              <a:t>What is documented: Microsoft's source builds RND two ways. REALIO=3, the Commodore PET, reads free-running VIA timers in RND(0). Everyone else, including Apple, gets the fixed-seed version.</a:t>
            </a:r>
          </a:p>
          <a:p/>
          <a:p>
            <a:r>
              <a:t>Apple wasn't locked out. Applesoft II's cold start has Apple's own insertions: SPEED=, TRACE, the silent RAM probe. STX SPEEDZ sits inside the seed-copy loop.</a:t>
            </a:r>
          </a:p>
          <a:p/>
          <a:p>
            <a:r>
              <a:t>Say "nobody connected it", not "nobody knew" or "Microsoft was careless".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stakes. Thirty seconds, and read it slowly.</a:t>
            </a:r>
          </a:p>
          <a:p/>
          <a:p>
            <a:r>
              <a:t>A psychology lab ran a memory experiment in which every subject was supposed to get an individually randomized word list. The same ordering kept reappearing, and it was always the first subject of the day, right after the computer was switched on.</a:t>
            </a:r>
          </a:p>
          <a:p/>
          <a:p>
            <a:r>
              <a:t>Kaner and Vokey were writing because their experiments needed randomization too.</a:t>
            </a:r>
          </a:p>
          <a:p/>
          <a:p>
            <a:r>
              <a:t>Don't name a game that shipped broken unless you have evidence for it. We don't.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decades of people finding the same thing and working around it one program at a time.</a:t>
            </a:r>
          </a:p>
          <a:p/>
          <a:p>
            <a:r>
              <a:t>Kaner sent you the paper directly; say that aloud.</a:t>
            </a:r>
          </a:p>
          <a:p/>
          <a:p>
            <a:r>
              <a:t>Call-A.P.P.L.E.'s author is sometimes given as D. Sparks. That's unverified, so it isn't on the slide.</a:t>
            </a:r>
          </a:p>
          <a:p/>
          <a:p>
            <a:r>
              <a:t>Gleason: only the abstract has been read. Don't quote numbers from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it yourself before they do, and agree with it for new code.</a:t>
            </a:r>
          </a:p>
          <a:p/>
          <a:p>
            <a:r>
              <a:t>Then the three-part answer. You can't edit software you didn't write. The failure is silent, so only people who already know can fix it. And this machine used to do it automatically.</a:t>
            </a:r>
          </a:p>
          <a:p/>
          <a:p>
            <a:r>
              <a:t>Edge case if asked: if both counter bytes are zero, RND(0) doesn't reseed. One in 65,536.</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Copy the whole ROM into the language card, patch the copy, and read from the card from then on. RND's entry jumps to patch code that lives where HFIND was.</a:t>
            </a:r>
          </a:p>
          <a:p/>
          <a:p>
            <a:r>
              <a:t>HFIND: 53 bytes, $F5CB to $F5FF. The S-C DocuMentor marks it "not called by any Applesoft routine", and no JSR or JMP to $F5CB exists anywhere in the ROM.</a:t>
            </a:r>
          </a:p>
          <a:p/>
          <a:p>
            <a:r>
              <a:t>$F600 is an RTS that HLIN branches to. The patch must stop at $F5FF, or HPLOT TO breaks.</a:t>
            </a:r>
          </a:p>
          <a:p/>
          <a:p>
            <a:r>
              <a:t>[Jeff: state the patch's byte count here.]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 stated before anyone asks.</a:t>
            </a:r>
          </a:p>
          <a:p/>
          <a:p>
            <a:r>
              <a:t>It fixes the seed, not the generator. The 202 loop is still reachable. Replacing the generator would break the documented RND(-n) repeatability and there's no room.</a:t>
            </a:r>
          </a:p>
          <a:p/>
          <a:p>
            <a:r>
              <a:t>It needs a key wait before the first RND to get any timing. Aldridge flagged the same limit for Apple's own advice.</a:t>
            </a:r>
          </a:p>
          <a:p/>
          <a:p>
            <a:r>
              <a:t>[Jeff: fill in the exact behavior of positive RND, and the compatibility results from backup B4, before this slide goes on stage.]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Symmetry with the opening: the talk opened with proof of the problem, so close with proof of the fix. About 90 seconds.</a:t>
            </a:r>
          </a:p>
          <a:p/>
          <a:p>
            <a:r>
              <a:t>Power on, load the patch, PRINT RND(1). Power-cycle, load it again, PRINT RND(1). Different numbers.</a:t>
            </a:r>
          </a:p>
          <a:p/>
          <a:p>
            <a:r>
              <a:t>Typing the BRUN command is itself a key wait, so the counter has moved.</a:t>
            </a:r>
          </a:p>
          <a:p/>
          <a:p>
            <a:r>
              <a:t>If power-cycling on stage is risky, use a recorded clip. [Jeff: match the loader's file name.]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as a parallel, not a lineage. Nobody learned or failed to learn this from the Apple II.</a:t>
            </a:r>
          </a:p>
          <a:p/>
          <a:p>
            <a:r>
              <a:t>Debian, September 2006: a change to OpenSSL's random number generator, made to silence a memory-checker warning, removed nearly all entropy mixing. Keys generated on Debian and Ubuntu were predictable until the May 2008 disclosure. CVE-2008-0166.</a:t>
            </a:r>
          </a:p>
          <a:p/>
          <a:p>
            <a:r>
              <a:t>Same shape as 1978: the entropy input was silently disconnected, and the output still looked random.</a:t>
            </a:r>
          </a:p>
          <a:p/>
          <a:p>
            <a:r>
              <a:t>Lighter version: C's rand() without srand() behaves as if seeded with 1. Same sequence, every run, today.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Takeaways first, then the link. Leave this up during questions.</a:t>
            </a:r>
          </a:p>
          <a:p/>
          <a:p>
            <a:r>
              <a:t>Questions to expect are in QA_PREP.md: the different-number question, the C64, why not replace the generator, $F5CB, ProDOS, Ctrl-Reset, "does it fix the 202 loop?".</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hex-checkers. Every byte matches the AppleWin II Plus ROM, and the same bytes sit at the same addresses in the IIe and enhanced IIe ROMs.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constant is stored as 4 bytes; the float loader always reads 5, so each picks up the next byte in ROM. The truncation is in Microsoft's own source (the RND constants were never widened for 5-byte floats).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[Jeff: fill in before the show.] Power on, and before any RND: FOR I = 201 TO 205 : PRINT PEEK(I);" "; : NEXT, then PRINT RND(1).</a:t>
            </a:r>
          </a:p>
          <a:p/>
          <a:p>
            <a:r>
              <a:t>Emulator reference: $FF or $FE gives .973136996, $00 gives .270011996, $58 gives .512199496.</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[Jeff: mark each cell tested on hardware, tested in an emulator (name it), or untested.] If the loader refuses a configuration, say so on slide 15.</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answer to "what's at $F5CB?". Answer it straight.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correction to "Commodore wired RND(0) to timers": the timer code is in Microsoft's own source for the Commodore target, and it shipped in the first PET ROM in 1977. Commodore carried it to the C64, where it goes through the KERNAL.</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list with read status in 03_collateral/SOURCES.md.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181A"/>
        </a:solidFill>
        <a:effectLst/>
      </p:bgPr>
    </p:bg>
    <p:spTree>
      <p:nvGrpSpPr>
        <p:cNvPr id="1" name=""/>
        <p:cNvGrpSpPr/>
        <p:nvPr/>
      </p:nvGrpSpPr>
      <p:grpSpPr/>
      <p:sp>
        <p:nvSpPr>
          <p:cNvPr id="2" name="TextBox 1"/>
          <p:cNvSpPr txBox="1"/>
          <p:nvPr/>
        </p:nvSpPr>
        <p:spPr>
          <a:xfrm>
            <a:off x="822960" y="2103120"/>
            <a:ext cx="10515600" cy="914400"/>
          </a:xfrm>
          <a:prstGeom prst="rect">
            <a:avLst/>
          </a:prstGeom>
          <a:noFill/>
        </p:spPr>
        <p:txBody>
          <a:bodyPr wrap="square" lIns="0" rIns="0" tIns="0" bIns="0" anchor="t">
            <a:spAutoFit/>
          </a:bodyPr>
          <a:lstStyle/>
          <a:p>
            <a:pPr algn="l">
              <a:spcAft>
                <a:spcPts val="0"/>
              </a:spcAft>
            </a:pPr>
            <a:r>
              <a:rPr sz="5200" b="1">
                <a:solidFill>
                  <a:srgbClr val="E9E7E3"/>
                </a:solidFill>
                <a:latin typeface="Arial"/>
              </a:rPr>
              <a:t>Applesoft's Loaded Dice</a:t>
            </a:r>
          </a:p>
        </p:txBody>
      </p:sp>
      <p:sp>
        <p:nvSpPr>
          <p:cNvPr id="3" name="TextBox 2"/>
          <p:cNvSpPr txBox="1"/>
          <p:nvPr/>
        </p:nvSpPr>
        <p:spPr>
          <a:xfrm>
            <a:off x="822960" y="3063240"/>
            <a:ext cx="10515600" cy="457200"/>
          </a:xfrm>
          <a:prstGeom prst="rect">
            <a:avLst/>
          </a:prstGeom>
          <a:noFill/>
        </p:spPr>
        <p:txBody>
          <a:bodyPr wrap="square" lIns="0" rIns="0" tIns="0" bIns="0" anchor="t">
            <a:spAutoFit/>
          </a:bodyPr>
          <a:lstStyle/>
          <a:p>
            <a:pPr algn="l">
              <a:spcAft>
                <a:spcPts val="0"/>
              </a:spcAft>
            </a:pPr>
            <a:r>
              <a:rPr sz="2200" b="0">
                <a:solidFill>
                  <a:srgbClr val="5FCB7E"/>
                </a:solidFill>
                <a:latin typeface="Arial"/>
              </a:rPr>
              <a:t>The Truth About Randomness on the Apple II, Then and Now</a:t>
            </a:r>
          </a:p>
        </p:txBody>
      </p:sp>
      <p:sp>
        <p:nvSpPr>
          <p:cNvPr id="4" name="Rectangle 3"/>
          <p:cNvSpPr/>
          <p:nvPr/>
        </p:nvSpPr>
        <p:spPr>
          <a:xfrm>
            <a:off x="841248" y="3840480"/>
            <a:ext cx="1463040" cy="27432"/>
          </a:xfrm>
          <a:prstGeom prst="rect">
            <a:avLst/>
          </a:prstGeom>
          <a:solidFill>
            <a:srgbClr val="3A3E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114800"/>
            <a:ext cx="10515600" cy="365760"/>
          </a:xfrm>
          <a:prstGeom prst="rect">
            <a:avLst/>
          </a:prstGeom>
          <a:noFill/>
        </p:spPr>
        <p:txBody>
          <a:bodyPr wrap="square" lIns="0" rIns="0" tIns="0" bIns="0" anchor="t">
            <a:spAutoFit/>
          </a:bodyPr>
          <a:lstStyle/>
          <a:p>
            <a:pPr algn="l">
              <a:spcAft>
                <a:spcPts val="0"/>
              </a:spcAft>
            </a:pPr>
            <a:r>
              <a:rPr sz="1600" b="0">
                <a:solidFill>
                  <a:srgbClr val="9DA39B"/>
                </a:solidFill>
                <a:latin typeface="Arial"/>
              </a:rPr>
              <a:t>Jeff Robison   ·   VCF Midwest 21 2026</a:t>
            </a:r>
          </a:p>
        </p:txBody>
      </p:sp>
      <p:sp>
        <p:nvSpPr>
          <p:cNvPr id="6" name="TextBox 5"/>
          <p:cNvSpPr txBox="1"/>
          <p:nvPr/>
        </p:nvSpPr>
        <p:spPr>
          <a:xfrm>
            <a:off x="822960" y="6172200"/>
            <a:ext cx="10515600" cy="365760"/>
          </a:xfrm>
          <a:prstGeom prst="rect">
            <a:avLst/>
          </a:prstGeom>
          <a:noFill/>
        </p:spPr>
        <p:txBody>
          <a:bodyPr wrap="square" lIns="0" rIns="0" tIns="0" bIns="0" anchor="t">
            <a:spAutoFit/>
          </a:bodyPr>
          <a:lstStyle/>
          <a:p>
            <a:pPr algn="l">
              <a:spcAft>
                <a:spcPts val="0"/>
              </a:spcAft>
            </a:pPr>
            <a:r>
              <a:rPr sz="1200" b="0">
                <a:solidFill>
                  <a:srgbClr val="9DA39B"/>
                </a:solidFill>
                <a:latin typeface="Arial"/>
              </a:rPr>
              <a:t>Expanded edition · draft for Jeff Robison’s review</a:t>
            </a:r>
          </a:p>
        </p:txBody>
      </p:sp>
      <p:sp>
        <p:nvSpPr>
          <p:cNvPr id="7" name="Rectangle 6"/>
          <p:cNvSpPr/>
          <p:nvPr/>
        </p:nvSpPr>
        <p:spPr>
          <a:xfrm>
            <a:off x="10927080" y="384048"/>
            <a:ext cx="566928" cy="566928"/>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27080" y="384048"/>
            <a:ext cx="566928" cy="566928"/>
          </a:xfrm>
          <a:prstGeom prst="rect">
            <a:avLst/>
          </a:prstGeom>
          <a:noFill/>
        </p:spPr>
        <p:txBody>
          <a:bodyPr wrap="square" lIns="0" rIns="0" tIns="0" bIns="0" anchor="ctr">
            <a:spAutoFit/>
          </a:bodyPr>
          <a:lstStyle/>
          <a:p>
            <a:pPr algn="ctr">
              <a:spcAft>
                <a:spcPts val="0"/>
              </a:spcAft>
            </a:pPr>
            <a:r>
              <a:rPr sz="1500" b="1">
                <a:solidFill>
                  <a:srgbClr val="5FCB7E"/>
                </a:solidFill>
                <a:latin typeface="Courier New"/>
              </a:rPr>
              <a:t>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7181A"/>
        </a:solidFill>
        <a:effectLst/>
      </p:bgPr>
    </p:bg>
    <p:spTree>
      <p:nvGrpSpPr>
        <p:cNvPr id="1" name=""/>
        <p:cNvGrpSpPr/>
        <p:nvPr/>
      </p:nvGrpSpPr>
      <p:grpSpPr/>
      <p:sp>
        <p:nvSpPr>
          <p:cNvPr id="2" name="Rectangle 1"/>
          <p:cNvSpPr/>
          <p:nvPr/>
        </p:nvSpPr>
        <p:spPr>
          <a:xfrm>
            <a:off x="10927080" y="384048"/>
            <a:ext cx="566928" cy="566928"/>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27080" y="384048"/>
            <a:ext cx="566928" cy="566928"/>
          </a:xfrm>
          <a:prstGeom prst="rect">
            <a:avLst/>
          </a:prstGeom>
          <a:noFill/>
        </p:spPr>
        <p:txBody>
          <a:bodyPr wrap="square" lIns="0" rIns="0" tIns="0" bIns="0" anchor="ctr">
            <a:spAutoFit/>
          </a:bodyPr>
          <a:lstStyle/>
          <a:p>
            <a:pPr algn="ctr">
              <a:spcAft>
                <a:spcPts val="0"/>
              </a:spcAft>
            </a:pPr>
            <a:r>
              <a:rPr sz="1500" b="1">
                <a:solidFill>
                  <a:srgbClr val="5FCB7E"/>
                </a:solidFill>
                <a:latin typeface="Courier New"/>
              </a:rPr>
              <a:t>1</a:t>
            </a:r>
          </a:p>
        </p:txBody>
      </p:sp>
      <p:sp>
        <p:nvSpPr>
          <p:cNvPr id="4" name="TextBox 3"/>
          <p:cNvSpPr txBox="1"/>
          <p:nvPr/>
        </p:nvSpPr>
        <p:spPr>
          <a:xfrm>
            <a:off x="640080" y="411480"/>
            <a:ext cx="10058400" cy="685800"/>
          </a:xfrm>
          <a:prstGeom prst="rect">
            <a:avLst/>
          </a:prstGeom>
          <a:noFill/>
        </p:spPr>
        <p:txBody>
          <a:bodyPr wrap="square" lIns="0" rIns="0" tIns="0" bIns="0" anchor="ctr">
            <a:spAutoFit/>
          </a:bodyPr>
          <a:lstStyle/>
          <a:p>
            <a:pPr algn="l">
              <a:spcAft>
                <a:spcPts val="0"/>
              </a:spcAft>
            </a:pPr>
            <a:r>
              <a:rPr sz="3200" b="1">
                <a:solidFill>
                  <a:srgbClr val="E9E7E3"/>
                </a:solidFill>
                <a:latin typeface="Arial"/>
              </a:rPr>
              <a:t>The Problem</a:t>
            </a:r>
          </a:p>
        </p:txBody>
      </p:sp>
      <p:sp>
        <p:nvSpPr>
          <p:cNvPr id="5" name="TextBox 4"/>
          <p:cNvSpPr txBox="1"/>
          <p:nvPr/>
        </p:nvSpPr>
        <p:spPr>
          <a:xfrm>
            <a:off x="640080" y="6309360"/>
            <a:ext cx="10881360" cy="365760"/>
          </a:xfrm>
          <a:prstGeom prst="rect">
            <a:avLst/>
          </a:prstGeom>
          <a:noFill/>
        </p:spPr>
        <p:txBody>
          <a:bodyPr wrap="square" lIns="0" rIns="0" tIns="0" bIns="0" anchor="t">
            <a:spAutoFit/>
          </a:bodyPr>
          <a:lstStyle/>
          <a:p>
            <a:pPr algn="l">
              <a:spcAft>
                <a:spcPts val="0"/>
              </a:spcAft>
            </a:pPr>
            <a:r>
              <a:rPr sz="1050" b="0">
                <a:solidFill>
                  <a:srgbClr val="9DA39B"/>
                </a:solidFill>
                <a:latin typeface="Arial"/>
              </a:rPr>
              <a:t>Aldridge, Behavior Research Methods, Instruments, &amp; Computers 19(4):397–399, 1987</a:t>
            </a:r>
          </a:p>
        </p:txBody>
      </p:sp>
      <p:sp>
        <p:nvSpPr>
          <p:cNvPr id="6" name="Rectangle 5"/>
          <p:cNvSpPr/>
          <p:nvPr/>
        </p:nvSpPr>
        <p:spPr>
          <a:xfrm>
            <a:off x="3718407" y="2011680"/>
            <a:ext cx="4754880" cy="1539240"/>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084167" y="2286000"/>
            <a:ext cx="4206240" cy="990600"/>
          </a:xfrm>
          <a:prstGeom prst="rect">
            <a:avLst/>
          </a:prstGeom>
          <a:noFill/>
        </p:spPr>
        <p:txBody>
          <a:bodyPr wrap="square" lIns="0" rIns="0" tIns="0" bIns="0" anchor="t">
            <a:spAutoFit/>
          </a:bodyPr>
          <a:lstStyle/>
          <a:p>
            <a:pPr algn="l">
              <a:spcAft>
                <a:spcPts val="0"/>
              </a:spcAft>
            </a:pPr>
            <a:r>
              <a:rPr sz="3000" b="0">
                <a:solidFill>
                  <a:srgbClr val="5FCB7E"/>
                </a:solidFill>
                <a:latin typeface="Courier New"/>
              </a:rPr>
              <a:t>]PRINT RND(1)</a:t>
            </a:r>
          </a:p>
          <a:p>
            <a:pPr algn="l">
              <a:spcAft>
                <a:spcPts val="0"/>
              </a:spcAft>
            </a:pPr>
            <a:r>
              <a:rPr sz="3000" b="0">
                <a:solidFill>
                  <a:srgbClr val="5FCB7E"/>
                </a:solidFill>
                <a:latin typeface="Courier New"/>
              </a:rPr>
              <a:t>.973136996</a:t>
            </a:r>
          </a:p>
        </p:txBody>
      </p:sp>
      <p:sp>
        <p:nvSpPr>
          <p:cNvPr id="8" name="TextBox 7"/>
          <p:cNvSpPr txBox="1"/>
          <p:nvPr/>
        </p:nvSpPr>
        <p:spPr>
          <a:xfrm>
            <a:off x="822960" y="3870960"/>
            <a:ext cx="10515600" cy="1280160"/>
          </a:xfrm>
          <a:prstGeom prst="rect">
            <a:avLst/>
          </a:prstGeom>
          <a:noFill/>
        </p:spPr>
        <p:txBody>
          <a:bodyPr wrap="square" lIns="0" rIns="0" tIns="0" bIns="0" anchor="t">
            <a:spAutoFit/>
          </a:bodyPr>
          <a:lstStyle/>
          <a:p>
            <a:pPr algn="ctr">
              <a:spcAft>
                <a:spcPts val="1000"/>
              </a:spcAft>
            </a:pPr>
            <a:r>
              <a:rPr sz="2200" b="1">
                <a:solidFill>
                  <a:srgbClr val="E9E7E3"/>
                </a:solidFill>
                <a:latin typeface="Arial"/>
              </a:rPr>
              <a:t>Power off. Power on. Same number.</a:t>
            </a:r>
          </a:p>
          <a:p>
            <a:pPr algn="ctr">
              <a:spcAft>
                <a:spcPts val="600"/>
              </a:spcAft>
            </a:pPr>
            <a:r>
              <a:rPr sz="1800" b="0">
                <a:solidFill>
                  <a:srgbClr val="9DA39B"/>
                </a:solidFill>
                <a:latin typeface="Arial"/>
              </a:rPr>
              <a:t>“…exactly the same sequence each time the machine is powered 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7181A"/>
        </a:solidFill>
        <a:effectLst/>
      </p:bgPr>
    </p:bg>
    <p:spTree>
      <p:nvGrpSpPr>
        <p:cNvPr id="1" name=""/>
        <p:cNvGrpSpPr/>
        <p:nvPr/>
      </p:nvGrpSpPr>
      <p:grpSpPr/>
      <p:sp>
        <p:nvSpPr>
          <p:cNvPr id="2" name="Rectangle 1"/>
          <p:cNvSpPr/>
          <p:nvPr/>
        </p:nvSpPr>
        <p:spPr>
          <a:xfrm>
            <a:off x="10927080" y="384048"/>
            <a:ext cx="566928" cy="566928"/>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27080" y="384048"/>
            <a:ext cx="566928" cy="566928"/>
          </a:xfrm>
          <a:prstGeom prst="rect">
            <a:avLst/>
          </a:prstGeom>
          <a:noFill/>
        </p:spPr>
        <p:txBody>
          <a:bodyPr wrap="square" lIns="0" rIns="0" tIns="0" bIns="0" anchor="ctr">
            <a:spAutoFit/>
          </a:bodyPr>
          <a:lstStyle/>
          <a:p>
            <a:pPr algn="ctr">
              <a:spcAft>
                <a:spcPts val="0"/>
              </a:spcAft>
            </a:pPr>
            <a:r>
              <a:rPr sz="1500" b="1">
                <a:solidFill>
                  <a:srgbClr val="5FCB7E"/>
                </a:solidFill>
                <a:latin typeface="Courier New"/>
              </a:rPr>
              <a:t>2</a:t>
            </a:r>
          </a:p>
        </p:txBody>
      </p:sp>
      <p:sp>
        <p:nvSpPr>
          <p:cNvPr id="4" name="TextBox 3"/>
          <p:cNvSpPr txBox="1"/>
          <p:nvPr/>
        </p:nvSpPr>
        <p:spPr>
          <a:xfrm>
            <a:off x="640080" y="411480"/>
            <a:ext cx="10058400" cy="685800"/>
          </a:xfrm>
          <a:prstGeom prst="rect">
            <a:avLst/>
          </a:prstGeom>
          <a:noFill/>
        </p:spPr>
        <p:txBody>
          <a:bodyPr wrap="square" lIns="0" rIns="0" tIns="0" bIns="0" anchor="ctr">
            <a:spAutoFit/>
          </a:bodyPr>
          <a:lstStyle/>
          <a:p>
            <a:pPr algn="l">
              <a:spcAft>
                <a:spcPts val="0"/>
              </a:spcAft>
            </a:pPr>
            <a:r>
              <a:rPr sz="3200" b="1">
                <a:solidFill>
                  <a:srgbClr val="E9E7E3"/>
                </a:solidFill>
                <a:latin typeface="Arial"/>
              </a:rPr>
              <a:t>Why nobody noticed</a:t>
            </a:r>
          </a:p>
        </p:txBody>
      </p:sp>
      <p:sp>
        <p:nvSpPr>
          <p:cNvPr id="5" name="TextBox 4"/>
          <p:cNvSpPr txBox="1"/>
          <p:nvPr/>
        </p:nvSpPr>
        <p:spPr>
          <a:xfrm>
            <a:off x="640080" y="1143000"/>
            <a:ext cx="10241280" cy="457200"/>
          </a:xfrm>
          <a:prstGeom prst="rect">
            <a:avLst/>
          </a:prstGeom>
          <a:noFill/>
        </p:spPr>
        <p:txBody>
          <a:bodyPr wrap="square" lIns="0" rIns="0" tIns="0" bIns="0" anchor="t">
            <a:spAutoFit/>
          </a:bodyPr>
          <a:lstStyle/>
          <a:p>
            <a:pPr algn="l">
              <a:spcAft>
                <a:spcPts val="0"/>
              </a:spcAft>
            </a:pPr>
            <a:r>
              <a:rPr sz="1800" b="0">
                <a:solidFill>
                  <a:srgbClr val="9DA39B"/>
                </a:solidFill>
                <a:latin typeface="Arial"/>
              </a:rPr>
              <a:t>Everything a programmer does at a desk looks random.</a:t>
            </a:r>
          </a:p>
        </p:txBody>
      </p:sp>
      <p:sp>
        <p:nvSpPr>
          <p:cNvPr id="6" name="TextBox 5"/>
          <p:cNvSpPr txBox="1"/>
          <p:nvPr/>
        </p:nvSpPr>
        <p:spPr>
          <a:xfrm>
            <a:off x="640080" y="6309360"/>
            <a:ext cx="10881360" cy="365760"/>
          </a:xfrm>
          <a:prstGeom prst="rect">
            <a:avLst/>
          </a:prstGeom>
          <a:noFill/>
        </p:spPr>
        <p:txBody>
          <a:bodyPr wrap="square" lIns="0" rIns="0" tIns="0" bIns="0" anchor="t">
            <a:spAutoFit/>
          </a:bodyPr>
          <a:lstStyle/>
          <a:p>
            <a:pPr algn="l">
              <a:spcAft>
                <a:spcPts val="0"/>
              </a:spcAft>
            </a:pPr>
            <a:r>
              <a:rPr sz="1050" b="0">
                <a:solidFill>
                  <a:srgbClr val="9DA39B"/>
                </a:solidFill>
                <a:latin typeface="Arial"/>
              </a:rPr>
              <a:t>Aldridge 1987; Ctrl-Reset behavior measured on the II Plus ROM warm-start path</a:t>
            </a:r>
          </a:p>
        </p:txBody>
      </p:sp>
      <p:sp>
        <p:nvSpPr>
          <p:cNvPr id="7" name="Rectangle 6"/>
          <p:cNvSpPr/>
          <p:nvPr/>
        </p:nvSpPr>
        <p:spPr>
          <a:xfrm>
            <a:off x="640080" y="1783080"/>
            <a:ext cx="3444240" cy="4206240"/>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11680"/>
            <a:ext cx="2895600" cy="3840479"/>
          </a:xfrm>
          <a:prstGeom prst="rect">
            <a:avLst/>
          </a:prstGeom>
          <a:noFill/>
        </p:spPr>
        <p:txBody>
          <a:bodyPr wrap="square" lIns="0" rIns="0" tIns="0" bIns="0" anchor="t">
            <a:spAutoFit/>
          </a:bodyPr>
          <a:lstStyle/>
          <a:p>
            <a:pPr algn="l">
              <a:spcAft>
                <a:spcPts val="1200"/>
              </a:spcAft>
            </a:pPr>
            <a:r>
              <a:rPr sz="1900" b="1">
                <a:solidFill>
                  <a:srgbClr val="5FCB7E"/>
                </a:solidFill>
                <a:latin typeface="Arial"/>
              </a:rPr>
              <a:t>RUN it again</a:t>
            </a:r>
          </a:p>
          <a:p>
            <a:pPr algn="l">
              <a:spcAft>
                <a:spcPts val="800"/>
              </a:spcAft>
            </a:pPr>
            <a:r>
              <a:rPr sz="1600" b="0">
                <a:solidFill>
                  <a:srgbClr val="E9E7E3"/>
                </a:solidFill>
                <a:latin typeface="Arial"/>
              </a:rPr>
              <a:t>Different numbers.</a:t>
            </a:r>
          </a:p>
          <a:p>
            <a:pPr algn="l">
              <a:spcAft>
                <a:spcPts val="800"/>
              </a:spcAft>
            </a:pPr>
            <a:r>
              <a:rPr sz="1600" b="0">
                <a:solidFill>
                  <a:srgbClr val="E9E7E3"/>
                </a:solidFill>
                <a:latin typeface="Arial"/>
              </a:rPr>
              <a:t>The seed carries on from the last call.</a:t>
            </a:r>
          </a:p>
        </p:txBody>
      </p:sp>
      <p:sp>
        <p:nvSpPr>
          <p:cNvPr id="9" name="Rectangle 8"/>
          <p:cNvSpPr/>
          <p:nvPr/>
        </p:nvSpPr>
        <p:spPr>
          <a:xfrm>
            <a:off x="4358640" y="1783080"/>
            <a:ext cx="3444240" cy="4206240"/>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32960" y="2011680"/>
            <a:ext cx="2895600" cy="3840479"/>
          </a:xfrm>
          <a:prstGeom prst="rect">
            <a:avLst/>
          </a:prstGeom>
          <a:noFill/>
        </p:spPr>
        <p:txBody>
          <a:bodyPr wrap="square" lIns="0" rIns="0" tIns="0" bIns="0" anchor="t">
            <a:spAutoFit/>
          </a:bodyPr>
          <a:lstStyle/>
          <a:p>
            <a:pPr algn="l">
              <a:spcAft>
                <a:spcPts val="1200"/>
              </a:spcAft>
            </a:pPr>
            <a:r>
              <a:rPr sz="1900" b="1">
                <a:solidFill>
                  <a:srgbClr val="5FCB7E"/>
                </a:solidFill>
                <a:latin typeface="Arial"/>
              </a:rPr>
              <a:t>Reboot DOS, Ctrl-Reset</a:t>
            </a:r>
          </a:p>
          <a:p>
            <a:pPr algn="l">
              <a:spcAft>
                <a:spcPts val="800"/>
              </a:spcAft>
            </a:pPr>
            <a:r>
              <a:rPr sz="1600" b="0">
                <a:solidFill>
                  <a:srgbClr val="E9E7E3"/>
                </a:solidFill>
                <a:latin typeface="Arial"/>
              </a:rPr>
              <a:t>Different numbers.</a:t>
            </a:r>
          </a:p>
          <a:p>
            <a:pPr algn="l">
              <a:spcAft>
                <a:spcPts val="800"/>
              </a:spcAft>
            </a:pPr>
            <a:r>
              <a:rPr sz="1600" b="0">
                <a:solidFill>
                  <a:srgbClr val="E9E7E3"/>
                </a:solidFill>
                <a:latin typeface="Arial"/>
              </a:rPr>
              <a:t>The seed survives in RAM.</a:t>
            </a:r>
          </a:p>
        </p:txBody>
      </p:sp>
      <p:sp>
        <p:nvSpPr>
          <p:cNvPr id="11" name="Rectangle 10"/>
          <p:cNvSpPr/>
          <p:nvPr/>
        </p:nvSpPr>
        <p:spPr>
          <a:xfrm>
            <a:off x="8077200" y="1783080"/>
            <a:ext cx="3444240" cy="4206240"/>
          </a:xfrm>
          <a:prstGeom prst="rect">
            <a:avLst/>
          </a:prstGeom>
          <a:solidFill>
            <a:srgbClr val="202225"/>
          </a:solidFill>
          <a:ln w="19050">
            <a:solidFill>
              <a:srgbClr val="E0A7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51520" y="2011680"/>
            <a:ext cx="2895600" cy="3840479"/>
          </a:xfrm>
          <a:prstGeom prst="rect">
            <a:avLst/>
          </a:prstGeom>
          <a:noFill/>
        </p:spPr>
        <p:txBody>
          <a:bodyPr wrap="square" lIns="0" rIns="0" tIns="0" bIns="0" anchor="t">
            <a:spAutoFit/>
          </a:bodyPr>
          <a:lstStyle/>
          <a:p>
            <a:pPr algn="l">
              <a:spcAft>
                <a:spcPts val="1200"/>
              </a:spcAft>
            </a:pPr>
            <a:r>
              <a:rPr sz="1900" b="1">
                <a:solidFill>
                  <a:srgbClr val="E0A73E"/>
                </a:solidFill>
                <a:latin typeface="Arial"/>
              </a:rPr>
              <a:t>Power switch</a:t>
            </a:r>
          </a:p>
          <a:p>
            <a:pPr algn="l">
              <a:spcAft>
                <a:spcPts val="800"/>
              </a:spcAft>
            </a:pPr>
            <a:r>
              <a:rPr sz="1600" b="0">
                <a:solidFill>
                  <a:srgbClr val="E9E7E3"/>
                </a:solidFill>
                <a:latin typeface="Arial"/>
              </a:rPr>
              <a:t>The same sequence.</a:t>
            </a:r>
          </a:p>
          <a:p>
            <a:pPr algn="l">
              <a:spcAft>
                <a:spcPts val="800"/>
              </a:spcAft>
            </a:pPr>
            <a:r>
              <a:rPr sz="1600" b="0">
                <a:solidFill>
                  <a:srgbClr val="E9E7E3"/>
                </a:solidFill>
                <a:latin typeface="Arial"/>
              </a:rPr>
              <a:t>The first user of the day sees 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181A"/>
        </a:solidFill>
        <a:effectLst/>
      </p:bgPr>
    </p:bg>
    <p:spTree>
      <p:nvGrpSpPr>
        <p:cNvPr id="1" name=""/>
        <p:cNvGrpSpPr/>
        <p:nvPr/>
      </p:nvGrpSpPr>
      <p:grpSpPr/>
      <p:sp>
        <p:nvSpPr>
          <p:cNvPr id="2" name="Rectangle 1"/>
          <p:cNvSpPr/>
          <p:nvPr/>
        </p:nvSpPr>
        <p:spPr>
          <a:xfrm>
            <a:off x="10927080" y="384048"/>
            <a:ext cx="566928" cy="566928"/>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27080" y="384048"/>
            <a:ext cx="566928" cy="566928"/>
          </a:xfrm>
          <a:prstGeom prst="rect">
            <a:avLst/>
          </a:prstGeom>
          <a:noFill/>
        </p:spPr>
        <p:txBody>
          <a:bodyPr wrap="square" lIns="0" rIns="0" tIns="0" bIns="0" anchor="ctr">
            <a:spAutoFit/>
          </a:bodyPr>
          <a:lstStyle/>
          <a:p>
            <a:pPr algn="ctr">
              <a:spcAft>
                <a:spcPts val="0"/>
              </a:spcAft>
            </a:pPr>
            <a:r>
              <a:rPr sz="1500" b="1">
                <a:solidFill>
                  <a:srgbClr val="5FCB7E"/>
                </a:solidFill>
                <a:latin typeface="Courier New"/>
              </a:rPr>
              <a:t>3</a:t>
            </a:r>
          </a:p>
        </p:txBody>
      </p:sp>
      <p:sp>
        <p:nvSpPr>
          <p:cNvPr id="4" name="TextBox 3"/>
          <p:cNvSpPr txBox="1"/>
          <p:nvPr/>
        </p:nvSpPr>
        <p:spPr>
          <a:xfrm>
            <a:off x="640080" y="411480"/>
            <a:ext cx="10058400" cy="685800"/>
          </a:xfrm>
          <a:prstGeom prst="rect">
            <a:avLst/>
          </a:prstGeom>
          <a:noFill/>
        </p:spPr>
        <p:txBody>
          <a:bodyPr wrap="square" lIns="0" rIns="0" tIns="0" bIns="0" anchor="ctr">
            <a:spAutoFit/>
          </a:bodyPr>
          <a:lstStyle/>
          <a:p>
            <a:pPr algn="l">
              <a:spcAft>
                <a:spcPts val="0"/>
              </a:spcAft>
            </a:pPr>
            <a:r>
              <a:rPr sz="3200" b="1">
                <a:solidFill>
                  <a:srgbClr val="E9E7E3"/>
                </a:solidFill>
                <a:latin typeface="Arial"/>
              </a:rPr>
              <a:t>Pseudo-random means repeatable</a:t>
            </a:r>
          </a:p>
        </p:txBody>
      </p:sp>
      <p:sp>
        <p:nvSpPr>
          <p:cNvPr id="5" name="Rectangle 4"/>
          <p:cNvSpPr/>
          <p:nvPr/>
        </p:nvSpPr>
        <p:spPr>
          <a:xfrm>
            <a:off x="640080" y="1783080"/>
            <a:ext cx="5303520" cy="3063240"/>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11680"/>
            <a:ext cx="4754880" cy="2697480"/>
          </a:xfrm>
          <a:prstGeom prst="rect">
            <a:avLst/>
          </a:prstGeom>
          <a:noFill/>
        </p:spPr>
        <p:txBody>
          <a:bodyPr wrap="square" lIns="0" rIns="0" tIns="0" bIns="0" anchor="t">
            <a:spAutoFit/>
          </a:bodyPr>
          <a:lstStyle/>
          <a:p>
            <a:pPr algn="l">
              <a:spcAft>
                <a:spcPts val="1200"/>
              </a:spcAft>
            </a:pPr>
            <a:r>
              <a:rPr sz="1900" b="1">
                <a:solidFill>
                  <a:srgbClr val="5FCB7E"/>
                </a:solidFill>
                <a:latin typeface="Arial"/>
              </a:rPr>
              <a:t>The seed</a:t>
            </a:r>
          </a:p>
          <a:p>
            <a:pPr algn="l">
              <a:spcAft>
                <a:spcPts val="800"/>
              </a:spcAft>
            </a:pPr>
            <a:r>
              <a:rPr sz="1700" b="0">
                <a:solidFill>
                  <a:srgbClr val="E9E7E3"/>
                </a:solidFill>
                <a:latin typeface="Arial"/>
              </a:rPr>
              <a:t>Where the sequence starts.</a:t>
            </a:r>
          </a:p>
          <a:p>
            <a:pPr algn="l">
              <a:spcAft>
                <a:spcPts val="800"/>
              </a:spcAft>
            </a:pPr>
            <a:r>
              <a:rPr sz="1700" b="0">
                <a:solidFill>
                  <a:srgbClr val="E9E7E3"/>
                </a:solidFill>
                <a:latin typeface="Arial"/>
              </a:rPr>
              <a:t>Needs entropy: something you can’t predict.</a:t>
            </a:r>
          </a:p>
        </p:txBody>
      </p:sp>
      <p:sp>
        <p:nvSpPr>
          <p:cNvPr id="7" name="Rectangle 6"/>
          <p:cNvSpPr/>
          <p:nvPr/>
        </p:nvSpPr>
        <p:spPr>
          <a:xfrm>
            <a:off x="6217920" y="1783080"/>
            <a:ext cx="5303520" cy="3063240"/>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2011680"/>
            <a:ext cx="4754880" cy="2697480"/>
          </a:xfrm>
          <a:prstGeom prst="rect">
            <a:avLst/>
          </a:prstGeom>
          <a:noFill/>
        </p:spPr>
        <p:txBody>
          <a:bodyPr wrap="square" lIns="0" rIns="0" tIns="0" bIns="0" anchor="t">
            <a:spAutoFit/>
          </a:bodyPr>
          <a:lstStyle/>
          <a:p>
            <a:pPr algn="l">
              <a:spcAft>
                <a:spcPts val="1200"/>
              </a:spcAft>
            </a:pPr>
            <a:r>
              <a:rPr sz="1900" b="1">
                <a:solidFill>
                  <a:srgbClr val="5FCB7E"/>
                </a:solidFill>
                <a:latin typeface="Arial"/>
              </a:rPr>
              <a:t>The generator</a:t>
            </a:r>
          </a:p>
          <a:p>
            <a:pPr algn="l">
              <a:spcAft>
                <a:spcPts val="800"/>
              </a:spcAft>
            </a:pPr>
            <a:r>
              <a:rPr sz="1700" b="0">
                <a:solidFill>
                  <a:srgbClr val="E9E7E3"/>
                </a:solidFill>
                <a:latin typeface="Arial"/>
              </a:rPr>
              <a:t>What the sequence looks like.</a:t>
            </a:r>
          </a:p>
          <a:p>
            <a:pPr algn="l">
              <a:spcAft>
                <a:spcPts val="800"/>
              </a:spcAft>
            </a:pPr>
            <a:r>
              <a:rPr sz="1700" b="0">
                <a:solidFill>
                  <a:srgbClr val="E9E7E3"/>
                </a:solidFill>
                <a:latin typeface="Arial"/>
              </a:rPr>
              <a:t>Needs a long period and no visible pattern.</a:t>
            </a:r>
          </a:p>
        </p:txBody>
      </p:sp>
      <p:sp>
        <p:nvSpPr>
          <p:cNvPr id="9" name="Rectangle 8"/>
          <p:cNvSpPr/>
          <p:nvPr/>
        </p:nvSpPr>
        <p:spPr>
          <a:xfrm>
            <a:off x="640080" y="5029200"/>
            <a:ext cx="10881360" cy="960120"/>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5029200"/>
            <a:ext cx="64008" cy="960120"/>
          </a:xfrm>
          <a:prstGeom prst="rect">
            <a:avLst/>
          </a:prstGeom>
          <a:solidFill>
            <a:srgbClr val="E0A7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19" y="5029200"/>
            <a:ext cx="10332720" cy="960120"/>
          </a:xfrm>
          <a:prstGeom prst="rect">
            <a:avLst/>
          </a:prstGeom>
          <a:noFill/>
        </p:spPr>
        <p:txBody>
          <a:bodyPr wrap="square" lIns="0" rIns="0" tIns="0" bIns="0" anchor="ctr">
            <a:spAutoFit/>
          </a:bodyPr>
          <a:lstStyle/>
          <a:p>
            <a:pPr algn="l">
              <a:spcAft>
                <a:spcPts val="400"/>
              </a:spcAft>
            </a:pPr>
            <a:r>
              <a:rPr sz="1900" b="0">
                <a:solidFill>
                  <a:srgbClr val="E9E7E3"/>
                </a:solidFill>
                <a:latin typeface="Arial"/>
              </a:rPr>
              <a:t>Same seed → same numbers. Every time. This talk is about the seed.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7181A"/>
        </a:solidFill>
        <a:effectLst/>
      </p:bgPr>
    </p:bg>
    <p:spTree>
      <p:nvGrpSpPr>
        <p:cNvPr id="1" name=""/>
        <p:cNvGrpSpPr/>
        <p:nvPr/>
      </p:nvGrpSpPr>
      <p:grpSpPr/>
      <p:sp>
        <p:nvSpPr>
          <p:cNvPr id="2" name="Rectangle 1"/>
          <p:cNvSpPr/>
          <p:nvPr/>
        </p:nvSpPr>
        <p:spPr>
          <a:xfrm>
            <a:off x="10927080" y="384048"/>
            <a:ext cx="566928" cy="566928"/>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27080" y="384048"/>
            <a:ext cx="566928" cy="566928"/>
          </a:xfrm>
          <a:prstGeom prst="rect">
            <a:avLst/>
          </a:prstGeom>
          <a:noFill/>
        </p:spPr>
        <p:txBody>
          <a:bodyPr wrap="square" lIns="0" rIns="0" tIns="0" bIns="0" anchor="ctr">
            <a:spAutoFit/>
          </a:bodyPr>
          <a:lstStyle/>
          <a:p>
            <a:pPr algn="ctr">
              <a:spcAft>
                <a:spcPts val="0"/>
              </a:spcAft>
            </a:pPr>
            <a:r>
              <a:rPr sz="1500" b="1">
                <a:solidFill>
                  <a:srgbClr val="5FCB7E"/>
                </a:solidFill>
                <a:latin typeface="Courier New"/>
              </a:rPr>
              <a:t>4</a:t>
            </a:r>
          </a:p>
        </p:txBody>
      </p:sp>
      <p:sp>
        <p:nvSpPr>
          <p:cNvPr id="4" name="TextBox 3"/>
          <p:cNvSpPr txBox="1"/>
          <p:nvPr/>
        </p:nvSpPr>
        <p:spPr>
          <a:xfrm>
            <a:off x="640080" y="411480"/>
            <a:ext cx="10058400" cy="685800"/>
          </a:xfrm>
          <a:prstGeom prst="rect">
            <a:avLst/>
          </a:prstGeom>
          <a:noFill/>
        </p:spPr>
        <p:txBody>
          <a:bodyPr wrap="square" lIns="0" rIns="0" tIns="0" bIns="0" anchor="ctr">
            <a:spAutoFit/>
          </a:bodyPr>
          <a:lstStyle/>
          <a:p>
            <a:pPr algn="l">
              <a:spcAft>
                <a:spcPts val="0"/>
              </a:spcAft>
            </a:pPr>
            <a:r>
              <a:rPr sz="3200" b="1">
                <a:solidFill>
                  <a:srgbClr val="E9E7E3"/>
                </a:solidFill>
                <a:latin typeface="Arial"/>
              </a:rPr>
              <a:t>Integer BASIC, 1977: seeded by you</a:t>
            </a:r>
          </a:p>
        </p:txBody>
      </p:sp>
      <p:sp>
        <p:nvSpPr>
          <p:cNvPr id="5" name="TextBox 4"/>
          <p:cNvSpPr txBox="1"/>
          <p:nvPr/>
        </p:nvSpPr>
        <p:spPr>
          <a:xfrm>
            <a:off x="640080" y="1143000"/>
            <a:ext cx="10241280" cy="457200"/>
          </a:xfrm>
          <a:prstGeom prst="rect">
            <a:avLst/>
          </a:prstGeom>
          <a:noFill/>
        </p:spPr>
        <p:txBody>
          <a:bodyPr wrap="square" lIns="0" rIns="0" tIns="0" bIns="0" anchor="t">
            <a:spAutoFit/>
          </a:bodyPr>
          <a:lstStyle/>
          <a:p>
            <a:pPr algn="l">
              <a:spcAft>
                <a:spcPts val="0"/>
              </a:spcAft>
            </a:pPr>
            <a:r>
              <a:rPr sz="1800" b="0">
                <a:solidFill>
                  <a:srgbClr val="9DA39B"/>
                </a:solidFill>
                <a:latin typeface="Arial"/>
              </a:rPr>
              <a:t>Woz’s generator at $EF4E, hand-assembled.</a:t>
            </a:r>
          </a:p>
        </p:txBody>
      </p:sp>
      <p:sp>
        <p:nvSpPr>
          <p:cNvPr id="6" name="TextBox 5"/>
          <p:cNvSpPr txBox="1"/>
          <p:nvPr/>
        </p:nvSpPr>
        <p:spPr>
          <a:xfrm>
            <a:off x="640080" y="6309360"/>
            <a:ext cx="10881360" cy="365760"/>
          </a:xfrm>
          <a:prstGeom prst="rect">
            <a:avLst/>
          </a:prstGeom>
          <a:noFill/>
        </p:spPr>
        <p:txBody>
          <a:bodyPr wrap="square" lIns="0" rIns="0" tIns="0" bIns="0" anchor="t">
            <a:spAutoFit/>
          </a:bodyPr>
          <a:lstStyle/>
          <a:p>
            <a:pPr algn="l">
              <a:spcAft>
                <a:spcPts val="0"/>
              </a:spcAft>
            </a:pPr>
            <a:r>
              <a:rPr sz="1050" b="0">
                <a:solidFill>
                  <a:srgbClr val="9DA39B"/>
                </a:solidFill>
                <a:latin typeface="Arial"/>
              </a:rPr>
              <a:t>Integer BASIC disassembly (Santa-Maria, via McFadden); Sander-Cederlof, AAL Aug 1981; Wozniak, BYTE May 1977; period measured by emulation</a:t>
            </a:r>
          </a:p>
        </p:txBody>
      </p:sp>
      <p:sp>
        <p:nvSpPr>
          <p:cNvPr id="7" name="Rectangle 6"/>
          <p:cNvSpPr/>
          <p:nvPr/>
        </p:nvSpPr>
        <p:spPr>
          <a:xfrm>
            <a:off x="640080" y="1783080"/>
            <a:ext cx="5303520" cy="3063240"/>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11680"/>
            <a:ext cx="4754880" cy="2697480"/>
          </a:xfrm>
          <a:prstGeom prst="rect">
            <a:avLst/>
          </a:prstGeom>
          <a:noFill/>
        </p:spPr>
        <p:txBody>
          <a:bodyPr wrap="square" lIns="0" rIns="0" tIns="0" bIns="0" anchor="t">
            <a:spAutoFit/>
          </a:bodyPr>
          <a:lstStyle/>
          <a:p>
            <a:pPr algn="l">
              <a:spcAft>
                <a:spcPts val="1200"/>
              </a:spcAft>
            </a:pPr>
            <a:r>
              <a:rPr sz="1900" b="1">
                <a:solidFill>
                  <a:srgbClr val="5FCB7E"/>
                </a:solidFill>
                <a:latin typeface="Arial"/>
              </a:rPr>
              <a:t>The generator</a:t>
            </a:r>
          </a:p>
          <a:p>
            <a:pPr algn="l">
              <a:spcAft>
                <a:spcPts val="800"/>
              </a:spcAft>
            </a:pPr>
            <a:r>
              <a:rPr sz="1700" b="0">
                <a:solidFill>
                  <a:srgbClr val="E9E7E3"/>
                </a:solidFill>
                <a:latin typeface="Arial"/>
              </a:rPr>
              <a:t>15-bit shift register</a:t>
            </a:r>
          </a:p>
          <a:p>
            <a:pPr algn="l">
              <a:spcAft>
                <a:spcPts val="800"/>
              </a:spcAft>
            </a:pPr>
            <a:r>
              <a:rPr sz="1700" b="0">
                <a:solidFill>
                  <a:srgbClr val="E9E7E3"/>
                </a:solidFill>
                <a:latin typeface="Arial"/>
              </a:rPr>
              <a:t>Repeats every 32,767 calls</a:t>
            </a:r>
          </a:p>
          <a:p>
            <a:pPr algn="l">
              <a:spcAft>
                <a:spcPts val="800"/>
              </a:spcAft>
            </a:pPr>
            <a:r>
              <a:rPr sz="1700" b="0">
                <a:solidFill>
                  <a:srgbClr val="E9E7E3"/>
                </a:solidFill>
                <a:latin typeface="Arial"/>
              </a:rPr>
              <a:t>RND(X) = state MOD X</a:t>
            </a:r>
          </a:p>
          <a:p>
            <a:pPr algn="l">
              <a:spcAft>
                <a:spcPts val="800"/>
              </a:spcAft>
            </a:pPr>
            <a:r>
              <a:rPr sz="1700" b="0">
                <a:solidFill>
                  <a:srgbClr val="E9E7E3"/>
                </a:solidFill>
                <a:latin typeface="Arial"/>
              </a:rPr>
              <a:t>50 bytes</a:t>
            </a:r>
          </a:p>
        </p:txBody>
      </p:sp>
      <p:sp>
        <p:nvSpPr>
          <p:cNvPr id="9" name="Rectangle 8"/>
          <p:cNvSpPr/>
          <p:nvPr/>
        </p:nvSpPr>
        <p:spPr>
          <a:xfrm>
            <a:off x="6217920" y="1783080"/>
            <a:ext cx="5303520" cy="3063240"/>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2011680"/>
            <a:ext cx="4754880" cy="2697480"/>
          </a:xfrm>
          <a:prstGeom prst="rect">
            <a:avLst/>
          </a:prstGeom>
          <a:noFill/>
        </p:spPr>
        <p:txBody>
          <a:bodyPr wrap="square" lIns="0" rIns="0" tIns="0" bIns="0" anchor="t">
            <a:spAutoFit/>
          </a:bodyPr>
          <a:lstStyle/>
          <a:p>
            <a:pPr algn="l">
              <a:spcAft>
                <a:spcPts val="1200"/>
              </a:spcAft>
            </a:pPr>
            <a:r>
              <a:rPr sz="1900" b="1">
                <a:solidFill>
                  <a:srgbClr val="5FCB7E"/>
                </a:solidFill>
                <a:latin typeface="Arial"/>
              </a:rPr>
              <a:t>The seed</a:t>
            </a:r>
          </a:p>
          <a:p>
            <a:pPr algn="l">
              <a:spcAft>
                <a:spcPts val="800"/>
              </a:spcAft>
            </a:pPr>
            <a:r>
              <a:rPr sz="1700" b="0">
                <a:solidFill>
                  <a:srgbClr val="E9E7E3"/>
                </a:solidFill>
                <a:latin typeface="Arial"/>
              </a:rPr>
              <a:t>$4E/$4F counts while the monitor waits for a key</a:t>
            </a:r>
          </a:p>
          <a:p>
            <a:pPr algn="l">
              <a:spcAft>
                <a:spcPts val="800"/>
              </a:spcAft>
            </a:pPr>
            <a:r>
              <a:rPr sz="1700" b="0">
                <a:solidFill>
                  <a:srgbClr val="E9E7E3"/>
                </a:solidFill>
                <a:latin typeface="Arial"/>
              </a:rPr>
              <a:t>That counter is the generator’s state</a:t>
            </a:r>
          </a:p>
          <a:p>
            <a:pPr algn="l">
              <a:spcAft>
                <a:spcPts val="800"/>
              </a:spcAft>
            </a:pPr>
            <a:r>
              <a:rPr sz="1700" b="0">
                <a:solidFill>
                  <a:srgbClr val="E9E7E3"/>
                </a:solidFill>
                <a:latin typeface="Arial"/>
              </a:rPr>
              <a:t>Every key wait stirs it</a:t>
            </a:r>
          </a:p>
          <a:p>
            <a:pPr algn="l">
              <a:spcAft>
                <a:spcPts val="800"/>
              </a:spcAft>
            </a:pPr>
            <a:r>
              <a:rPr sz="1700" b="0">
                <a:solidFill>
                  <a:srgbClr val="E9E7E3"/>
                </a:solidFill>
                <a:latin typeface="Arial"/>
              </a:rPr>
              <a:t>6 bytes, in KEYIN</a:t>
            </a:r>
          </a:p>
        </p:txBody>
      </p:sp>
      <p:sp>
        <p:nvSpPr>
          <p:cNvPr id="11" name="Rectangle 10"/>
          <p:cNvSpPr/>
          <p:nvPr/>
        </p:nvSpPr>
        <p:spPr>
          <a:xfrm>
            <a:off x="640080" y="5029200"/>
            <a:ext cx="10881360" cy="960120"/>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5029200"/>
            <a:ext cx="64008" cy="960120"/>
          </a:xfrm>
          <a:prstGeom prst="rect">
            <a:avLst/>
          </a:prstGeom>
          <a:solidFill>
            <a:srgbClr val="E0A7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19" y="5029200"/>
            <a:ext cx="10332720" cy="960120"/>
          </a:xfrm>
          <a:prstGeom prst="rect">
            <a:avLst/>
          </a:prstGeom>
          <a:noFill/>
        </p:spPr>
        <p:txBody>
          <a:bodyPr wrap="square" lIns="0" rIns="0" tIns="0" bIns="0" anchor="ctr">
            <a:spAutoFit/>
          </a:bodyPr>
          <a:lstStyle/>
          <a:p>
            <a:pPr algn="l">
              <a:spcAft>
                <a:spcPts val="400"/>
              </a:spcAft>
            </a:pPr>
            <a:r>
              <a:rPr sz="1900" b="0">
                <a:solidFill>
                  <a:srgbClr val="E9E7E3"/>
                </a:solidFill>
                <a:latin typeface="Arial"/>
              </a:rPr>
              <a:t>Good enough for games, its stated purpose. Not for statistics.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7181A"/>
        </a:solidFill>
        <a:effectLst/>
      </p:bgPr>
    </p:bg>
    <p:spTree>
      <p:nvGrpSpPr>
        <p:cNvPr id="1" name=""/>
        <p:cNvGrpSpPr/>
        <p:nvPr/>
      </p:nvGrpSpPr>
      <p:grpSpPr/>
      <p:sp>
        <p:nvSpPr>
          <p:cNvPr id="2" name="Rectangle 1"/>
          <p:cNvSpPr/>
          <p:nvPr/>
        </p:nvSpPr>
        <p:spPr>
          <a:xfrm>
            <a:off x="10927080" y="384048"/>
            <a:ext cx="566928" cy="566928"/>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27080" y="384048"/>
            <a:ext cx="566928" cy="566928"/>
          </a:xfrm>
          <a:prstGeom prst="rect">
            <a:avLst/>
          </a:prstGeom>
          <a:noFill/>
        </p:spPr>
        <p:txBody>
          <a:bodyPr wrap="square" lIns="0" rIns="0" tIns="0" bIns="0" anchor="ctr">
            <a:spAutoFit/>
          </a:bodyPr>
          <a:lstStyle/>
          <a:p>
            <a:pPr algn="ctr">
              <a:spcAft>
                <a:spcPts val="0"/>
              </a:spcAft>
            </a:pPr>
            <a:r>
              <a:rPr sz="1500" b="1">
                <a:solidFill>
                  <a:srgbClr val="5FCB7E"/>
                </a:solidFill>
                <a:latin typeface="Courier New"/>
              </a:rPr>
              <a:t>5</a:t>
            </a:r>
          </a:p>
        </p:txBody>
      </p:sp>
      <p:sp>
        <p:nvSpPr>
          <p:cNvPr id="4" name="TextBox 3"/>
          <p:cNvSpPr txBox="1"/>
          <p:nvPr/>
        </p:nvSpPr>
        <p:spPr>
          <a:xfrm>
            <a:off x="640080" y="411480"/>
            <a:ext cx="10058400" cy="685800"/>
          </a:xfrm>
          <a:prstGeom prst="rect">
            <a:avLst/>
          </a:prstGeom>
          <a:noFill/>
        </p:spPr>
        <p:txBody>
          <a:bodyPr wrap="square" lIns="0" rIns="0" tIns="0" bIns="0" anchor="ctr">
            <a:spAutoFit/>
          </a:bodyPr>
          <a:lstStyle/>
          <a:p>
            <a:pPr algn="l">
              <a:spcAft>
                <a:spcPts val="0"/>
              </a:spcAft>
            </a:pPr>
            <a:r>
              <a:rPr sz="3200" b="1">
                <a:solidFill>
                  <a:srgbClr val="E9E7E3"/>
                </a:solidFill>
                <a:latin typeface="Arial"/>
              </a:rPr>
              <a:t>The entropy source is a busy-wait</a:t>
            </a:r>
          </a:p>
        </p:txBody>
      </p:sp>
      <p:sp>
        <p:nvSpPr>
          <p:cNvPr id="5" name="TextBox 4"/>
          <p:cNvSpPr txBox="1"/>
          <p:nvPr/>
        </p:nvSpPr>
        <p:spPr>
          <a:xfrm>
            <a:off x="640080" y="1143000"/>
            <a:ext cx="10241280" cy="457200"/>
          </a:xfrm>
          <a:prstGeom prst="rect">
            <a:avLst/>
          </a:prstGeom>
          <a:noFill/>
        </p:spPr>
        <p:txBody>
          <a:bodyPr wrap="square" lIns="0" rIns="0" tIns="0" bIns="0" anchor="t">
            <a:spAutoFit/>
          </a:bodyPr>
          <a:lstStyle/>
          <a:p>
            <a:pPr algn="l">
              <a:spcAft>
                <a:spcPts val="0"/>
              </a:spcAft>
            </a:pPr>
            <a:r>
              <a:rPr sz="1800" b="0">
                <a:solidFill>
                  <a:srgbClr val="9DA39B"/>
                </a:solidFill>
                <a:latin typeface="Arial"/>
              </a:rPr>
              <a:t>Not a timer. Not a jiffy clock. A loop count.</a:t>
            </a:r>
          </a:p>
        </p:txBody>
      </p:sp>
      <p:sp>
        <p:nvSpPr>
          <p:cNvPr id="6" name="TextBox 5"/>
          <p:cNvSpPr txBox="1"/>
          <p:nvPr/>
        </p:nvSpPr>
        <p:spPr>
          <a:xfrm>
            <a:off x="640080" y="6309360"/>
            <a:ext cx="10881360" cy="365760"/>
          </a:xfrm>
          <a:prstGeom prst="rect">
            <a:avLst/>
          </a:prstGeom>
          <a:noFill/>
        </p:spPr>
        <p:txBody>
          <a:bodyPr wrap="square" lIns="0" rIns="0" tIns="0" bIns="0" anchor="t">
            <a:spAutoFit/>
          </a:bodyPr>
          <a:lstStyle/>
          <a:p>
            <a:pPr algn="l">
              <a:spcAft>
                <a:spcPts val="0"/>
              </a:spcAft>
            </a:pPr>
            <a:r>
              <a:rPr sz="1050" b="0">
                <a:solidFill>
                  <a:srgbClr val="9DA39B"/>
                </a:solidFill>
                <a:latin typeface="Arial"/>
              </a:rPr>
              <a:t>6502disassembly.com: OrigF8ROM, AutoF8ROM, Unenh_IIe_80col, IIc_16kb; Apple II Reference Manual p. 32</a:t>
            </a:r>
          </a:p>
        </p:txBody>
      </p:sp>
      <p:pic>
        <p:nvPicPr>
          <p:cNvPr id="7" name="Picture 6" descr="keyin orig f8 fd1b"/>
          <p:cNvPicPr>
            <a:picLocks noChangeAspect="1"/>
          </p:cNvPicPr>
          <p:nvPr/>
        </p:nvPicPr>
        <p:blipFill>
          <a:blip r:embed="rId2"/>
          <a:stretch>
            <a:fillRect/>
          </a:stretch>
        </p:blipFill>
        <p:spPr>
          <a:xfrm>
            <a:off x="640080" y="1783080"/>
            <a:ext cx="7223760" cy="1530863"/>
          </a:xfrm>
          <a:prstGeom prst="rect">
            <a:avLst/>
          </a:prstGeom>
        </p:spPr>
      </p:pic>
      <p:sp>
        <p:nvSpPr>
          <p:cNvPr id="8" name="TextBox 7"/>
          <p:cNvSpPr txBox="1"/>
          <p:nvPr/>
        </p:nvSpPr>
        <p:spPr>
          <a:xfrm>
            <a:off x="640080" y="3423671"/>
            <a:ext cx="7223760" cy="457200"/>
          </a:xfrm>
          <a:prstGeom prst="rect">
            <a:avLst/>
          </a:prstGeom>
          <a:noFill/>
        </p:spPr>
        <p:txBody>
          <a:bodyPr wrap="square" lIns="0" rIns="0" tIns="0" bIns="0" anchor="t">
            <a:spAutoFit/>
          </a:bodyPr>
          <a:lstStyle/>
          <a:p>
            <a:pPr algn="l">
              <a:spcAft>
                <a:spcPts val="0"/>
              </a:spcAft>
            </a:pPr>
            <a:r>
              <a:rPr sz="1100" b="0">
                <a:solidFill>
                  <a:srgbClr val="9DA39B"/>
                </a:solidFill>
                <a:latin typeface="Arial"/>
              </a:rPr>
              <a:t>Monitor KEYIN, $FD1B. Listing credited to S. Wozniak and A. Baum.</a:t>
            </a:r>
          </a:p>
        </p:txBody>
      </p:sp>
      <p:sp>
        <p:nvSpPr>
          <p:cNvPr id="9" name="Rectangle 8"/>
          <p:cNvSpPr/>
          <p:nvPr/>
        </p:nvSpPr>
        <p:spPr>
          <a:xfrm>
            <a:off x="8092440" y="1783080"/>
            <a:ext cx="3429000" cy="1389888"/>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0" y="1947672"/>
            <a:ext cx="3063240" cy="1161288"/>
          </a:xfrm>
          <a:prstGeom prst="rect">
            <a:avLst/>
          </a:prstGeom>
          <a:noFill/>
        </p:spPr>
        <p:txBody>
          <a:bodyPr wrap="square" lIns="0" rIns="0" tIns="0" bIns="0" anchor="t">
            <a:spAutoFit/>
          </a:bodyPr>
          <a:lstStyle/>
          <a:p>
            <a:pPr algn="l">
              <a:spcAft>
                <a:spcPts val="600"/>
              </a:spcAft>
            </a:pPr>
            <a:r>
              <a:rPr sz="1500" b="1">
                <a:solidFill>
                  <a:srgbClr val="5FCB7E"/>
                </a:solidFill>
                <a:latin typeface="Arial"/>
              </a:rPr>
              <a:t>Rate</a:t>
            </a:r>
          </a:p>
          <a:p>
            <a:pPr algn="l">
              <a:spcAft>
                <a:spcPts val="300"/>
              </a:spcAft>
            </a:pPr>
            <a:r>
              <a:rPr sz="1400" b="0">
                <a:solidFill>
                  <a:srgbClr val="E9E7E3"/>
                </a:solidFill>
                <a:latin typeface="Arial"/>
              </a:rPr>
              <a:t>15 CPU cycles per pass</a:t>
            </a:r>
          </a:p>
          <a:p>
            <a:pPr algn="l">
              <a:spcAft>
                <a:spcPts val="300"/>
              </a:spcAft>
            </a:pPr>
            <a:r>
              <a:rPr sz="1400" b="0">
                <a:solidFill>
                  <a:srgbClr val="E9E7E3"/>
                </a:solidFill>
                <a:latin typeface="Arial"/>
              </a:rPr>
              <a:t>≈ 68,000 counts a second</a:t>
            </a:r>
          </a:p>
          <a:p>
            <a:pPr algn="l">
              <a:spcAft>
                <a:spcPts val="300"/>
              </a:spcAft>
            </a:pPr>
            <a:r>
              <a:rPr sz="1400" b="0">
                <a:solidFill>
                  <a:srgbClr val="E9E7E3"/>
                </a:solidFill>
                <a:latin typeface="Arial"/>
              </a:rPr>
              <a:t>Wraps ≈ once a second</a:t>
            </a:r>
          </a:p>
        </p:txBody>
      </p:sp>
      <p:sp>
        <p:nvSpPr>
          <p:cNvPr id="11" name="Rectangle 10"/>
          <p:cNvSpPr/>
          <p:nvPr/>
        </p:nvSpPr>
        <p:spPr>
          <a:xfrm>
            <a:off x="8092440" y="3337560"/>
            <a:ext cx="3429000" cy="1389888"/>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0" y="3502152"/>
            <a:ext cx="3063240" cy="1161288"/>
          </a:xfrm>
          <a:prstGeom prst="rect">
            <a:avLst/>
          </a:prstGeom>
          <a:noFill/>
        </p:spPr>
        <p:txBody>
          <a:bodyPr wrap="square" lIns="0" rIns="0" tIns="0" bIns="0" anchor="t">
            <a:spAutoFit/>
          </a:bodyPr>
          <a:lstStyle/>
          <a:p>
            <a:pPr algn="l">
              <a:spcAft>
                <a:spcPts val="600"/>
              </a:spcAft>
            </a:pPr>
            <a:r>
              <a:rPr sz="1500" b="1">
                <a:solidFill>
                  <a:srgbClr val="5FCB7E"/>
                </a:solidFill>
                <a:latin typeface="Arial"/>
              </a:rPr>
              <a:t>Same counter in</a:t>
            </a:r>
          </a:p>
          <a:p>
            <a:pPr algn="l">
              <a:spcAft>
                <a:spcPts val="300"/>
              </a:spcAft>
            </a:pPr>
            <a:r>
              <a:rPr sz="1400" b="0">
                <a:solidFill>
                  <a:srgbClr val="E9E7E3"/>
                </a:solidFill>
                <a:latin typeface="Arial"/>
              </a:rPr>
              <a:t>Autostart F8 ($FD1B)</a:t>
            </a:r>
          </a:p>
          <a:p>
            <a:pPr algn="l">
              <a:spcAft>
                <a:spcPts val="300"/>
              </a:spcAft>
            </a:pPr>
            <a:r>
              <a:rPr sz="1400" b="0">
                <a:solidFill>
                  <a:srgbClr val="E9E7E3"/>
                </a:solidFill>
                <a:latin typeface="Arial"/>
              </a:rPr>
              <a:t>IIe 80-col ($CB15)</a:t>
            </a:r>
          </a:p>
          <a:p>
            <a:pPr algn="l">
              <a:spcAft>
                <a:spcPts val="300"/>
              </a:spcAft>
            </a:pPr>
            <a:r>
              <a:rPr sz="1400" b="0">
                <a:solidFill>
                  <a:srgbClr val="E9E7E3"/>
                </a:solidFill>
                <a:latin typeface="Arial"/>
              </a:rPr>
              <a:t>IIc ($CC71)</a:t>
            </a:r>
          </a:p>
        </p:txBody>
      </p:sp>
      <p:sp>
        <p:nvSpPr>
          <p:cNvPr id="13" name="Rectangle 12"/>
          <p:cNvSpPr/>
          <p:nvPr/>
        </p:nvSpPr>
        <p:spPr>
          <a:xfrm>
            <a:off x="8092440" y="4892040"/>
            <a:ext cx="3429000" cy="841247"/>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21040" y="5056631"/>
            <a:ext cx="3063240" cy="612647"/>
          </a:xfrm>
          <a:prstGeom prst="rect">
            <a:avLst/>
          </a:prstGeom>
          <a:noFill/>
        </p:spPr>
        <p:txBody>
          <a:bodyPr wrap="square" lIns="0" rIns="0" tIns="0" bIns="0" anchor="t">
            <a:spAutoFit/>
          </a:bodyPr>
          <a:lstStyle/>
          <a:p>
            <a:pPr algn="l">
              <a:spcAft>
                <a:spcPts val="600"/>
              </a:spcAft>
            </a:pPr>
            <a:r>
              <a:rPr sz="1500" b="1">
                <a:solidFill>
                  <a:srgbClr val="5FCB7E"/>
                </a:solidFill>
                <a:latin typeface="Arial"/>
              </a:rPr>
              <a:t>Only moves</a:t>
            </a:r>
          </a:p>
          <a:p>
            <a:pPr algn="l">
              <a:spcAft>
                <a:spcPts val="300"/>
              </a:spcAft>
            </a:pPr>
            <a:r>
              <a:rPr sz="1400" b="0">
                <a:solidFill>
                  <a:srgbClr val="E9E7E3"/>
                </a:solidFill>
                <a:latin typeface="Arial"/>
              </a:rPr>
              <a:t>while a KEYIN-style routine waits for a key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7181A"/>
        </a:solidFill>
        <a:effectLst/>
      </p:bgPr>
    </p:bg>
    <p:spTree>
      <p:nvGrpSpPr>
        <p:cNvPr id="1" name=""/>
        <p:cNvGrpSpPr/>
        <p:nvPr/>
      </p:nvGrpSpPr>
      <p:grpSpPr/>
      <p:sp>
        <p:nvSpPr>
          <p:cNvPr id="2" name="Rectangle 1"/>
          <p:cNvSpPr/>
          <p:nvPr/>
        </p:nvSpPr>
        <p:spPr>
          <a:xfrm>
            <a:off x="10927080" y="384048"/>
            <a:ext cx="566928" cy="566928"/>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27080" y="384048"/>
            <a:ext cx="566928" cy="566928"/>
          </a:xfrm>
          <a:prstGeom prst="rect">
            <a:avLst/>
          </a:prstGeom>
          <a:noFill/>
        </p:spPr>
        <p:txBody>
          <a:bodyPr wrap="square" lIns="0" rIns="0" tIns="0" bIns="0" anchor="ctr">
            <a:spAutoFit/>
          </a:bodyPr>
          <a:lstStyle/>
          <a:p>
            <a:pPr algn="ctr">
              <a:spcAft>
                <a:spcPts val="0"/>
              </a:spcAft>
            </a:pPr>
            <a:r>
              <a:rPr sz="1500" b="1">
                <a:solidFill>
                  <a:srgbClr val="5FCB7E"/>
                </a:solidFill>
                <a:latin typeface="Courier New"/>
              </a:rPr>
              <a:t>6</a:t>
            </a:r>
          </a:p>
        </p:txBody>
      </p:sp>
      <p:sp>
        <p:nvSpPr>
          <p:cNvPr id="4" name="TextBox 3"/>
          <p:cNvSpPr txBox="1"/>
          <p:nvPr/>
        </p:nvSpPr>
        <p:spPr>
          <a:xfrm>
            <a:off x="640080" y="411480"/>
            <a:ext cx="10058400" cy="685800"/>
          </a:xfrm>
          <a:prstGeom prst="rect">
            <a:avLst/>
          </a:prstGeom>
          <a:noFill/>
        </p:spPr>
        <p:txBody>
          <a:bodyPr wrap="square" lIns="0" rIns="0" tIns="0" bIns="0" anchor="ctr">
            <a:spAutoFit/>
          </a:bodyPr>
          <a:lstStyle/>
          <a:p>
            <a:pPr algn="l">
              <a:spcAft>
                <a:spcPts val="0"/>
              </a:spcAft>
            </a:pPr>
            <a:r>
              <a:rPr sz="3200" b="1">
                <a:solidFill>
                  <a:srgbClr val="E9E7E3"/>
                </a:solidFill>
                <a:latin typeface="Arial"/>
              </a:rPr>
              <a:t>What the manual promised</a:t>
            </a:r>
          </a:p>
        </p:txBody>
      </p:sp>
      <p:sp>
        <p:nvSpPr>
          <p:cNvPr id="5" name="TextBox 4"/>
          <p:cNvSpPr txBox="1"/>
          <p:nvPr/>
        </p:nvSpPr>
        <p:spPr>
          <a:xfrm>
            <a:off x="640080" y="6309360"/>
            <a:ext cx="10881360" cy="365760"/>
          </a:xfrm>
          <a:prstGeom prst="rect">
            <a:avLst/>
          </a:prstGeom>
          <a:noFill/>
        </p:spPr>
        <p:txBody>
          <a:bodyPr wrap="square" lIns="0" rIns="0" tIns="0" bIns="0" anchor="t">
            <a:spAutoFit/>
          </a:bodyPr>
          <a:lstStyle/>
          <a:p>
            <a:pPr algn="l">
              <a:spcAft>
                <a:spcPts val="0"/>
              </a:spcAft>
            </a:pPr>
            <a:r>
              <a:rPr sz="1050" b="0">
                <a:solidFill>
                  <a:srgbClr val="9DA39B"/>
                </a:solidFill>
                <a:latin typeface="Arial"/>
              </a:rPr>
              <a:t>Applesoft II BASIC Programming Reference Manual, Apple Computer (printing to confirm)</a:t>
            </a:r>
          </a:p>
        </p:txBody>
      </p:sp>
      <p:sp>
        <p:nvSpPr>
          <p:cNvPr id="6" name="TextBox 5"/>
          <p:cNvSpPr txBox="1"/>
          <p:nvPr/>
        </p:nvSpPr>
        <p:spPr>
          <a:xfrm>
            <a:off x="640080" y="1371600"/>
            <a:ext cx="1280160" cy="365760"/>
          </a:xfrm>
          <a:prstGeom prst="rect">
            <a:avLst/>
          </a:prstGeom>
          <a:noFill/>
        </p:spPr>
        <p:txBody>
          <a:bodyPr wrap="square" lIns="0" rIns="0" tIns="0" bIns="0" anchor="t">
            <a:spAutoFit/>
          </a:bodyPr>
          <a:lstStyle/>
          <a:p>
            <a:pPr algn="l">
              <a:spcAft>
                <a:spcPts val="0"/>
              </a:spcAft>
            </a:pPr>
            <a:r>
              <a:rPr sz="1600" b="1">
                <a:solidFill>
                  <a:srgbClr val="5FCB7E"/>
                </a:solidFill>
                <a:latin typeface="Courier New"/>
              </a:rPr>
              <a:t>RND(n)</a:t>
            </a:r>
          </a:p>
        </p:txBody>
      </p:sp>
      <p:sp>
        <p:nvSpPr>
          <p:cNvPr id="7" name="Rectangle 6"/>
          <p:cNvSpPr/>
          <p:nvPr/>
        </p:nvSpPr>
        <p:spPr>
          <a:xfrm>
            <a:off x="1874519" y="1325880"/>
            <a:ext cx="6400800" cy="570275"/>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manual rnd positive"/>
          <p:cNvPicPr>
            <a:picLocks noChangeAspect="1"/>
          </p:cNvPicPr>
          <p:nvPr/>
        </p:nvPicPr>
        <p:blipFill>
          <a:blip r:embed="rId2"/>
          <a:stretch>
            <a:fillRect/>
          </a:stretch>
        </p:blipFill>
        <p:spPr>
          <a:xfrm>
            <a:off x="1920240" y="1371600"/>
            <a:ext cx="6309360" cy="478835"/>
          </a:xfrm>
          <a:prstGeom prst="rect">
            <a:avLst/>
          </a:prstGeom>
        </p:spPr>
      </p:pic>
      <p:sp>
        <p:nvSpPr>
          <p:cNvPr id="9" name="TextBox 8"/>
          <p:cNvSpPr txBox="1"/>
          <p:nvPr/>
        </p:nvSpPr>
        <p:spPr>
          <a:xfrm>
            <a:off x="640080" y="2216195"/>
            <a:ext cx="1280160" cy="365760"/>
          </a:xfrm>
          <a:prstGeom prst="rect">
            <a:avLst/>
          </a:prstGeom>
          <a:noFill/>
        </p:spPr>
        <p:txBody>
          <a:bodyPr wrap="square" lIns="0" rIns="0" tIns="0" bIns="0" anchor="t">
            <a:spAutoFit/>
          </a:bodyPr>
          <a:lstStyle/>
          <a:p>
            <a:pPr algn="l">
              <a:spcAft>
                <a:spcPts val="0"/>
              </a:spcAft>
            </a:pPr>
            <a:r>
              <a:rPr sz="1600" b="1">
                <a:solidFill>
                  <a:srgbClr val="5FCB7E"/>
                </a:solidFill>
                <a:latin typeface="Courier New"/>
              </a:rPr>
              <a:t>RND(−n)</a:t>
            </a:r>
          </a:p>
        </p:txBody>
      </p:sp>
      <p:sp>
        <p:nvSpPr>
          <p:cNvPr id="10" name="Rectangle 9"/>
          <p:cNvSpPr/>
          <p:nvPr/>
        </p:nvSpPr>
        <p:spPr>
          <a:xfrm>
            <a:off x="1874519" y="2170475"/>
            <a:ext cx="6400800" cy="1631626"/>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manual rnd negative"/>
          <p:cNvPicPr>
            <a:picLocks noChangeAspect="1"/>
          </p:cNvPicPr>
          <p:nvPr/>
        </p:nvPicPr>
        <p:blipFill>
          <a:blip r:embed="rId3"/>
          <a:stretch>
            <a:fillRect/>
          </a:stretch>
        </p:blipFill>
        <p:spPr>
          <a:xfrm>
            <a:off x="1920240" y="2216195"/>
            <a:ext cx="6309360" cy="1540186"/>
          </a:xfrm>
          <a:prstGeom prst="rect">
            <a:avLst/>
          </a:prstGeom>
        </p:spPr>
      </p:pic>
      <p:sp>
        <p:nvSpPr>
          <p:cNvPr id="12" name="TextBox 11"/>
          <p:cNvSpPr txBox="1"/>
          <p:nvPr/>
        </p:nvSpPr>
        <p:spPr>
          <a:xfrm>
            <a:off x="640080" y="4122141"/>
            <a:ext cx="1280160" cy="365760"/>
          </a:xfrm>
          <a:prstGeom prst="rect">
            <a:avLst/>
          </a:prstGeom>
          <a:noFill/>
        </p:spPr>
        <p:txBody>
          <a:bodyPr wrap="square" lIns="0" rIns="0" tIns="0" bIns="0" anchor="t">
            <a:spAutoFit/>
          </a:bodyPr>
          <a:lstStyle/>
          <a:p>
            <a:pPr algn="l">
              <a:spcAft>
                <a:spcPts val="0"/>
              </a:spcAft>
            </a:pPr>
            <a:r>
              <a:rPr sz="1600" b="1">
                <a:solidFill>
                  <a:srgbClr val="5FCB7E"/>
                </a:solidFill>
                <a:latin typeface="Courier New"/>
              </a:rPr>
              <a:t>RND(0)</a:t>
            </a:r>
          </a:p>
        </p:txBody>
      </p:sp>
      <p:sp>
        <p:nvSpPr>
          <p:cNvPr id="13" name="Rectangle 12"/>
          <p:cNvSpPr/>
          <p:nvPr/>
        </p:nvSpPr>
        <p:spPr>
          <a:xfrm>
            <a:off x="1874519" y="4076421"/>
            <a:ext cx="6400800" cy="855412"/>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manual rnd zero"/>
          <p:cNvPicPr>
            <a:picLocks noChangeAspect="1"/>
          </p:cNvPicPr>
          <p:nvPr/>
        </p:nvPicPr>
        <p:blipFill>
          <a:blip r:embed="rId4"/>
          <a:stretch>
            <a:fillRect/>
          </a:stretch>
        </p:blipFill>
        <p:spPr>
          <a:xfrm>
            <a:off x="1920240" y="4122141"/>
            <a:ext cx="6309360" cy="763972"/>
          </a:xfrm>
          <a:prstGeom prst="rect">
            <a:avLst/>
          </a:prstGeom>
        </p:spPr>
      </p:pic>
      <p:pic>
        <p:nvPicPr>
          <p:cNvPr id="15" name="Picture 14" descr="screen 973136996"/>
          <p:cNvPicPr>
            <a:picLocks noChangeAspect="1"/>
          </p:cNvPicPr>
          <p:nvPr/>
        </p:nvPicPr>
        <p:blipFill>
          <a:blip r:embed="rId5"/>
          <a:stretch>
            <a:fillRect/>
          </a:stretch>
        </p:blipFill>
        <p:spPr>
          <a:xfrm>
            <a:off x="8549640" y="1417320"/>
            <a:ext cx="3017519" cy="483821"/>
          </a:xfrm>
          <a:prstGeom prst="rect">
            <a:avLst/>
          </a:prstGeom>
        </p:spPr>
      </p:pic>
      <p:sp>
        <p:nvSpPr>
          <p:cNvPr id="16" name="TextBox 15"/>
          <p:cNvSpPr txBox="1"/>
          <p:nvPr/>
        </p:nvSpPr>
        <p:spPr>
          <a:xfrm>
            <a:off x="8549640" y="2020013"/>
            <a:ext cx="3108960" cy="365760"/>
          </a:xfrm>
          <a:prstGeom prst="rect">
            <a:avLst/>
          </a:prstGeom>
          <a:noFill/>
        </p:spPr>
        <p:txBody>
          <a:bodyPr wrap="square" lIns="0" rIns="0" tIns="0" bIns="0" anchor="t">
            <a:spAutoFit/>
          </a:bodyPr>
          <a:lstStyle/>
          <a:p>
            <a:pPr algn="l">
              <a:spcAft>
                <a:spcPts val="0"/>
              </a:spcAft>
            </a:pPr>
            <a:r>
              <a:rPr sz="1400" b="0">
                <a:solidFill>
                  <a:srgbClr val="5FCB7E"/>
                </a:solidFill>
                <a:latin typeface="Arial"/>
              </a:rPr>
              <a:t>…starting here, every power-on.</a:t>
            </a:r>
          </a:p>
        </p:txBody>
      </p:sp>
      <p:sp>
        <p:nvSpPr>
          <p:cNvPr id="17" name="Rectangle 16"/>
          <p:cNvSpPr/>
          <p:nvPr/>
        </p:nvSpPr>
        <p:spPr>
          <a:xfrm>
            <a:off x="8549640" y="2834640"/>
            <a:ext cx="2971800" cy="2103120"/>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549640" y="2834640"/>
            <a:ext cx="64008" cy="2103120"/>
          </a:xfrm>
          <a:prstGeom prst="rect">
            <a:avLst/>
          </a:prstGeom>
          <a:solidFill>
            <a:srgbClr val="E0A7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78240" y="2834640"/>
            <a:ext cx="2651760" cy="2103120"/>
          </a:xfrm>
          <a:prstGeom prst="rect">
            <a:avLst/>
          </a:prstGeom>
          <a:noFill/>
        </p:spPr>
        <p:txBody>
          <a:bodyPr wrap="square" lIns="0" rIns="0" tIns="0" bIns="0" anchor="ctr">
            <a:spAutoFit/>
          </a:bodyPr>
          <a:lstStyle/>
          <a:p>
            <a:pPr algn="l">
              <a:spcAft>
                <a:spcPts val="1200"/>
              </a:spcAft>
            </a:pPr>
            <a:r>
              <a:rPr sz="1800" b="1">
                <a:solidFill>
                  <a:srgbClr val="E9E7E3"/>
                </a:solidFill>
                <a:latin typeface="Arial"/>
              </a:rPr>
              <a:t>Repeatable on purpose: documented.</a:t>
            </a:r>
          </a:p>
          <a:p>
            <a:pPr algn="l">
              <a:spcAft>
                <a:spcPts val="1200"/>
              </a:spcAft>
            </a:pPr>
            <a:r>
              <a:rPr sz="1800" b="1">
                <a:solidFill>
                  <a:srgbClr val="E9E7E3"/>
                </a:solidFill>
                <a:latin typeface="Arial"/>
              </a:rPr>
              <a:t>Repeatable by accident: not.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7181A"/>
        </a:solidFill>
        <a:effectLst/>
      </p:bgPr>
    </p:bg>
    <p:spTree>
      <p:nvGrpSpPr>
        <p:cNvPr id="1" name=""/>
        <p:cNvGrpSpPr/>
        <p:nvPr/>
      </p:nvGrpSpPr>
      <p:grpSpPr/>
      <p:sp>
        <p:nvSpPr>
          <p:cNvPr id="2" name="Rectangle 1"/>
          <p:cNvSpPr/>
          <p:nvPr/>
        </p:nvSpPr>
        <p:spPr>
          <a:xfrm>
            <a:off x="10927080" y="384048"/>
            <a:ext cx="566928" cy="566928"/>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27080" y="384048"/>
            <a:ext cx="566928" cy="566928"/>
          </a:xfrm>
          <a:prstGeom prst="rect">
            <a:avLst/>
          </a:prstGeom>
          <a:noFill/>
        </p:spPr>
        <p:txBody>
          <a:bodyPr wrap="square" lIns="0" rIns="0" tIns="0" bIns="0" anchor="ctr">
            <a:spAutoFit/>
          </a:bodyPr>
          <a:lstStyle/>
          <a:p>
            <a:pPr algn="ctr">
              <a:spcAft>
                <a:spcPts val="0"/>
              </a:spcAft>
            </a:pPr>
            <a:r>
              <a:rPr sz="1500" b="1">
                <a:solidFill>
                  <a:srgbClr val="5FCB7E"/>
                </a:solidFill>
                <a:latin typeface="Courier New"/>
              </a:rPr>
              <a:t>7</a:t>
            </a:r>
          </a:p>
        </p:txBody>
      </p:sp>
      <p:sp>
        <p:nvSpPr>
          <p:cNvPr id="4" name="TextBox 3"/>
          <p:cNvSpPr txBox="1"/>
          <p:nvPr/>
        </p:nvSpPr>
        <p:spPr>
          <a:xfrm>
            <a:off x="640080" y="411480"/>
            <a:ext cx="10058400" cy="685800"/>
          </a:xfrm>
          <a:prstGeom prst="rect">
            <a:avLst/>
          </a:prstGeom>
          <a:noFill/>
        </p:spPr>
        <p:txBody>
          <a:bodyPr wrap="square" lIns="0" rIns="0" tIns="0" bIns="0" anchor="ctr">
            <a:spAutoFit/>
          </a:bodyPr>
          <a:lstStyle/>
          <a:p>
            <a:pPr algn="l">
              <a:spcAft>
                <a:spcPts val="0"/>
              </a:spcAft>
            </a:pPr>
            <a:r>
              <a:rPr sz="3200" b="1">
                <a:solidFill>
                  <a:srgbClr val="E9E7E3"/>
                </a:solidFill>
                <a:latin typeface="Arial"/>
              </a:rPr>
              <a:t>Applesoft II: Microsoft's RND</a:t>
            </a:r>
          </a:p>
        </p:txBody>
      </p:sp>
      <p:sp>
        <p:nvSpPr>
          <p:cNvPr id="5" name="TextBox 4"/>
          <p:cNvSpPr txBox="1"/>
          <p:nvPr/>
        </p:nvSpPr>
        <p:spPr>
          <a:xfrm>
            <a:off x="640080" y="1143000"/>
            <a:ext cx="10241280" cy="457200"/>
          </a:xfrm>
          <a:prstGeom prst="rect">
            <a:avLst/>
          </a:prstGeom>
          <a:noFill/>
        </p:spPr>
        <p:txBody>
          <a:bodyPr wrap="square" lIns="0" rIns="0" tIns="0" bIns="0" anchor="t">
            <a:spAutoFit/>
          </a:bodyPr>
          <a:lstStyle/>
          <a:p>
            <a:pPr algn="l">
              <a:spcAft>
                <a:spcPts val="0"/>
              </a:spcAft>
            </a:pPr>
            <a:r>
              <a:rPr sz="1800" b="0">
                <a:solidFill>
                  <a:srgbClr val="9DA39B"/>
                </a:solidFill>
                <a:latin typeface="Arial"/>
              </a:rPr>
              <a:t>Microsoft wrote it. Apple shipped it unchanged through the enhanced IIe.</a:t>
            </a:r>
          </a:p>
        </p:txBody>
      </p:sp>
      <p:sp>
        <p:nvSpPr>
          <p:cNvPr id="6" name="TextBox 5"/>
          <p:cNvSpPr txBox="1"/>
          <p:nvPr/>
        </p:nvSpPr>
        <p:spPr>
          <a:xfrm>
            <a:off x="640080" y="6309360"/>
            <a:ext cx="10881360" cy="365760"/>
          </a:xfrm>
          <a:prstGeom prst="rect">
            <a:avLst/>
          </a:prstGeom>
          <a:noFill/>
        </p:spPr>
        <p:txBody>
          <a:bodyPr wrap="square" lIns="0" rIns="0" tIns="0" bIns="0" anchor="t">
            <a:spAutoFit/>
          </a:bodyPr>
          <a:lstStyle/>
          <a:p>
            <a:pPr algn="l">
              <a:spcAft>
                <a:spcPts val="0"/>
              </a:spcAft>
            </a:pPr>
            <a:r>
              <a:rPr sz="1050" b="0">
                <a:solidFill>
                  <a:srgbClr val="9DA39B"/>
                </a:solidFill>
                <a:latin typeface="Arial"/>
              </a:rPr>
              <a:t>Microsoft BASIC M6502 v1.1 source, github.com/microsoft/BASIC-M6502; 6502disassembly.com/a2-rom/Applesoft.html</a:t>
            </a:r>
          </a:p>
        </p:txBody>
      </p:sp>
      <p:pic>
        <p:nvPicPr>
          <p:cNvPr id="7" name="Picture 6" descr="applesoft rnd efae"/>
          <p:cNvPicPr>
            <a:picLocks noChangeAspect="1"/>
          </p:cNvPicPr>
          <p:nvPr/>
        </p:nvPicPr>
        <p:blipFill>
          <a:blip r:embed="rId2"/>
          <a:stretch>
            <a:fillRect/>
          </a:stretch>
        </p:blipFill>
        <p:spPr>
          <a:xfrm>
            <a:off x="640080" y="1783080"/>
            <a:ext cx="7223760" cy="3902319"/>
          </a:xfrm>
          <a:prstGeom prst="rect">
            <a:avLst/>
          </a:prstGeom>
        </p:spPr>
      </p:pic>
      <p:sp>
        <p:nvSpPr>
          <p:cNvPr id="8" name="TextBox 7"/>
          <p:cNvSpPr txBox="1"/>
          <p:nvPr/>
        </p:nvSpPr>
        <p:spPr>
          <a:xfrm>
            <a:off x="640080" y="5795127"/>
            <a:ext cx="7223760" cy="457200"/>
          </a:xfrm>
          <a:prstGeom prst="rect">
            <a:avLst/>
          </a:prstGeom>
          <a:noFill/>
        </p:spPr>
        <p:txBody>
          <a:bodyPr wrap="square" lIns="0" rIns="0" tIns="0" bIns="0" anchor="t">
            <a:spAutoFit/>
          </a:bodyPr>
          <a:lstStyle/>
          <a:p>
            <a:pPr algn="l">
              <a:spcAft>
                <a:spcPts val="0"/>
              </a:spcAft>
            </a:pPr>
            <a:r>
              <a:rPr sz="1100" b="0">
                <a:solidFill>
                  <a:srgbClr val="9DA39B"/>
                </a:solidFill>
                <a:latin typeface="Arial"/>
              </a:rPr>
              <a:t>II Plus ROM. Comments: Bob Sander-Cederlof (S-C DocuMentor), via Andy McFadden. Not Microsoft’s.</a:t>
            </a:r>
          </a:p>
        </p:txBody>
      </p:sp>
      <p:sp>
        <p:nvSpPr>
          <p:cNvPr id="9" name="Rectangle 8"/>
          <p:cNvSpPr/>
          <p:nvPr/>
        </p:nvSpPr>
        <p:spPr>
          <a:xfrm>
            <a:off x="8092440" y="1783080"/>
            <a:ext cx="3429000" cy="1115568"/>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0" y="1947672"/>
            <a:ext cx="3063240" cy="886968"/>
          </a:xfrm>
          <a:prstGeom prst="rect">
            <a:avLst/>
          </a:prstGeom>
          <a:noFill/>
        </p:spPr>
        <p:txBody>
          <a:bodyPr wrap="square" lIns="0" rIns="0" tIns="0" bIns="0" anchor="t">
            <a:spAutoFit/>
          </a:bodyPr>
          <a:lstStyle/>
          <a:p>
            <a:pPr algn="l">
              <a:spcAft>
                <a:spcPts val="600"/>
              </a:spcAft>
            </a:pPr>
            <a:r>
              <a:rPr sz="1500" b="1">
                <a:solidFill>
                  <a:srgbClr val="5FCB7E"/>
                </a:solidFill>
                <a:latin typeface="Arial"/>
              </a:rPr>
              <a:t>Seed at $C9</a:t>
            </a:r>
          </a:p>
          <a:p>
            <a:pPr algn="l">
              <a:spcAft>
                <a:spcPts val="300"/>
              </a:spcAft>
            </a:pPr>
            <a:r>
              <a:rPr sz="1400" b="0">
                <a:solidFill>
                  <a:srgbClr val="E9E7E3"/>
                </a:solidFill>
                <a:latin typeface="Arial"/>
              </a:rPr>
              <a:t>Filled from ROM at power-on.</a:t>
            </a:r>
          </a:p>
          <a:p>
            <a:pPr algn="l">
              <a:spcAft>
                <a:spcPts val="300"/>
              </a:spcAft>
            </a:pPr>
            <a:r>
              <a:rPr sz="1400" b="0">
                <a:solidFill>
                  <a:srgbClr val="E9E7E3"/>
                </a:solidFill>
                <a:latin typeface="Arial"/>
              </a:rPr>
              <a:t>Nothing outside RND touches it.</a:t>
            </a:r>
          </a:p>
        </p:txBody>
      </p:sp>
      <p:sp>
        <p:nvSpPr>
          <p:cNvPr id="11" name="Rectangle 10"/>
          <p:cNvSpPr/>
          <p:nvPr/>
        </p:nvSpPr>
        <p:spPr>
          <a:xfrm>
            <a:off x="8092440" y="3063239"/>
            <a:ext cx="3429000" cy="1115568"/>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0" y="3227832"/>
            <a:ext cx="3063240" cy="886968"/>
          </a:xfrm>
          <a:prstGeom prst="rect">
            <a:avLst/>
          </a:prstGeom>
          <a:noFill/>
        </p:spPr>
        <p:txBody>
          <a:bodyPr wrap="square" lIns="0" rIns="0" tIns="0" bIns="0" anchor="t">
            <a:spAutoFit/>
          </a:bodyPr>
          <a:lstStyle/>
          <a:p>
            <a:pPr algn="l">
              <a:spcAft>
                <a:spcPts val="600"/>
              </a:spcAft>
            </a:pPr>
            <a:r>
              <a:rPr sz="1500" b="1">
                <a:solidFill>
                  <a:srgbClr val="E0A73E"/>
                </a:solidFill>
                <a:latin typeface="Arial"/>
              </a:rPr>
              <a:t>$4E/$4F</a:t>
            </a:r>
          </a:p>
          <a:p>
            <a:pPr algn="l">
              <a:spcAft>
                <a:spcPts val="300"/>
              </a:spcAft>
            </a:pPr>
            <a:r>
              <a:rPr sz="1400" b="0">
                <a:solidFill>
                  <a:srgbClr val="E9E7E3"/>
                </a:solidFill>
                <a:latin typeface="Arial"/>
              </a:rPr>
              <a:t>Still counts.</a:t>
            </a:r>
          </a:p>
          <a:p>
            <a:pPr algn="l">
              <a:spcAft>
                <a:spcPts val="300"/>
              </a:spcAft>
            </a:pPr>
            <a:r>
              <a:rPr sz="1400" b="0">
                <a:solidFill>
                  <a:srgbClr val="E9E7E3"/>
                </a:solidFill>
                <a:latin typeface="Arial"/>
              </a:rPr>
              <a:t>Applesoft never reads 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7181A"/>
        </a:solidFill>
        <a:effectLst/>
      </p:bgPr>
    </p:bg>
    <p:spTree>
      <p:nvGrpSpPr>
        <p:cNvPr id="1" name=""/>
        <p:cNvGrpSpPr/>
        <p:nvPr/>
      </p:nvGrpSpPr>
      <p:grpSpPr/>
      <p:sp>
        <p:nvSpPr>
          <p:cNvPr id="2" name="Rectangle 1"/>
          <p:cNvSpPr/>
          <p:nvPr/>
        </p:nvSpPr>
        <p:spPr>
          <a:xfrm>
            <a:off x="10927080" y="384048"/>
            <a:ext cx="566928" cy="566928"/>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27080" y="384048"/>
            <a:ext cx="566928" cy="566928"/>
          </a:xfrm>
          <a:prstGeom prst="rect">
            <a:avLst/>
          </a:prstGeom>
          <a:noFill/>
        </p:spPr>
        <p:txBody>
          <a:bodyPr wrap="square" lIns="0" rIns="0" tIns="0" bIns="0" anchor="ctr">
            <a:spAutoFit/>
          </a:bodyPr>
          <a:lstStyle/>
          <a:p>
            <a:pPr algn="ctr">
              <a:spcAft>
                <a:spcPts val="0"/>
              </a:spcAft>
            </a:pPr>
            <a:r>
              <a:rPr sz="1500" b="1">
                <a:solidFill>
                  <a:srgbClr val="5FCB7E"/>
                </a:solidFill>
                <a:latin typeface="Courier New"/>
              </a:rPr>
              <a:t>8</a:t>
            </a:r>
          </a:p>
        </p:txBody>
      </p:sp>
      <p:sp>
        <p:nvSpPr>
          <p:cNvPr id="4" name="TextBox 3"/>
          <p:cNvSpPr txBox="1"/>
          <p:nvPr/>
        </p:nvSpPr>
        <p:spPr>
          <a:xfrm>
            <a:off x="640080" y="411480"/>
            <a:ext cx="10058400" cy="685800"/>
          </a:xfrm>
          <a:prstGeom prst="rect">
            <a:avLst/>
          </a:prstGeom>
          <a:noFill/>
        </p:spPr>
        <p:txBody>
          <a:bodyPr wrap="square" lIns="0" rIns="0" tIns="0" bIns="0" anchor="ctr">
            <a:spAutoFit/>
          </a:bodyPr>
          <a:lstStyle/>
          <a:p>
            <a:pPr algn="l">
              <a:spcAft>
                <a:spcPts val="0"/>
              </a:spcAft>
            </a:pPr>
            <a:r>
              <a:rPr sz="3200" b="1">
                <a:solidFill>
                  <a:srgbClr val="E9E7E3"/>
                </a:solidFill>
                <a:latin typeface="Arial"/>
              </a:rPr>
              <a:t>One byte short</a:t>
            </a:r>
          </a:p>
        </p:txBody>
      </p:sp>
      <p:sp>
        <p:nvSpPr>
          <p:cNvPr id="5" name="TextBox 4"/>
          <p:cNvSpPr txBox="1"/>
          <p:nvPr/>
        </p:nvSpPr>
        <p:spPr>
          <a:xfrm>
            <a:off x="640080" y="1143000"/>
            <a:ext cx="10241280" cy="457200"/>
          </a:xfrm>
          <a:prstGeom prst="rect">
            <a:avLst/>
          </a:prstGeom>
          <a:noFill/>
        </p:spPr>
        <p:txBody>
          <a:bodyPr wrap="square" lIns="0" rIns="0" tIns="0" bIns="0" anchor="t">
            <a:spAutoFit/>
          </a:bodyPr>
          <a:lstStyle/>
          <a:p>
            <a:pPr algn="l">
              <a:spcAft>
                <a:spcPts val="0"/>
              </a:spcAft>
            </a:pPr>
            <a:r>
              <a:rPr sz="1800" b="0">
                <a:solidFill>
                  <a:srgbClr val="9DA39B"/>
                </a:solidFill>
                <a:latin typeface="Arial"/>
              </a:rPr>
              <a:t>Cold start copies 4 of the 5 seed bytes. The fifth, $CD, is whatever RAM held.</a:t>
            </a:r>
          </a:p>
        </p:txBody>
      </p:sp>
      <p:sp>
        <p:nvSpPr>
          <p:cNvPr id="6" name="TextBox 5"/>
          <p:cNvSpPr txBox="1"/>
          <p:nvPr/>
        </p:nvSpPr>
        <p:spPr>
          <a:xfrm>
            <a:off x="640080" y="6309360"/>
            <a:ext cx="10881360" cy="365760"/>
          </a:xfrm>
          <a:prstGeom prst="rect">
            <a:avLst/>
          </a:prstGeom>
          <a:noFill/>
        </p:spPr>
        <p:txBody>
          <a:bodyPr wrap="square" lIns="0" rIns="0" tIns="0" bIns="0" anchor="t">
            <a:spAutoFit/>
          </a:bodyPr>
          <a:lstStyle/>
          <a:p>
            <a:pPr algn="l">
              <a:spcAft>
                <a:spcPts val="0"/>
              </a:spcAft>
            </a:pPr>
            <a:r>
              <a:rPr sz="1050" b="0">
                <a:solidFill>
                  <a:srgbClr val="9DA39B"/>
                </a:solidFill>
                <a:latin typeface="Arial"/>
              </a:rPr>
              <a:t>II Plus ROM bytes; S-C DocuMentor; Sander-Cederlof, AAL May 1984; values from running the ROM code</a:t>
            </a:r>
          </a:p>
        </p:txBody>
      </p:sp>
      <p:sp>
        <p:nvSpPr>
          <p:cNvPr id="7" name="Rectangle 6"/>
          <p:cNvSpPr/>
          <p:nvPr/>
        </p:nvSpPr>
        <p:spPr>
          <a:xfrm>
            <a:off x="640080" y="1783080"/>
            <a:ext cx="5852160" cy="3063240"/>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011680"/>
            <a:ext cx="5486400" cy="2743200"/>
          </a:xfrm>
          <a:prstGeom prst="rect">
            <a:avLst/>
          </a:prstGeom>
          <a:noFill/>
        </p:spPr>
        <p:txBody>
          <a:bodyPr wrap="square" lIns="0" rIns="0" tIns="0" bIns="0" anchor="t">
            <a:spAutoFit/>
          </a:bodyPr>
          <a:lstStyle/>
          <a:p>
            <a:pPr algn="l">
              <a:spcAft>
                <a:spcPts val="200"/>
              </a:spcAft>
            </a:pPr>
            <a:r>
              <a:rPr sz="1500" b="0">
                <a:solidFill>
                  <a:srgbClr val="E9E7E3"/>
                </a:solidFill>
                <a:latin typeface="Courier New"/>
              </a:rPr>
              <a:t>F123: 80 4F C7 52 58   seed table</a:t>
            </a:r>
          </a:p>
          <a:p>
            <a:pPr algn="l">
              <a:spcAft>
                <a:spcPts val="200"/>
              </a:spcAft>
            </a:pPr>
            <a:r>
              <a:rPr sz="1500" b="0">
                <a:solidFill>
                  <a:srgbClr val="E9E7E3"/>
                </a:solidFill>
                <a:latin typeface="Courier New"/>
              </a:rPr>
              <a:t> </a:t>
            </a:r>
          </a:p>
          <a:p>
            <a:pPr algn="l">
              <a:spcAft>
                <a:spcPts val="200"/>
              </a:spcAft>
            </a:pPr>
            <a:r>
              <a:rPr sz="1500" b="0">
                <a:solidFill>
                  <a:srgbClr val="5FCB7E"/>
                </a:solidFill>
                <a:latin typeface="Courier New"/>
              </a:rPr>
              <a:t>F150: A2 1C      LDX #$1C     ; one short</a:t>
            </a:r>
          </a:p>
          <a:p>
            <a:pPr algn="l">
              <a:spcAft>
                <a:spcPts val="200"/>
              </a:spcAft>
            </a:pPr>
            <a:r>
              <a:rPr sz="1500" b="0">
                <a:solidFill>
                  <a:srgbClr val="E9E7E3"/>
                </a:solidFill>
                <a:latin typeface="Courier New"/>
              </a:rPr>
              <a:t>F152: BD 0A F1   LDA $F10A,X</a:t>
            </a:r>
          </a:p>
          <a:p>
            <a:pPr algn="l">
              <a:spcAft>
                <a:spcPts val="200"/>
              </a:spcAft>
            </a:pPr>
            <a:r>
              <a:rPr sz="1500" b="0">
                <a:solidFill>
                  <a:srgbClr val="E9E7E3"/>
                </a:solidFill>
                <a:latin typeface="Courier New"/>
              </a:rPr>
              <a:t>F155: 95 B0      STA $B0,X</a:t>
            </a:r>
          </a:p>
          <a:p>
            <a:pPr algn="l">
              <a:spcAft>
                <a:spcPts val="200"/>
              </a:spcAft>
            </a:pPr>
            <a:r>
              <a:rPr sz="1500" b="0">
                <a:solidFill>
                  <a:srgbClr val="E9E7E3"/>
                </a:solidFill>
                <a:latin typeface="Courier New"/>
              </a:rPr>
              <a:t>F157: 86 F1      STX SPEEDZ   ; Apple’s</a:t>
            </a:r>
          </a:p>
          <a:p>
            <a:pPr algn="l">
              <a:spcAft>
                <a:spcPts val="200"/>
              </a:spcAft>
            </a:pPr>
            <a:r>
              <a:rPr sz="1500" b="0">
                <a:solidFill>
                  <a:srgbClr val="E9E7E3"/>
                </a:solidFill>
                <a:latin typeface="Courier New"/>
              </a:rPr>
              <a:t>F159: CA         DEX</a:t>
            </a:r>
          </a:p>
          <a:p>
            <a:pPr algn="l">
              <a:spcAft>
                <a:spcPts val="200"/>
              </a:spcAft>
            </a:pPr>
            <a:r>
              <a:rPr sz="1500" b="0">
                <a:solidFill>
                  <a:srgbClr val="E9E7E3"/>
                </a:solidFill>
                <a:latin typeface="Courier New"/>
              </a:rPr>
              <a:t>F15A: D0 F6      BNE $F152</a:t>
            </a:r>
          </a:p>
        </p:txBody>
      </p:sp>
      <p:sp>
        <p:nvSpPr>
          <p:cNvPr id="9" name="TextBox 8"/>
          <p:cNvSpPr txBox="1"/>
          <p:nvPr/>
        </p:nvSpPr>
        <p:spPr>
          <a:xfrm>
            <a:off x="6858000" y="1783080"/>
            <a:ext cx="2313432" cy="384048"/>
          </a:xfrm>
          <a:prstGeom prst="rect">
            <a:avLst/>
          </a:prstGeom>
          <a:noFill/>
        </p:spPr>
        <p:txBody>
          <a:bodyPr wrap="square" lIns="0" rIns="0" tIns="0" bIns="0" anchor="ctr">
            <a:spAutoFit/>
          </a:bodyPr>
          <a:lstStyle/>
          <a:p>
            <a:pPr algn="l">
              <a:spcAft>
                <a:spcPts val="0"/>
              </a:spcAft>
            </a:pPr>
            <a:r>
              <a:rPr sz="1300" b="1">
                <a:solidFill>
                  <a:srgbClr val="9DA39B"/>
                </a:solidFill>
                <a:latin typeface="Arial"/>
              </a:rPr>
              <a:t>$CD at power-on</a:t>
            </a:r>
          </a:p>
        </p:txBody>
      </p:sp>
      <p:sp>
        <p:nvSpPr>
          <p:cNvPr id="10" name="TextBox 9"/>
          <p:cNvSpPr txBox="1"/>
          <p:nvPr/>
        </p:nvSpPr>
        <p:spPr>
          <a:xfrm>
            <a:off x="9354312" y="1783080"/>
            <a:ext cx="2121408" cy="384048"/>
          </a:xfrm>
          <a:prstGeom prst="rect">
            <a:avLst/>
          </a:prstGeom>
          <a:noFill/>
        </p:spPr>
        <p:txBody>
          <a:bodyPr wrap="square" lIns="0" rIns="0" tIns="0" bIns="0" anchor="ctr">
            <a:spAutoFit/>
          </a:bodyPr>
          <a:lstStyle/>
          <a:p>
            <a:pPr algn="l">
              <a:spcAft>
                <a:spcPts val="0"/>
              </a:spcAft>
            </a:pPr>
            <a:r>
              <a:rPr sz="1300" b="1">
                <a:solidFill>
                  <a:srgbClr val="9DA39B"/>
                </a:solidFill>
                <a:latin typeface="Arial"/>
              </a:rPr>
              <a:t>First RND(1)</a:t>
            </a:r>
          </a:p>
        </p:txBody>
      </p:sp>
      <p:sp>
        <p:nvSpPr>
          <p:cNvPr id="11" name="Rectangle 10"/>
          <p:cNvSpPr/>
          <p:nvPr/>
        </p:nvSpPr>
        <p:spPr>
          <a:xfrm>
            <a:off x="6720840" y="2194560"/>
            <a:ext cx="4800600" cy="13716"/>
          </a:xfrm>
          <a:prstGeom prst="rect">
            <a:avLst/>
          </a:prstGeom>
          <a:solidFill>
            <a:srgbClr val="3A3E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720840" y="2286000"/>
            <a:ext cx="4800600" cy="548640"/>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720840" y="2286000"/>
            <a:ext cx="64008" cy="548640"/>
          </a:xfrm>
          <a:prstGeom prst="rect">
            <a:avLst/>
          </a:prstGeom>
          <a:solidFill>
            <a:srgbClr val="E0A7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85431" y="2286000"/>
            <a:ext cx="2267712" cy="548640"/>
          </a:xfrm>
          <a:prstGeom prst="rect">
            <a:avLst/>
          </a:prstGeom>
          <a:noFill/>
        </p:spPr>
        <p:txBody>
          <a:bodyPr wrap="square" lIns="0" rIns="0" tIns="0" bIns="0" anchor="ctr">
            <a:spAutoFit/>
          </a:bodyPr>
          <a:lstStyle/>
          <a:p>
            <a:pPr algn="l">
              <a:spcAft>
                <a:spcPts val="0"/>
              </a:spcAft>
            </a:pPr>
            <a:r>
              <a:rPr sz="1600" b="1">
                <a:solidFill>
                  <a:srgbClr val="5FCB7E"/>
                </a:solidFill>
                <a:latin typeface="Arial"/>
              </a:rPr>
              <a:t>$FE or $FF</a:t>
            </a:r>
          </a:p>
        </p:txBody>
      </p:sp>
      <p:sp>
        <p:nvSpPr>
          <p:cNvPr id="15" name="TextBox 14"/>
          <p:cNvSpPr txBox="1"/>
          <p:nvPr/>
        </p:nvSpPr>
        <p:spPr>
          <a:xfrm>
            <a:off x="9381744" y="2286000"/>
            <a:ext cx="2075688" cy="548640"/>
          </a:xfrm>
          <a:prstGeom prst="rect">
            <a:avLst/>
          </a:prstGeom>
          <a:noFill/>
        </p:spPr>
        <p:txBody>
          <a:bodyPr wrap="square" lIns="0" rIns="0" tIns="0" bIns="0" anchor="ctr">
            <a:spAutoFit/>
          </a:bodyPr>
          <a:lstStyle/>
          <a:p>
            <a:pPr algn="l">
              <a:spcAft>
                <a:spcPts val="0"/>
              </a:spcAft>
            </a:pPr>
            <a:r>
              <a:rPr sz="1500" b="1">
                <a:solidFill>
                  <a:srgbClr val="E0A73E"/>
                </a:solidFill>
                <a:latin typeface="Courier New"/>
              </a:rPr>
              <a:t>.973136996</a:t>
            </a:r>
          </a:p>
        </p:txBody>
      </p:sp>
      <p:sp>
        <p:nvSpPr>
          <p:cNvPr id="16" name="Rectangle 15"/>
          <p:cNvSpPr/>
          <p:nvPr/>
        </p:nvSpPr>
        <p:spPr>
          <a:xfrm>
            <a:off x="6720840" y="2889504"/>
            <a:ext cx="4800600" cy="548640"/>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85431" y="2889504"/>
            <a:ext cx="2267712" cy="548640"/>
          </a:xfrm>
          <a:prstGeom prst="rect">
            <a:avLst/>
          </a:prstGeom>
          <a:noFill/>
        </p:spPr>
        <p:txBody>
          <a:bodyPr wrap="square" lIns="0" rIns="0" tIns="0" bIns="0" anchor="ctr">
            <a:spAutoFit/>
          </a:bodyPr>
          <a:lstStyle/>
          <a:p>
            <a:pPr algn="l">
              <a:spcAft>
                <a:spcPts val="0"/>
              </a:spcAft>
            </a:pPr>
            <a:r>
              <a:rPr sz="1600" b="1">
                <a:solidFill>
                  <a:srgbClr val="5FCB7E"/>
                </a:solidFill>
                <a:latin typeface="Arial"/>
              </a:rPr>
              <a:t>$00</a:t>
            </a:r>
          </a:p>
        </p:txBody>
      </p:sp>
      <p:sp>
        <p:nvSpPr>
          <p:cNvPr id="18" name="TextBox 17"/>
          <p:cNvSpPr txBox="1"/>
          <p:nvPr/>
        </p:nvSpPr>
        <p:spPr>
          <a:xfrm>
            <a:off x="9381744" y="2889504"/>
            <a:ext cx="2075688" cy="548640"/>
          </a:xfrm>
          <a:prstGeom prst="rect">
            <a:avLst/>
          </a:prstGeom>
          <a:noFill/>
        </p:spPr>
        <p:txBody>
          <a:bodyPr wrap="square" lIns="0" rIns="0" tIns="0" bIns="0" anchor="ctr">
            <a:spAutoFit/>
          </a:bodyPr>
          <a:lstStyle/>
          <a:p>
            <a:pPr algn="l">
              <a:spcAft>
                <a:spcPts val="0"/>
              </a:spcAft>
            </a:pPr>
            <a:r>
              <a:rPr sz="1500" b="0">
                <a:solidFill>
                  <a:srgbClr val="E9E7E3"/>
                </a:solidFill>
                <a:latin typeface="Courier New"/>
              </a:rPr>
              <a:t>.270011996</a:t>
            </a:r>
          </a:p>
        </p:txBody>
      </p:sp>
      <p:sp>
        <p:nvSpPr>
          <p:cNvPr id="19" name="Rectangle 18"/>
          <p:cNvSpPr/>
          <p:nvPr/>
        </p:nvSpPr>
        <p:spPr>
          <a:xfrm>
            <a:off x="6720840" y="3493008"/>
            <a:ext cx="4800600" cy="548640"/>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85431" y="3493008"/>
            <a:ext cx="2267712" cy="548640"/>
          </a:xfrm>
          <a:prstGeom prst="rect">
            <a:avLst/>
          </a:prstGeom>
          <a:noFill/>
        </p:spPr>
        <p:txBody>
          <a:bodyPr wrap="square" lIns="0" rIns="0" tIns="0" bIns="0" anchor="ctr">
            <a:spAutoFit/>
          </a:bodyPr>
          <a:lstStyle/>
          <a:p>
            <a:pPr algn="l">
              <a:spcAft>
                <a:spcPts val="0"/>
              </a:spcAft>
            </a:pPr>
            <a:r>
              <a:rPr sz="1600" b="1">
                <a:solidFill>
                  <a:srgbClr val="5FCB7E"/>
                </a:solidFill>
                <a:latin typeface="Arial"/>
              </a:rPr>
              <a:t>$58 (intended)</a:t>
            </a:r>
          </a:p>
        </p:txBody>
      </p:sp>
      <p:sp>
        <p:nvSpPr>
          <p:cNvPr id="21" name="TextBox 20"/>
          <p:cNvSpPr txBox="1"/>
          <p:nvPr/>
        </p:nvSpPr>
        <p:spPr>
          <a:xfrm>
            <a:off x="9381744" y="3493008"/>
            <a:ext cx="2075688" cy="548640"/>
          </a:xfrm>
          <a:prstGeom prst="rect">
            <a:avLst/>
          </a:prstGeom>
          <a:noFill/>
        </p:spPr>
        <p:txBody>
          <a:bodyPr wrap="square" lIns="0" rIns="0" tIns="0" bIns="0" anchor="ctr">
            <a:spAutoFit/>
          </a:bodyPr>
          <a:lstStyle/>
          <a:p>
            <a:pPr algn="l">
              <a:spcAft>
                <a:spcPts val="0"/>
              </a:spcAft>
            </a:pPr>
            <a:r>
              <a:rPr sz="1500" b="0">
                <a:solidFill>
                  <a:srgbClr val="E9E7E3"/>
                </a:solidFill>
                <a:latin typeface="Courier New"/>
              </a:rPr>
              <a:t>.512199496</a:t>
            </a:r>
          </a:p>
        </p:txBody>
      </p:sp>
      <p:sp>
        <p:nvSpPr>
          <p:cNvPr id="22" name="Rectangle 21"/>
          <p:cNvSpPr/>
          <p:nvPr/>
        </p:nvSpPr>
        <p:spPr>
          <a:xfrm>
            <a:off x="6720840" y="4096512"/>
            <a:ext cx="4800600" cy="548640"/>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85431" y="4096512"/>
            <a:ext cx="2267712" cy="548640"/>
          </a:xfrm>
          <a:prstGeom prst="rect">
            <a:avLst/>
          </a:prstGeom>
          <a:noFill/>
        </p:spPr>
        <p:txBody>
          <a:bodyPr wrap="square" lIns="0" rIns="0" tIns="0" bIns="0" anchor="ctr">
            <a:spAutoFit/>
          </a:bodyPr>
          <a:lstStyle/>
          <a:p>
            <a:pPr algn="l">
              <a:spcAft>
                <a:spcPts val="0"/>
              </a:spcAft>
            </a:pPr>
            <a:r>
              <a:rPr sz="1600" b="1">
                <a:solidFill>
                  <a:srgbClr val="5FCB7E"/>
                </a:solidFill>
                <a:latin typeface="Arial"/>
              </a:rPr>
              <a:t>$AA</a:t>
            </a:r>
          </a:p>
        </p:txBody>
      </p:sp>
      <p:sp>
        <p:nvSpPr>
          <p:cNvPr id="24" name="TextBox 23"/>
          <p:cNvSpPr txBox="1"/>
          <p:nvPr/>
        </p:nvSpPr>
        <p:spPr>
          <a:xfrm>
            <a:off x="9381744" y="4096512"/>
            <a:ext cx="2075688" cy="548640"/>
          </a:xfrm>
          <a:prstGeom prst="rect">
            <a:avLst/>
          </a:prstGeom>
          <a:noFill/>
        </p:spPr>
        <p:txBody>
          <a:bodyPr wrap="square" lIns="0" rIns="0" tIns="0" bIns="0" anchor="ctr">
            <a:spAutoFit/>
          </a:bodyPr>
          <a:lstStyle/>
          <a:p>
            <a:pPr algn="l">
              <a:spcAft>
                <a:spcPts val="0"/>
              </a:spcAft>
            </a:pPr>
            <a:r>
              <a:rPr sz="1500" b="0">
                <a:solidFill>
                  <a:srgbClr val="E9E7E3"/>
                </a:solidFill>
                <a:latin typeface="Courier New"/>
              </a:rPr>
              <a:t>.738761996</a:t>
            </a:r>
          </a:p>
        </p:txBody>
      </p:sp>
      <p:sp>
        <p:nvSpPr>
          <p:cNvPr id="25" name="Rectangle 24"/>
          <p:cNvSpPr/>
          <p:nvPr/>
        </p:nvSpPr>
        <p:spPr>
          <a:xfrm>
            <a:off x="640080" y="5029200"/>
            <a:ext cx="10881360" cy="960120"/>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40080" y="5029200"/>
            <a:ext cx="64008" cy="960120"/>
          </a:xfrm>
          <a:prstGeom prst="rect">
            <a:avLst/>
          </a:prstGeom>
          <a:solidFill>
            <a:srgbClr val="E0A7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0119" y="5029200"/>
            <a:ext cx="10332720" cy="960120"/>
          </a:xfrm>
          <a:prstGeom prst="rect">
            <a:avLst/>
          </a:prstGeom>
          <a:noFill/>
        </p:spPr>
        <p:txBody>
          <a:bodyPr wrap="square" lIns="0" rIns="0" tIns="0" bIns="0" anchor="ctr">
            <a:spAutoFit/>
          </a:bodyPr>
          <a:lstStyle/>
          <a:p>
            <a:pPr algn="l">
              <a:spcAft>
                <a:spcPts val="400"/>
              </a:spcAft>
            </a:pPr>
            <a:r>
              <a:rPr sz="1900" b="0">
                <a:solidFill>
                  <a:srgbClr val="E9E7E3"/>
                </a:solidFill>
                <a:latin typeface="Arial"/>
              </a:rPr>
              <a:t>256 possible bytes → 181 different first numbers. Each machine still repeats its own.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7181A"/>
        </a:solidFill>
        <a:effectLst/>
      </p:bgPr>
    </p:bg>
    <p:spTree>
      <p:nvGrpSpPr>
        <p:cNvPr id="1" name=""/>
        <p:cNvGrpSpPr/>
        <p:nvPr/>
      </p:nvGrpSpPr>
      <p:grpSpPr/>
      <p:sp>
        <p:nvSpPr>
          <p:cNvPr id="2" name="Rectangle 1"/>
          <p:cNvSpPr/>
          <p:nvPr/>
        </p:nvSpPr>
        <p:spPr>
          <a:xfrm>
            <a:off x="10927080" y="384048"/>
            <a:ext cx="566928" cy="566928"/>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27080" y="384048"/>
            <a:ext cx="566928" cy="566928"/>
          </a:xfrm>
          <a:prstGeom prst="rect">
            <a:avLst/>
          </a:prstGeom>
          <a:noFill/>
        </p:spPr>
        <p:txBody>
          <a:bodyPr wrap="square" lIns="0" rIns="0" tIns="0" bIns="0" anchor="ctr">
            <a:spAutoFit/>
          </a:bodyPr>
          <a:lstStyle/>
          <a:p>
            <a:pPr algn="ctr">
              <a:spcAft>
                <a:spcPts val="0"/>
              </a:spcAft>
            </a:pPr>
            <a:r>
              <a:rPr sz="1500" b="1">
                <a:solidFill>
                  <a:srgbClr val="5FCB7E"/>
                </a:solidFill>
                <a:latin typeface="Courier New"/>
              </a:rPr>
              <a:t>9</a:t>
            </a:r>
          </a:p>
        </p:txBody>
      </p:sp>
      <p:sp>
        <p:nvSpPr>
          <p:cNvPr id="4" name="TextBox 3"/>
          <p:cNvSpPr txBox="1"/>
          <p:nvPr/>
        </p:nvSpPr>
        <p:spPr>
          <a:xfrm>
            <a:off x="640080" y="411480"/>
            <a:ext cx="10058400" cy="685800"/>
          </a:xfrm>
          <a:prstGeom prst="rect">
            <a:avLst/>
          </a:prstGeom>
          <a:noFill/>
        </p:spPr>
        <p:txBody>
          <a:bodyPr wrap="square" lIns="0" rIns="0" tIns="0" bIns="0" anchor="ctr">
            <a:spAutoFit/>
          </a:bodyPr>
          <a:lstStyle/>
          <a:p>
            <a:pPr algn="l">
              <a:spcAft>
                <a:spcPts val="0"/>
              </a:spcAft>
            </a:pPr>
            <a:r>
              <a:rPr sz="3200" b="1">
                <a:solidFill>
                  <a:srgbClr val="E9E7E3"/>
                </a:solidFill>
                <a:latin typeface="Arial"/>
              </a:rPr>
              <a:t>Two published loops, one generator</a:t>
            </a:r>
          </a:p>
        </p:txBody>
      </p:sp>
      <p:sp>
        <p:nvSpPr>
          <p:cNvPr id="5" name="TextBox 4"/>
          <p:cNvSpPr txBox="1"/>
          <p:nvPr/>
        </p:nvSpPr>
        <p:spPr>
          <a:xfrm>
            <a:off x="640080" y="1143000"/>
            <a:ext cx="10241280" cy="457200"/>
          </a:xfrm>
          <a:prstGeom prst="rect">
            <a:avLst/>
          </a:prstGeom>
          <a:noFill/>
        </p:spPr>
        <p:txBody>
          <a:bodyPr wrap="square" lIns="0" rIns="0" tIns="0" bIns="0" anchor="t">
            <a:spAutoFit/>
          </a:bodyPr>
          <a:lstStyle/>
          <a:p>
            <a:pPr algn="l">
              <a:spcAft>
                <a:spcPts val="0"/>
              </a:spcAft>
            </a:pPr>
            <a:r>
              <a:rPr sz="1800" b="0">
                <a:solidFill>
                  <a:srgbClr val="9DA39B"/>
                </a:solidFill>
                <a:latin typeface="Arial"/>
              </a:rPr>
              <a:t>Kaner &amp; Vokey saw a loop of 202. Sander-Cederlof saw 37,758. Both were right.</a:t>
            </a:r>
          </a:p>
        </p:txBody>
      </p:sp>
      <p:sp>
        <p:nvSpPr>
          <p:cNvPr id="6" name="TextBox 5"/>
          <p:cNvSpPr txBox="1"/>
          <p:nvPr/>
        </p:nvSpPr>
        <p:spPr>
          <a:xfrm>
            <a:off x="640080" y="6309360"/>
            <a:ext cx="10881360" cy="365760"/>
          </a:xfrm>
          <a:prstGeom prst="rect">
            <a:avLst/>
          </a:prstGeom>
          <a:noFill/>
        </p:spPr>
        <p:txBody>
          <a:bodyPr wrap="square" lIns="0" rIns="0" tIns="0" bIns="0" anchor="t">
            <a:spAutoFit/>
          </a:bodyPr>
          <a:lstStyle/>
          <a:p>
            <a:pPr algn="l">
              <a:spcAft>
                <a:spcPts val="0"/>
              </a:spcAft>
            </a:pPr>
            <a:r>
              <a:rPr sz="1050" b="0">
                <a:solidFill>
                  <a:srgbClr val="9DA39B"/>
                </a:solidFill>
                <a:latin typeface="Arial"/>
              </a:rPr>
              <a:t>Kaner &amp; Vokey, MICRO June 1984; Sander-Cederlof, AAL May 1984; all 256 cold starts run on the II Plus ROM</a:t>
            </a:r>
          </a:p>
        </p:txBody>
      </p:sp>
      <p:sp>
        <p:nvSpPr>
          <p:cNvPr id="7" name="Rectangle 6"/>
          <p:cNvSpPr/>
          <p:nvPr/>
        </p:nvSpPr>
        <p:spPr>
          <a:xfrm>
            <a:off x="640080" y="1783080"/>
            <a:ext cx="7223760" cy="4343400"/>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965960"/>
            <a:ext cx="6766560" cy="365760"/>
          </a:xfrm>
          <a:prstGeom prst="rect">
            <a:avLst/>
          </a:prstGeom>
          <a:noFill/>
        </p:spPr>
        <p:txBody>
          <a:bodyPr wrap="square" lIns="0" rIns="0" tIns="0" bIns="0" anchor="t">
            <a:spAutoFit/>
          </a:bodyPr>
          <a:lstStyle/>
          <a:p>
            <a:pPr algn="l">
              <a:spcAft>
                <a:spcPts val="0"/>
              </a:spcAft>
            </a:pPr>
            <a:r>
              <a:rPr sz="1500" b="1">
                <a:solidFill>
                  <a:srgbClr val="E9E7E3"/>
                </a:solidFill>
                <a:latin typeface="Arial"/>
              </a:rPr>
              <a:t>Where all 256 possible cold starts end up, by loop length</a:t>
            </a:r>
          </a:p>
        </p:txBody>
      </p:sp>
      <p:sp>
        <p:nvSpPr>
          <p:cNvPr id="9" name="TextBox 8"/>
          <p:cNvSpPr txBox="1"/>
          <p:nvPr/>
        </p:nvSpPr>
        <p:spPr>
          <a:xfrm>
            <a:off x="914400" y="2286000"/>
            <a:ext cx="6766560" cy="320040"/>
          </a:xfrm>
          <a:prstGeom prst="rect">
            <a:avLst/>
          </a:prstGeom>
          <a:noFill/>
        </p:spPr>
        <p:txBody>
          <a:bodyPr wrap="square" lIns="0" rIns="0" tIns="0" bIns="0" anchor="t">
            <a:spAutoFit/>
          </a:bodyPr>
          <a:lstStyle/>
          <a:p>
            <a:pPr algn="l">
              <a:spcAft>
                <a:spcPts val="0"/>
              </a:spcAft>
            </a:pPr>
            <a:r>
              <a:rPr sz="1200" b="0">
                <a:solidFill>
                  <a:srgbClr val="9DA39B"/>
                </a:solidFill>
                <a:latin typeface="Arial"/>
              </a:rPr>
              <a:t>Share of the 256 values the uncopied byte $CD can hold</a:t>
            </a:r>
          </a:p>
        </p:txBody>
      </p:sp>
      <p:sp>
        <p:nvSpPr>
          <p:cNvPr id="10" name="TextBox 9"/>
          <p:cNvSpPr txBox="1"/>
          <p:nvPr/>
        </p:nvSpPr>
        <p:spPr>
          <a:xfrm>
            <a:off x="914400" y="2697480"/>
            <a:ext cx="1280160" cy="274320"/>
          </a:xfrm>
          <a:prstGeom prst="rect">
            <a:avLst/>
          </a:prstGeom>
          <a:noFill/>
        </p:spPr>
        <p:txBody>
          <a:bodyPr wrap="square" lIns="0" rIns="0" tIns="0" bIns="0" anchor="t">
            <a:spAutoFit/>
          </a:bodyPr>
          <a:lstStyle/>
          <a:p>
            <a:pPr algn="l">
              <a:spcAft>
                <a:spcPts val="0"/>
              </a:spcAft>
            </a:pPr>
            <a:r>
              <a:rPr sz="1100" b="0">
                <a:solidFill>
                  <a:srgbClr val="9DA39B"/>
                </a:solidFill>
                <a:latin typeface="Arial"/>
              </a:rPr>
              <a:t>Loop length</a:t>
            </a:r>
          </a:p>
        </p:txBody>
      </p:sp>
      <p:sp>
        <p:nvSpPr>
          <p:cNvPr id="11" name="Rectangle 10"/>
          <p:cNvSpPr/>
          <p:nvPr/>
        </p:nvSpPr>
        <p:spPr>
          <a:xfrm>
            <a:off x="2231136" y="2953511"/>
            <a:ext cx="10972" cy="2834640"/>
          </a:xfrm>
          <a:prstGeom prst="rect">
            <a:avLst/>
          </a:prstGeom>
          <a:solidFill>
            <a:srgbClr val="3A3E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008375"/>
            <a:ext cx="1234440" cy="329184"/>
          </a:xfrm>
          <a:prstGeom prst="rect">
            <a:avLst/>
          </a:prstGeom>
          <a:noFill/>
        </p:spPr>
        <p:txBody>
          <a:bodyPr wrap="square" lIns="0" rIns="0" tIns="0" bIns="0" anchor="ctr">
            <a:spAutoFit/>
          </a:bodyPr>
          <a:lstStyle/>
          <a:p>
            <a:pPr algn="r">
              <a:spcAft>
                <a:spcPts val="0"/>
              </a:spcAft>
            </a:pPr>
            <a:r>
              <a:rPr sz="1500" b="0">
                <a:solidFill>
                  <a:srgbClr val="E9E7E3"/>
                </a:solidFill>
                <a:latin typeface="Courier New"/>
              </a:rPr>
              <a:t>37,758</a:t>
            </a:r>
          </a:p>
        </p:txBody>
      </p:sp>
      <p:sp>
        <p:nvSpPr>
          <p:cNvPr id="13" name="Rectangle 12"/>
          <p:cNvSpPr/>
          <p:nvPr/>
        </p:nvSpPr>
        <p:spPr>
          <a:xfrm>
            <a:off x="2240280" y="3063239"/>
            <a:ext cx="3566160" cy="219456"/>
          </a:xfrm>
          <a:prstGeom prst="rect">
            <a:avLst/>
          </a:prstGeom>
          <a:solidFill>
            <a:srgbClr val="6B7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16168" y="3008375"/>
            <a:ext cx="2011680" cy="329184"/>
          </a:xfrm>
          <a:prstGeom prst="rect">
            <a:avLst/>
          </a:prstGeom>
          <a:noFill/>
        </p:spPr>
        <p:txBody>
          <a:bodyPr wrap="square" lIns="0" rIns="0" tIns="0" bIns="0" anchor="ctr">
            <a:spAutoFit/>
          </a:bodyPr>
          <a:lstStyle/>
          <a:p>
            <a:pPr algn="l">
              <a:spcAft>
                <a:spcPts val="0"/>
              </a:spcAft>
            </a:pPr>
            <a:r>
              <a:rPr sz="1300" b="0">
                <a:solidFill>
                  <a:srgbClr val="9DA39B"/>
                </a:solidFill>
                <a:latin typeface="Arial"/>
              </a:rPr>
              <a:t>43.0%  (110)</a:t>
            </a:r>
          </a:p>
        </p:txBody>
      </p:sp>
      <p:sp>
        <p:nvSpPr>
          <p:cNvPr id="15" name="TextBox 14"/>
          <p:cNvSpPr txBox="1"/>
          <p:nvPr/>
        </p:nvSpPr>
        <p:spPr>
          <a:xfrm>
            <a:off x="914400" y="3575303"/>
            <a:ext cx="1234440" cy="329184"/>
          </a:xfrm>
          <a:prstGeom prst="rect">
            <a:avLst/>
          </a:prstGeom>
          <a:noFill/>
        </p:spPr>
        <p:txBody>
          <a:bodyPr wrap="square" lIns="0" rIns="0" tIns="0" bIns="0" anchor="ctr">
            <a:spAutoFit/>
          </a:bodyPr>
          <a:lstStyle/>
          <a:p>
            <a:pPr algn="r">
              <a:spcAft>
                <a:spcPts val="0"/>
              </a:spcAft>
            </a:pPr>
            <a:r>
              <a:rPr sz="1500" b="0">
                <a:solidFill>
                  <a:srgbClr val="E9E7E3"/>
                </a:solidFill>
                <a:latin typeface="Courier New"/>
              </a:rPr>
              <a:t>32,366</a:t>
            </a:r>
          </a:p>
        </p:txBody>
      </p:sp>
      <p:sp>
        <p:nvSpPr>
          <p:cNvPr id="16" name="Rectangle 15"/>
          <p:cNvSpPr/>
          <p:nvPr/>
        </p:nvSpPr>
        <p:spPr>
          <a:xfrm>
            <a:off x="2240280" y="3630168"/>
            <a:ext cx="2528731" cy="219456"/>
          </a:xfrm>
          <a:prstGeom prst="rect">
            <a:avLst/>
          </a:prstGeom>
          <a:solidFill>
            <a:srgbClr val="6B7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78739" y="3575303"/>
            <a:ext cx="2011680" cy="329184"/>
          </a:xfrm>
          <a:prstGeom prst="rect">
            <a:avLst/>
          </a:prstGeom>
          <a:noFill/>
        </p:spPr>
        <p:txBody>
          <a:bodyPr wrap="square" lIns="0" rIns="0" tIns="0" bIns="0" anchor="ctr">
            <a:spAutoFit/>
          </a:bodyPr>
          <a:lstStyle/>
          <a:p>
            <a:pPr algn="l">
              <a:spcAft>
                <a:spcPts val="0"/>
              </a:spcAft>
            </a:pPr>
            <a:r>
              <a:rPr sz="1300" b="0">
                <a:solidFill>
                  <a:srgbClr val="9DA39B"/>
                </a:solidFill>
                <a:latin typeface="Arial"/>
              </a:rPr>
              <a:t>30.5%  (78)</a:t>
            </a:r>
          </a:p>
        </p:txBody>
      </p:sp>
      <p:sp>
        <p:nvSpPr>
          <p:cNvPr id="18" name="TextBox 17"/>
          <p:cNvSpPr txBox="1"/>
          <p:nvPr/>
        </p:nvSpPr>
        <p:spPr>
          <a:xfrm>
            <a:off x="914400" y="4142232"/>
            <a:ext cx="1234440" cy="329184"/>
          </a:xfrm>
          <a:prstGeom prst="rect">
            <a:avLst/>
          </a:prstGeom>
          <a:noFill/>
        </p:spPr>
        <p:txBody>
          <a:bodyPr wrap="square" lIns="0" rIns="0" tIns="0" bIns="0" anchor="ctr">
            <a:spAutoFit/>
          </a:bodyPr>
          <a:lstStyle/>
          <a:p>
            <a:pPr algn="r">
              <a:spcAft>
                <a:spcPts val="0"/>
              </a:spcAft>
            </a:pPr>
            <a:r>
              <a:rPr sz="1500" b="1">
                <a:solidFill>
                  <a:srgbClr val="E0A73E"/>
                </a:solidFill>
                <a:latin typeface="Courier New"/>
              </a:rPr>
              <a:t>202</a:t>
            </a:r>
          </a:p>
        </p:txBody>
      </p:sp>
      <p:sp>
        <p:nvSpPr>
          <p:cNvPr id="19" name="Rectangle 18"/>
          <p:cNvSpPr/>
          <p:nvPr/>
        </p:nvSpPr>
        <p:spPr>
          <a:xfrm>
            <a:off x="2240280" y="4197096"/>
            <a:ext cx="1912758" cy="219456"/>
          </a:xfrm>
          <a:prstGeom prst="rect">
            <a:avLst/>
          </a:prstGeom>
          <a:solidFill>
            <a:srgbClr val="E0A7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62766" y="4142232"/>
            <a:ext cx="2011680" cy="329184"/>
          </a:xfrm>
          <a:prstGeom prst="rect">
            <a:avLst/>
          </a:prstGeom>
          <a:noFill/>
        </p:spPr>
        <p:txBody>
          <a:bodyPr wrap="square" lIns="0" rIns="0" tIns="0" bIns="0" anchor="ctr">
            <a:spAutoFit/>
          </a:bodyPr>
          <a:lstStyle/>
          <a:p>
            <a:pPr algn="l">
              <a:spcAft>
                <a:spcPts val="0"/>
              </a:spcAft>
            </a:pPr>
            <a:r>
              <a:rPr sz="1300" b="1">
                <a:solidFill>
                  <a:srgbClr val="E9E7E3"/>
                </a:solidFill>
                <a:latin typeface="Arial"/>
              </a:rPr>
              <a:t>23.0%  (59)</a:t>
            </a:r>
          </a:p>
        </p:txBody>
      </p:sp>
      <p:sp>
        <p:nvSpPr>
          <p:cNvPr id="21" name="TextBox 20"/>
          <p:cNvSpPr txBox="1"/>
          <p:nvPr/>
        </p:nvSpPr>
        <p:spPr>
          <a:xfrm>
            <a:off x="914400" y="4709160"/>
            <a:ext cx="1234440" cy="329184"/>
          </a:xfrm>
          <a:prstGeom prst="rect">
            <a:avLst/>
          </a:prstGeom>
          <a:noFill/>
        </p:spPr>
        <p:txBody>
          <a:bodyPr wrap="square" lIns="0" rIns="0" tIns="0" bIns="0" anchor="ctr">
            <a:spAutoFit/>
          </a:bodyPr>
          <a:lstStyle/>
          <a:p>
            <a:pPr algn="r">
              <a:spcAft>
                <a:spcPts val="0"/>
              </a:spcAft>
            </a:pPr>
            <a:r>
              <a:rPr sz="1500" b="0">
                <a:solidFill>
                  <a:srgbClr val="E9E7E3"/>
                </a:solidFill>
                <a:latin typeface="Courier New"/>
              </a:rPr>
              <a:t>4,082</a:t>
            </a:r>
          </a:p>
        </p:txBody>
      </p:sp>
      <p:sp>
        <p:nvSpPr>
          <p:cNvPr id="22" name="Rectangle 21"/>
          <p:cNvSpPr/>
          <p:nvPr/>
        </p:nvSpPr>
        <p:spPr>
          <a:xfrm>
            <a:off x="2240280" y="4764024"/>
            <a:ext cx="162098" cy="219456"/>
          </a:xfrm>
          <a:prstGeom prst="rect">
            <a:avLst/>
          </a:prstGeom>
          <a:solidFill>
            <a:srgbClr val="6B7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512106" y="4709160"/>
            <a:ext cx="2011680" cy="329184"/>
          </a:xfrm>
          <a:prstGeom prst="rect">
            <a:avLst/>
          </a:prstGeom>
          <a:noFill/>
        </p:spPr>
        <p:txBody>
          <a:bodyPr wrap="square" lIns="0" rIns="0" tIns="0" bIns="0" anchor="ctr">
            <a:spAutoFit/>
          </a:bodyPr>
          <a:lstStyle/>
          <a:p>
            <a:pPr algn="l">
              <a:spcAft>
                <a:spcPts val="0"/>
              </a:spcAft>
            </a:pPr>
            <a:r>
              <a:rPr sz="1300" b="0">
                <a:solidFill>
                  <a:srgbClr val="9DA39B"/>
                </a:solidFill>
                <a:latin typeface="Arial"/>
              </a:rPr>
              <a:t>2.0%  (5)</a:t>
            </a:r>
          </a:p>
        </p:txBody>
      </p:sp>
      <p:sp>
        <p:nvSpPr>
          <p:cNvPr id="24" name="TextBox 23"/>
          <p:cNvSpPr txBox="1"/>
          <p:nvPr/>
        </p:nvSpPr>
        <p:spPr>
          <a:xfrm>
            <a:off x="914400" y="5276088"/>
            <a:ext cx="1234440" cy="329184"/>
          </a:xfrm>
          <a:prstGeom prst="rect">
            <a:avLst/>
          </a:prstGeom>
          <a:noFill/>
        </p:spPr>
        <p:txBody>
          <a:bodyPr wrap="square" lIns="0" rIns="0" tIns="0" bIns="0" anchor="ctr">
            <a:spAutoFit/>
          </a:bodyPr>
          <a:lstStyle/>
          <a:p>
            <a:pPr algn="r">
              <a:spcAft>
                <a:spcPts val="0"/>
              </a:spcAft>
            </a:pPr>
            <a:r>
              <a:rPr sz="1500" b="0">
                <a:solidFill>
                  <a:srgbClr val="E9E7E3"/>
                </a:solidFill>
                <a:latin typeface="Courier New"/>
              </a:rPr>
              <a:t>12,559</a:t>
            </a:r>
          </a:p>
        </p:txBody>
      </p:sp>
      <p:sp>
        <p:nvSpPr>
          <p:cNvPr id="25" name="Rectangle 24"/>
          <p:cNvSpPr/>
          <p:nvPr/>
        </p:nvSpPr>
        <p:spPr>
          <a:xfrm>
            <a:off x="2240280" y="5330952"/>
            <a:ext cx="129678" cy="219456"/>
          </a:xfrm>
          <a:prstGeom prst="rect">
            <a:avLst/>
          </a:prstGeom>
          <a:solidFill>
            <a:srgbClr val="6B7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479686" y="5276088"/>
            <a:ext cx="2011680" cy="329184"/>
          </a:xfrm>
          <a:prstGeom prst="rect">
            <a:avLst/>
          </a:prstGeom>
          <a:noFill/>
        </p:spPr>
        <p:txBody>
          <a:bodyPr wrap="square" lIns="0" rIns="0" tIns="0" bIns="0" anchor="ctr">
            <a:spAutoFit/>
          </a:bodyPr>
          <a:lstStyle/>
          <a:p>
            <a:pPr algn="l">
              <a:spcAft>
                <a:spcPts val="0"/>
              </a:spcAft>
            </a:pPr>
            <a:r>
              <a:rPr sz="1300" b="0">
                <a:solidFill>
                  <a:srgbClr val="9DA39B"/>
                </a:solidFill>
                <a:latin typeface="Arial"/>
              </a:rPr>
              <a:t>1.6%  (4)</a:t>
            </a:r>
          </a:p>
        </p:txBody>
      </p:sp>
      <p:sp>
        <p:nvSpPr>
          <p:cNvPr id="27" name="Rectangle 26"/>
          <p:cNvSpPr/>
          <p:nvPr/>
        </p:nvSpPr>
        <p:spPr>
          <a:xfrm>
            <a:off x="8092440" y="1783080"/>
            <a:ext cx="3429000" cy="1115568"/>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21040" y="1947672"/>
            <a:ext cx="3063240" cy="886968"/>
          </a:xfrm>
          <a:prstGeom prst="rect">
            <a:avLst/>
          </a:prstGeom>
          <a:noFill/>
        </p:spPr>
        <p:txBody>
          <a:bodyPr wrap="square" lIns="0" rIns="0" tIns="0" bIns="0" anchor="t">
            <a:spAutoFit/>
          </a:bodyPr>
          <a:lstStyle/>
          <a:p>
            <a:pPr algn="l">
              <a:spcAft>
                <a:spcPts val="600"/>
              </a:spcAft>
            </a:pPr>
            <a:r>
              <a:rPr sz="1500" b="1">
                <a:solidFill>
                  <a:srgbClr val="5FCB7E"/>
                </a:solidFill>
                <a:latin typeface="Arial"/>
              </a:rPr>
              <a:t>$CD = $FF</a:t>
            </a:r>
          </a:p>
          <a:p>
            <a:pPr algn="l">
              <a:spcAft>
                <a:spcPts val="300"/>
              </a:spcAft>
            </a:pPr>
            <a:r>
              <a:rPr sz="1400" b="0">
                <a:solidFill>
                  <a:srgbClr val="E9E7E3"/>
                </a:solidFill>
                <a:latin typeface="Arial"/>
              </a:rPr>
              <a:t>37,758-number loop</a:t>
            </a:r>
          </a:p>
          <a:p>
            <a:pPr algn="l">
              <a:spcAft>
                <a:spcPts val="300"/>
              </a:spcAft>
            </a:pPr>
            <a:r>
              <a:rPr sz="1400" b="0">
                <a:solidFill>
                  <a:srgbClr val="E9E7E3"/>
                </a:solidFill>
                <a:latin typeface="Arial"/>
              </a:rPr>
              <a:t>after 6,818 calls</a:t>
            </a:r>
          </a:p>
        </p:txBody>
      </p:sp>
      <p:sp>
        <p:nvSpPr>
          <p:cNvPr id="29" name="Rectangle 28"/>
          <p:cNvSpPr/>
          <p:nvPr/>
        </p:nvSpPr>
        <p:spPr>
          <a:xfrm>
            <a:off x="8092440" y="3063239"/>
            <a:ext cx="3429000" cy="1115568"/>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21040" y="3227832"/>
            <a:ext cx="3063240" cy="886968"/>
          </a:xfrm>
          <a:prstGeom prst="rect">
            <a:avLst/>
          </a:prstGeom>
          <a:noFill/>
        </p:spPr>
        <p:txBody>
          <a:bodyPr wrap="square" lIns="0" rIns="0" tIns="0" bIns="0" anchor="t">
            <a:spAutoFit/>
          </a:bodyPr>
          <a:lstStyle/>
          <a:p>
            <a:pPr algn="l">
              <a:spcAft>
                <a:spcPts val="600"/>
              </a:spcAft>
            </a:pPr>
            <a:r>
              <a:rPr sz="1500" b="1">
                <a:solidFill>
                  <a:srgbClr val="E0A73E"/>
                </a:solidFill>
                <a:latin typeface="Arial"/>
              </a:rPr>
              <a:t>$CD = $58, the intended byte</a:t>
            </a:r>
          </a:p>
          <a:p>
            <a:pPr algn="l">
              <a:spcAft>
                <a:spcPts val="300"/>
              </a:spcAft>
            </a:pPr>
            <a:r>
              <a:rPr sz="1400" b="0">
                <a:solidFill>
                  <a:srgbClr val="E9E7E3"/>
                </a:solidFill>
                <a:latin typeface="Arial"/>
              </a:rPr>
              <a:t>202-number loop</a:t>
            </a:r>
          </a:p>
          <a:p>
            <a:pPr algn="l">
              <a:spcAft>
                <a:spcPts val="300"/>
              </a:spcAft>
            </a:pPr>
            <a:r>
              <a:rPr sz="1400" b="0">
                <a:solidFill>
                  <a:srgbClr val="E9E7E3"/>
                </a:solidFill>
                <a:latin typeface="Arial"/>
              </a:rPr>
              <a:t>after 15,382 calls</a:t>
            </a:r>
          </a:p>
        </p:txBody>
      </p:sp>
      <p:sp>
        <p:nvSpPr>
          <p:cNvPr id="31" name="Rectangle 30"/>
          <p:cNvSpPr/>
          <p:nvPr/>
        </p:nvSpPr>
        <p:spPr>
          <a:xfrm>
            <a:off x="8092440" y="4343400"/>
            <a:ext cx="3429000" cy="841247"/>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321040" y="4507992"/>
            <a:ext cx="3063240" cy="612647"/>
          </a:xfrm>
          <a:prstGeom prst="rect">
            <a:avLst/>
          </a:prstGeom>
          <a:noFill/>
        </p:spPr>
        <p:txBody>
          <a:bodyPr wrap="square" lIns="0" rIns="0" tIns="0" bIns="0" anchor="t">
            <a:spAutoFit/>
          </a:bodyPr>
          <a:lstStyle/>
          <a:p>
            <a:pPr algn="l">
              <a:spcAft>
                <a:spcPts val="600"/>
              </a:spcAft>
            </a:pPr>
            <a:r>
              <a:rPr sz="1500" b="1">
                <a:solidFill>
                  <a:srgbClr val="5FCB7E"/>
                </a:solidFill>
                <a:latin typeface="Arial"/>
              </a:rPr>
              <a:t>Reseeding</a:t>
            </a:r>
          </a:p>
          <a:p>
            <a:pPr algn="l">
              <a:spcAft>
                <a:spcPts val="300"/>
              </a:spcAft>
            </a:pPr>
            <a:r>
              <a:rPr sz="1400" b="0">
                <a:solidFill>
                  <a:srgbClr val="E9E7E3"/>
                </a:solidFill>
                <a:latin typeface="Arial"/>
              </a:rPr>
              <a:t>RND(−52894) lands in the 202 loop too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7181A"/>
        </a:solidFill>
        <a:effectLst/>
      </p:bgPr>
    </p:bg>
    <p:spTree>
      <p:nvGrpSpPr>
        <p:cNvPr id="1" name=""/>
        <p:cNvGrpSpPr/>
        <p:nvPr/>
      </p:nvGrpSpPr>
      <p:grpSpPr/>
      <p:sp>
        <p:nvSpPr>
          <p:cNvPr id="2" name="Rectangle 1"/>
          <p:cNvSpPr/>
          <p:nvPr/>
        </p:nvSpPr>
        <p:spPr>
          <a:xfrm>
            <a:off x="10927080" y="384048"/>
            <a:ext cx="566928" cy="566928"/>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27080" y="384048"/>
            <a:ext cx="566928" cy="566928"/>
          </a:xfrm>
          <a:prstGeom prst="rect">
            <a:avLst/>
          </a:prstGeom>
          <a:noFill/>
        </p:spPr>
        <p:txBody>
          <a:bodyPr wrap="square" lIns="0" rIns="0" tIns="0" bIns="0" anchor="ctr">
            <a:spAutoFit/>
          </a:bodyPr>
          <a:lstStyle/>
          <a:p>
            <a:pPr algn="ctr">
              <a:spcAft>
                <a:spcPts val="0"/>
              </a:spcAft>
            </a:pPr>
            <a:r>
              <a:rPr sz="1500" b="1">
                <a:solidFill>
                  <a:srgbClr val="5FCB7E"/>
                </a:solidFill>
                <a:latin typeface="Courier New"/>
              </a:rPr>
              <a:t>10</a:t>
            </a:r>
          </a:p>
        </p:txBody>
      </p:sp>
      <p:sp>
        <p:nvSpPr>
          <p:cNvPr id="4" name="TextBox 3"/>
          <p:cNvSpPr txBox="1"/>
          <p:nvPr/>
        </p:nvSpPr>
        <p:spPr>
          <a:xfrm>
            <a:off x="640080" y="411480"/>
            <a:ext cx="10058400" cy="685800"/>
          </a:xfrm>
          <a:prstGeom prst="rect">
            <a:avLst/>
          </a:prstGeom>
          <a:noFill/>
        </p:spPr>
        <p:txBody>
          <a:bodyPr wrap="square" lIns="0" rIns="0" tIns="0" bIns="0" anchor="ctr">
            <a:spAutoFit/>
          </a:bodyPr>
          <a:lstStyle/>
          <a:p>
            <a:pPr algn="l">
              <a:spcAft>
                <a:spcPts val="0"/>
              </a:spcAft>
            </a:pPr>
            <a:r>
              <a:rPr sz="3200" b="1">
                <a:solidFill>
                  <a:srgbClr val="E9E7E3"/>
                </a:solidFill>
                <a:latin typeface="Arial"/>
              </a:rPr>
              <a:t>A regression of the default</a:t>
            </a:r>
          </a:p>
        </p:txBody>
      </p:sp>
      <p:sp>
        <p:nvSpPr>
          <p:cNvPr id="5" name="TextBox 4"/>
          <p:cNvSpPr txBox="1"/>
          <p:nvPr/>
        </p:nvSpPr>
        <p:spPr>
          <a:xfrm>
            <a:off x="640080" y="1143000"/>
            <a:ext cx="10241280" cy="457200"/>
          </a:xfrm>
          <a:prstGeom prst="rect">
            <a:avLst/>
          </a:prstGeom>
          <a:noFill/>
        </p:spPr>
        <p:txBody>
          <a:bodyPr wrap="square" lIns="0" rIns="0" tIns="0" bIns="0" anchor="t">
            <a:spAutoFit/>
          </a:bodyPr>
          <a:lstStyle/>
          <a:p>
            <a:pPr algn="l">
              <a:spcAft>
                <a:spcPts val="0"/>
              </a:spcAft>
            </a:pPr>
            <a:r>
              <a:rPr sz="1800" b="0">
                <a:solidFill>
                  <a:srgbClr val="9DA39B"/>
                </a:solidFill>
                <a:latin typeface="Arial"/>
              </a:rPr>
              <a:t>Both generators are weak. Only one seeded itself.</a:t>
            </a:r>
          </a:p>
        </p:txBody>
      </p:sp>
      <p:sp>
        <p:nvSpPr>
          <p:cNvPr id="6" name="TextBox 5"/>
          <p:cNvSpPr txBox="1"/>
          <p:nvPr/>
        </p:nvSpPr>
        <p:spPr>
          <a:xfrm>
            <a:off x="777240" y="1783080"/>
            <a:ext cx="1993392" cy="384048"/>
          </a:xfrm>
          <a:prstGeom prst="rect">
            <a:avLst/>
          </a:prstGeom>
          <a:noFill/>
        </p:spPr>
        <p:txBody>
          <a:bodyPr wrap="square" lIns="0" rIns="0" tIns="0" bIns="0" anchor="ctr">
            <a:spAutoFit/>
          </a:bodyPr>
          <a:lstStyle/>
          <a:p>
            <a:pPr algn="l">
              <a:spcAft>
                <a:spcPts val="0"/>
              </a:spcAft>
            </a:pPr>
            <a:r>
              <a:rPr sz="1300" b="1">
                <a:solidFill>
                  <a:srgbClr val="9DA39B"/>
                </a:solidFill>
                <a:latin typeface="Arial"/>
              </a:rPr>
              <a:t/>
            </a:r>
          </a:p>
        </p:txBody>
      </p:sp>
      <p:sp>
        <p:nvSpPr>
          <p:cNvPr id="7" name="TextBox 6"/>
          <p:cNvSpPr txBox="1"/>
          <p:nvPr/>
        </p:nvSpPr>
        <p:spPr>
          <a:xfrm>
            <a:off x="2953512" y="1783080"/>
            <a:ext cx="3843223" cy="384048"/>
          </a:xfrm>
          <a:prstGeom prst="rect">
            <a:avLst/>
          </a:prstGeom>
          <a:noFill/>
        </p:spPr>
        <p:txBody>
          <a:bodyPr wrap="square" lIns="0" rIns="0" tIns="0" bIns="0" anchor="ctr">
            <a:spAutoFit/>
          </a:bodyPr>
          <a:lstStyle/>
          <a:p>
            <a:pPr algn="l">
              <a:spcAft>
                <a:spcPts val="0"/>
              </a:spcAft>
            </a:pPr>
            <a:r>
              <a:rPr sz="1300" b="1">
                <a:solidFill>
                  <a:srgbClr val="9DA39B"/>
                </a:solidFill>
                <a:latin typeface="Arial"/>
              </a:rPr>
              <a:t>Integer BASIC (1977)</a:t>
            </a:r>
          </a:p>
        </p:txBody>
      </p:sp>
      <p:sp>
        <p:nvSpPr>
          <p:cNvPr id="8" name="TextBox 7"/>
          <p:cNvSpPr txBox="1"/>
          <p:nvPr/>
        </p:nvSpPr>
        <p:spPr>
          <a:xfrm>
            <a:off x="6979615" y="1783080"/>
            <a:ext cx="4496104" cy="384048"/>
          </a:xfrm>
          <a:prstGeom prst="rect">
            <a:avLst/>
          </a:prstGeom>
          <a:noFill/>
        </p:spPr>
        <p:txBody>
          <a:bodyPr wrap="square" lIns="0" rIns="0" tIns="0" bIns="0" anchor="ctr">
            <a:spAutoFit/>
          </a:bodyPr>
          <a:lstStyle/>
          <a:p>
            <a:pPr algn="l">
              <a:spcAft>
                <a:spcPts val="0"/>
              </a:spcAft>
            </a:pPr>
            <a:r>
              <a:rPr sz="1300" b="1">
                <a:solidFill>
                  <a:srgbClr val="9DA39B"/>
                </a:solidFill>
                <a:latin typeface="Arial"/>
              </a:rPr>
              <a:t>Applesoft II (Microsoft)</a:t>
            </a:r>
          </a:p>
        </p:txBody>
      </p:sp>
      <p:sp>
        <p:nvSpPr>
          <p:cNvPr id="9" name="Rectangle 8"/>
          <p:cNvSpPr/>
          <p:nvPr/>
        </p:nvSpPr>
        <p:spPr>
          <a:xfrm>
            <a:off x="640080" y="2194560"/>
            <a:ext cx="10881360" cy="13716"/>
          </a:xfrm>
          <a:prstGeom prst="rect">
            <a:avLst/>
          </a:prstGeom>
          <a:solidFill>
            <a:srgbClr val="3A3E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2286000"/>
            <a:ext cx="10881360" cy="475488"/>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1" y="2286000"/>
            <a:ext cx="1947672" cy="475488"/>
          </a:xfrm>
          <a:prstGeom prst="rect">
            <a:avLst/>
          </a:prstGeom>
          <a:noFill/>
        </p:spPr>
        <p:txBody>
          <a:bodyPr wrap="square" lIns="0" rIns="0" tIns="0" bIns="0" anchor="ctr">
            <a:spAutoFit/>
          </a:bodyPr>
          <a:lstStyle/>
          <a:p>
            <a:pPr algn="l">
              <a:spcAft>
                <a:spcPts val="0"/>
              </a:spcAft>
            </a:pPr>
            <a:r>
              <a:rPr sz="1600" b="1">
                <a:solidFill>
                  <a:srgbClr val="5FCB7E"/>
                </a:solidFill>
                <a:latin typeface="Arial"/>
              </a:rPr>
              <a:t>State</a:t>
            </a:r>
          </a:p>
        </p:txBody>
      </p:sp>
      <p:sp>
        <p:nvSpPr>
          <p:cNvPr id="12" name="TextBox 11"/>
          <p:cNvSpPr txBox="1"/>
          <p:nvPr/>
        </p:nvSpPr>
        <p:spPr>
          <a:xfrm>
            <a:off x="2980944" y="2286000"/>
            <a:ext cx="3797503" cy="475488"/>
          </a:xfrm>
          <a:prstGeom prst="rect">
            <a:avLst/>
          </a:prstGeom>
          <a:noFill/>
        </p:spPr>
        <p:txBody>
          <a:bodyPr wrap="square" lIns="0" rIns="0" tIns="0" bIns="0" anchor="ctr">
            <a:spAutoFit/>
          </a:bodyPr>
          <a:lstStyle/>
          <a:p>
            <a:pPr algn="l">
              <a:spcAft>
                <a:spcPts val="0"/>
              </a:spcAft>
            </a:pPr>
            <a:r>
              <a:rPr sz="1600" b="0">
                <a:solidFill>
                  <a:srgbClr val="E9E7E3"/>
                </a:solidFill>
                <a:latin typeface="Arial"/>
              </a:rPr>
              <a:t>15 bits at $4E/$4F</a:t>
            </a:r>
          </a:p>
        </p:txBody>
      </p:sp>
      <p:sp>
        <p:nvSpPr>
          <p:cNvPr id="13" name="TextBox 12"/>
          <p:cNvSpPr txBox="1"/>
          <p:nvPr/>
        </p:nvSpPr>
        <p:spPr>
          <a:xfrm>
            <a:off x="7007047" y="2286000"/>
            <a:ext cx="4450384" cy="475488"/>
          </a:xfrm>
          <a:prstGeom prst="rect">
            <a:avLst/>
          </a:prstGeom>
          <a:noFill/>
        </p:spPr>
        <p:txBody>
          <a:bodyPr wrap="square" lIns="0" rIns="0" tIns="0" bIns="0" anchor="ctr">
            <a:spAutoFit/>
          </a:bodyPr>
          <a:lstStyle/>
          <a:p>
            <a:pPr algn="l">
              <a:spcAft>
                <a:spcPts val="0"/>
              </a:spcAft>
            </a:pPr>
            <a:r>
              <a:rPr sz="1600" b="0">
                <a:solidFill>
                  <a:srgbClr val="E9E7E3"/>
                </a:solidFill>
                <a:latin typeface="Arial"/>
              </a:rPr>
              <a:t>5-byte float at $C9–$CD</a:t>
            </a:r>
          </a:p>
        </p:txBody>
      </p:sp>
      <p:sp>
        <p:nvSpPr>
          <p:cNvPr id="14" name="Rectangle 13"/>
          <p:cNvSpPr/>
          <p:nvPr/>
        </p:nvSpPr>
        <p:spPr>
          <a:xfrm>
            <a:off x="640080" y="2816352"/>
            <a:ext cx="10881360" cy="475488"/>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1" y="2816352"/>
            <a:ext cx="1947672" cy="475488"/>
          </a:xfrm>
          <a:prstGeom prst="rect">
            <a:avLst/>
          </a:prstGeom>
          <a:noFill/>
        </p:spPr>
        <p:txBody>
          <a:bodyPr wrap="square" lIns="0" rIns="0" tIns="0" bIns="0" anchor="ctr">
            <a:spAutoFit/>
          </a:bodyPr>
          <a:lstStyle/>
          <a:p>
            <a:pPr algn="l">
              <a:spcAft>
                <a:spcPts val="0"/>
              </a:spcAft>
            </a:pPr>
            <a:r>
              <a:rPr sz="1600" b="1">
                <a:solidFill>
                  <a:srgbClr val="5FCB7E"/>
                </a:solidFill>
                <a:latin typeface="Arial"/>
              </a:rPr>
              <a:t>Loop length</a:t>
            </a:r>
          </a:p>
        </p:txBody>
      </p:sp>
      <p:sp>
        <p:nvSpPr>
          <p:cNvPr id="16" name="TextBox 15"/>
          <p:cNvSpPr txBox="1"/>
          <p:nvPr/>
        </p:nvSpPr>
        <p:spPr>
          <a:xfrm>
            <a:off x="2980944" y="2816352"/>
            <a:ext cx="3797503" cy="475488"/>
          </a:xfrm>
          <a:prstGeom prst="rect">
            <a:avLst/>
          </a:prstGeom>
          <a:noFill/>
        </p:spPr>
        <p:txBody>
          <a:bodyPr wrap="square" lIns="0" rIns="0" tIns="0" bIns="0" anchor="ctr">
            <a:spAutoFit/>
          </a:bodyPr>
          <a:lstStyle/>
          <a:p>
            <a:pPr algn="l">
              <a:spcAft>
                <a:spcPts val="0"/>
              </a:spcAft>
            </a:pPr>
            <a:r>
              <a:rPr sz="1600" b="0">
                <a:solidFill>
                  <a:srgbClr val="E9E7E3"/>
                </a:solidFill>
                <a:latin typeface="Arial"/>
              </a:rPr>
              <a:t>32,767, one cycle</a:t>
            </a:r>
          </a:p>
        </p:txBody>
      </p:sp>
      <p:sp>
        <p:nvSpPr>
          <p:cNvPr id="17" name="TextBox 16"/>
          <p:cNvSpPr txBox="1"/>
          <p:nvPr/>
        </p:nvSpPr>
        <p:spPr>
          <a:xfrm>
            <a:off x="7007047" y="2816352"/>
            <a:ext cx="4450384" cy="475488"/>
          </a:xfrm>
          <a:prstGeom prst="rect">
            <a:avLst/>
          </a:prstGeom>
          <a:noFill/>
        </p:spPr>
        <p:txBody>
          <a:bodyPr wrap="square" lIns="0" rIns="0" tIns="0" bIns="0" anchor="ctr">
            <a:spAutoFit/>
          </a:bodyPr>
          <a:lstStyle/>
          <a:p>
            <a:pPr algn="l">
              <a:spcAft>
                <a:spcPts val="0"/>
              </a:spcAft>
            </a:pPr>
            <a:r>
              <a:rPr sz="1600" b="0">
                <a:solidFill>
                  <a:srgbClr val="E9E7E3"/>
                </a:solidFill>
                <a:latin typeface="Arial"/>
              </a:rPr>
              <a:t>202 to 37,758, depends on seed</a:t>
            </a:r>
          </a:p>
        </p:txBody>
      </p:sp>
      <p:sp>
        <p:nvSpPr>
          <p:cNvPr id="18" name="Rectangle 17"/>
          <p:cNvSpPr/>
          <p:nvPr/>
        </p:nvSpPr>
        <p:spPr>
          <a:xfrm>
            <a:off x="640080" y="3346704"/>
            <a:ext cx="10881360" cy="475488"/>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 y="3346704"/>
            <a:ext cx="64008" cy="475488"/>
          </a:xfrm>
          <a:prstGeom prst="rect">
            <a:avLst/>
          </a:prstGeom>
          <a:solidFill>
            <a:srgbClr val="E0A7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671" y="3346704"/>
            <a:ext cx="1947672" cy="475488"/>
          </a:xfrm>
          <a:prstGeom prst="rect">
            <a:avLst/>
          </a:prstGeom>
          <a:noFill/>
        </p:spPr>
        <p:txBody>
          <a:bodyPr wrap="square" lIns="0" rIns="0" tIns="0" bIns="0" anchor="ctr">
            <a:spAutoFit/>
          </a:bodyPr>
          <a:lstStyle/>
          <a:p>
            <a:pPr algn="l">
              <a:spcAft>
                <a:spcPts val="0"/>
              </a:spcAft>
            </a:pPr>
            <a:r>
              <a:rPr sz="1600" b="1">
                <a:solidFill>
                  <a:srgbClr val="5FCB7E"/>
                </a:solidFill>
                <a:latin typeface="Arial"/>
              </a:rPr>
              <a:t>Seed by default</a:t>
            </a:r>
          </a:p>
        </p:txBody>
      </p:sp>
      <p:sp>
        <p:nvSpPr>
          <p:cNvPr id="21" name="TextBox 20"/>
          <p:cNvSpPr txBox="1"/>
          <p:nvPr/>
        </p:nvSpPr>
        <p:spPr>
          <a:xfrm>
            <a:off x="2980944" y="3346704"/>
            <a:ext cx="3797503" cy="475488"/>
          </a:xfrm>
          <a:prstGeom prst="rect">
            <a:avLst/>
          </a:prstGeom>
          <a:noFill/>
        </p:spPr>
        <p:txBody>
          <a:bodyPr wrap="square" lIns="0" rIns="0" tIns="0" bIns="0" anchor="ctr">
            <a:spAutoFit/>
          </a:bodyPr>
          <a:lstStyle/>
          <a:p>
            <a:pPr algn="l">
              <a:spcAft>
                <a:spcPts val="0"/>
              </a:spcAft>
            </a:pPr>
            <a:r>
              <a:rPr sz="1600" b="1">
                <a:solidFill>
                  <a:srgbClr val="E0A73E"/>
                </a:solidFill>
                <a:latin typeface="Arial"/>
              </a:rPr>
              <a:t>Keypress timing, automatically</a:t>
            </a:r>
          </a:p>
        </p:txBody>
      </p:sp>
      <p:sp>
        <p:nvSpPr>
          <p:cNvPr id="22" name="TextBox 21"/>
          <p:cNvSpPr txBox="1"/>
          <p:nvPr/>
        </p:nvSpPr>
        <p:spPr>
          <a:xfrm>
            <a:off x="7007047" y="3346704"/>
            <a:ext cx="4450384" cy="475488"/>
          </a:xfrm>
          <a:prstGeom prst="rect">
            <a:avLst/>
          </a:prstGeom>
          <a:noFill/>
        </p:spPr>
        <p:txBody>
          <a:bodyPr wrap="square" lIns="0" rIns="0" tIns="0" bIns="0" anchor="ctr">
            <a:spAutoFit/>
          </a:bodyPr>
          <a:lstStyle/>
          <a:p>
            <a:pPr algn="l">
              <a:spcAft>
                <a:spcPts val="0"/>
              </a:spcAft>
            </a:pPr>
            <a:r>
              <a:rPr sz="1600" b="1">
                <a:solidFill>
                  <a:srgbClr val="E0A73E"/>
                </a:solidFill>
                <a:latin typeface="Arial"/>
              </a:rPr>
              <a:t>ROM, plus one leftover byte</a:t>
            </a:r>
          </a:p>
        </p:txBody>
      </p:sp>
      <p:sp>
        <p:nvSpPr>
          <p:cNvPr id="23" name="Rectangle 22"/>
          <p:cNvSpPr/>
          <p:nvPr/>
        </p:nvSpPr>
        <p:spPr>
          <a:xfrm>
            <a:off x="640080" y="3877056"/>
            <a:ext cx="10881360" cy="475488"/>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671" y="3877056"/>
            <a:ext cx="1947672" cy="475488"/>
          </a:xfrm>
          <a:prstGeom prst="rect">
            <a:avLst/>
          </a:prstGeom>
          <a:noFill/>
        </p:spPr>
        <p:txBody>
          <a:bodyPr wrap="square" lIns="0" rIns="0" tIns="0" bIns="0" anchor="ctr">
            <a:spAutoFit/>
          </a:bodyPr>
          <a:lstStyle/>
          <a:p>
            <a:pPr algn="l">
              <a:spcAft>
                <a:spcPts val="0"/>
              </a:spcAft>
            </a:pPr>
            <a:r>
              <a:rPr sz="1600" b="1">
                <a:solidFill>
                  <a:srgbClr val="5FCB7E"/>
                </a:solidFill>
                <a:latin typeface="Arial"/>
              </a:rPr>
              <a:t>Reads $4E/$4F</a:t>
            </a:r>
          </a:p>
        </p:txBody>
      </p:sp>
      <p:sp>
        <p:nvSpPr>
          <p:cNvPr id="25" name="TextBox 24"/>
          <p:cNvSpPr txBox="1"/>
          <p:nvPr/>
        </p:nvSpPr>
        <p:spPr>
          <a:xfrm>
            <a:off x="2980944" y="3877056"/>
            <a:ext cx="3797503" cy="475488"/>
          </a:xfrm>
          <a:prstGeom prst="rect">
            <a:avLst/>
          </a:prstGeom>
          <a:noFill/>
        </p:spPr>
        <p:txBody>
          <a:bodyPr wrap="square" lIns="0" rIns="0" tIns="0" bIns="0" anchor="ctr">
            <a:spAutoFit/>
          </a:bodyPr>
          <a:lstStyle/>
          <a:p>
            <a:pPr algn="l">
              <a:spcAft>
                <a:spcPts val="0"/>
              </a:spcAft>
            </a:pPr>
            <a:r>
              <a:rPr sz="1600" b="0">
                <a:solidFill>
                  <a:srgbClr val="E9E7E3"/>
                </a:solidFill>
                <a:latin typeface="Arial"/>
              </a:rPr>
              <a:t>It is $4E/$4F</a:t>
            </a:r>
          </a:p>
        </p:txBody>
      </p:sp>
      <p:sp>
        <p:nvSpPr>
          <p:cNvPr id="26" name="TextBox 25"/>
          <p:cNvSpPr txBox="1"/>
          <p:nvPr/>
        </p:nvSpPr>
        <p:spPr>
          <a:xfrm>
            <a:off x="7007047" y="3877056"/>
            <a:ext cx="4450384" cy="475488"/>
          </a:xfrm>
          <a:prstGeom prst="rect">
            <a:avLst/>
          </a:prstGeom>
          <a:noFill/>
        </p:spPr>
        <p:txBody>
          <a:bodyPr wrap="square" lIns="0" rIns="0" tIns="0" bIns="0" anchor="ctr">
            <a:spAutoFit/>
          </a:bodyPr>
          <a:lstStyle/>
          <a:p>
            <a:pPr algn="l">
              <a:spcAft>
                <a:spcPts val="0"/>
              </a:spcAft>
            </a:pPr>
            <a:r>
              <a:rPr sz="1600" b="0">
                <a:solidFill>
                  <a:srgbClr val="E9E7E3"/>
                </a:solidFill>
                <a:latin typeface="Arial"/>
              </a:rPr>
              <a:t>Never</a:t>
            </a:r>
          </a:p>
        </p:txBody>
      </p:sp>
      <p:sp>
        <p:nvSpPr>
          <p:cNvPr id="27" name="Rectangle 26"/>
          <p:cNvSpPr/>
          <p:nvPr/>
        </p:nvSpPr>
        <p:spPr>
          <a:xfrm>
            <a:off x="640080" y="4407408"/>
            <a:ext cx="10881360" cy="475488"/>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4671" y="4407408"/>
            <a:ext cx="1947672" cy="475488"/>
          </a:xfrm>
          <a:prstGeom prst="rect">
            <a:avLst/>
          </a:prstGeom>
          <a:noFill/>
        </p:spPr>
        <p:txBody>
          <a:bodyPr wrap="square" lIns="0" rIns="0" tIns="0" bIns="0" anchor="ctr">
            <a:spAutoFit/>
          </a:bodyPr>
          <a:lstStyle/>
          <a:p>
            <a:pPr algn="l">
              <a:spcAft>
                <a:spcPts val="0"/>
              </a:spcAft>
            </a:pPr>
            <a:r>
              <a:rPr sz="1600" b="1">
                <a:solidFill>
                  <a:srgbClr val="5FCB7E"/>
                </a:solidFill>
                <a:latin typeface="Arial"/>
              </a:rPr>
              <a:t>Programmer must</a:t>
            </a:r>
          </a:p>
        </p:txBody>
      </p:sp>
      <p:sp>
        <p:nvSpPr>
          <p:cNvPr id="29" name="TextBox 28"/>
          <p:cNvSpPr txBox="1"/>
          <p:nvPr/>
        </p:nvSpPr>
        <p:spPr>
          <a:xfrm>
            <a:off x="2980944" y="4407408"/>
            <a:ext cx="3797503" cy="475488"/>
          </a:xfrm>
          <a:prstGeom prst="rect">
            <a:avLst/>
          </a:prstGeom>
          <a:noFill/>
        </p:spPr>
        <p:txBody>
          <a:bodyPr wrap="square" lIns="0" rIns="0" tIns="0" bIns="0" anchor="ctr">
            <a:spAutoFit/>
          </a:bodyPr>
          <a:lstStyle/>
          <a:p>
            <a:pPr algn="l">
              <a:spcAft>
                <a:spcPts val="0"/>
              </a:spcAft>
            </a:pPr>
            <a:r>
              <a:rPr sz="1600" b="0">
                <a:solidFill>
                  <a:srgbClr val="E9E7E3"/>
                </a:solidFill>
                <a:latin typeface="Arial"/>
              </a:rPr>
              <a:t>Nothing</a:t>
            </a:r>
          </a:p>
        </p:txBody>
      </p:sp>
      <p:sp>
        <p:nvSpPr>
          <p:cNvPr id="30" name="TextBox 29"/>
          <p:cNvSpPr txBox="1"/>
          <p:nvPr/>
        </p:nvSpPr>
        <p:spPr>
          <a:xfrm>
            <a:off x="7007047" y="4407408"/>
            <a:ext cx="4450384" cy="475488"/>
          </a:xfrm>
          <a:prstGeom prst="rect">
            <a:avLst/>
          </a:prstGeom>
          <a:noFill/>
        </p:spPr>
        <p:txBody>
          <a:bodyPr wrap="square" lIns="0" rIns="0" tIns="0" bIns="0" anchor="ctr">
            <a:spAutoFit/>
          </a:bodyPr>
          <a:lstStyle/>
          <a:p>
            <a:pPr algn="l">
              <a:spcAft>
                <a:spcPts val="0"/>
              </a:spcAft>
            </a:pPr>
            <a:r>
              <a:rPr sz="1600" b="0">
                <a:solidFill>
                  <a:srgbClr val="E9E7E3"/>
                </a:solidFill>
                <a:latin typeface="Arial"/>
              </a:rPr>
              <a:t>RND(−(PEEK(78)+256*PEEK(79)))</a:t>
            </a:r>
          </a:p>
        </p:txBody>
      </p:sp>
      <p:sp>
        <p:nvSpPr>
          <p:cNvPr id="31" name="Rectangle 30"/>
          <p:cNvSpPr/>
          <p:nvPr/>
        </p:nvSpPr>
        <p:spPr>
          <a:xfrm>
            <a:off x="640080" y="5120640"/>
            <a:ext cx="10881360" cy="914400"/>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40080" y="5120640"/>
            <a:ext cx="64008" cy="914400"/>
          </a:xfrm>
          <a:prstGeom prst="rect">
            <a:avLst/>
          </a:prstGeom>
          <a:solidFill>
            <a:srgbClr val="E0A7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60119" y="5120640"/>
            <a:ext cx="10332720" cy="914400"/>
          </a:xfrm>
          <a:prstGeom prst="rect">
            <a:avLst/>
          </a:prstGeom>
          <a:noFill/>
        </p:spPr>
        <p:txBody>
          <a:bodyPr wrap="square" lIns="0" rIns="0" tIns="0" bIns="0" anchor="ctr">
            <a:spAutoFit/>
          </a:bodyPr>
          <a:lstStyle/>
          <a:p>
            <a:pPr algn="l">
              <a:spcAft>
                <a:spcPts val="400"/>
              </a:spcAft>
            </a:pPr>
            <a:r>
              <a:rPr sz="1900" b="0">
                <a:solidFill>
                  <a:srgbClr val="E9E7E3"/>
                </a:solidFill>
                <a:latin typeface="Arial"/>
              </a:rPr>
              <a:t>The machine didn’t lose its entropy source in 1978. The default stopped using 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7181A"/>
        </a:solidFill>
        <a:effectLst/>
      </p:bgPr>
    </p:bg>
    <p:spTree>
      <p:nvGrpSpPr>
        <p:cNvPr id="1" name=""/>
        <p:cNvGrpSpPr/>
        <p:nvPr/>
      </p:nvGrpSpPr>
      <p:grpSpPr/>
      <p:sp>
        <p:nvSpPr>
          <p:cNvPr id="2" name="Rectangle 1"/>
          <p:cNvSpPr/>
          <p:nvPr/>
        </p:nvSpPr>
        <p:spPr>
          <a:xfrm>
            <a:off x="10927080" y="384048"/>
            <a:ext cx="566928" cy="566928"/>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27080" y="384048"/>
            <a:ext cx="566928" cy="566928"/>
          </a:xfrm>
          <a:prstGeom prst="rect">
            <a:avLst/>
          </a:prstGeom>
          <a:noFill/>
        </p:spPr>
        <p:txBody>
          <a:bodyPr wrap="square" lIns="0" rIns="0" tIns="0" bIns="0" anchor="ctr">
            <a:spAutoFit/>
          </a:bodyPr>
          <a:lstStyle/>
          <a:p>
            <a:pPr algn="ctr">
              <a:spcAft>
                <a:spcPts val="0"/>
              </a:spcAft>
            </a:pPr>
            <a:r>
              <a:rPr sz="1500" b="1">
                <a:solidFill>
                  <a:srgbClr val="5FCB7E"/>
                </a:solidFill>
                <a:latin typeface="Courier New"/>
              </a:rPr>
              <a:t>11</a:t>
            </a:r>
          </a:p>
        </p:txBody>
      </p:sp>
      <p:sp>
        <p:nvSpPr>
          <p:cNvPr id="4" name="TextBox 3"/>
          <p:cNvSpPr txBox="1"/>
          <p:nvPr/>
        </p:nvSpPr>
        <p:spPr>
          <a:xfrm>
            <a:off x="640080" y="411480"/>
            <a:ext cx="10058400" cy="685800"/>
          </a:xfrm>
          <a:prstGeom prst="rect">
            <a:avLst/>
          </a:prstGeom>
          <a:noFill/>
        </p:spPr>
        <p:txBody>
          <a:bodyPr wrap="square" lIns="0" rIns="0" tIns="0" bIns="0" anchor="ctr">
            <a:spAutoFit/>
          </a:bodyPr>
          <a:lstStyle/>
          <a:p>
            <a:pPr algn="l">
              <a:spcAft>
                <a:spcPts val="0"/>
              </a:spcAft>
            </a:pPr>
            <a:r>
              <a:rPr sz="3200" b="1">
                <a:solidFill>
                  <a:srgbClr val="E9E7E3"/>
                </a:solidFill>
                <a:latin typeface="Arial"/>
              </a:rPr>
              <a:t>Why 1978 got worse</a:t>
            </a:r>
          </a:p>
        </p:txBody>
      </p:sp>
      <p:sp>
        <p:nvSpPr>
          <p:cNvPr id="5" name="TextBox 4"/>
          <p:cNvSpPr txBox="1"/>
          <p:nvPr/>
        </p:nvSpPr>
        <p:spPr>
          <a:xfrm>
            <a:off x="640080" y="6309360"/>
            <a:ext cx="10881360" cy="365760"/>
          </a:xfrm>
          <a:prstGeom prst="rect">
            <a:avLst/>
          </a:prstGeom>
          <a:noFill/>
        </p:spPr>
        <p:txBody>
          <a:bodyPr wrap="square" lIns="0" rIns="0" tIns="0" bIns="0" anchor="t">
            <a:spAutoFit/>
          </a:bodyPr>
          <a:lstStyle/>
          <a:p>
            <a:pPr algn="l">
              <a:spcAft>
                <a:spcPts val="0"/>
              </a:spcAft>
            </a:pPr>
            <a:r>
              <a:rPr sz="1050" b="0">
                <a:solidFill>
                  <a:srgbClr val="9DA39B"/>
                </a:solidFill>
                <a:latin typeface="Arial"/>
              </a:rPr>
              <a:t>Microsoft m6502.asm (IFE REALIO-3); Steil, msbasic; ROM comparison of II Plus, IIe, enhanced IIe; Weyhrich, Apple II History ch. 16</a:t>
            </a:r>
          </a:p>
        </p:txBody>
      </p:sp>
      <p:sp>
        <p:nvSpPr>
          <p:cNvPr id="6" name="TextBox 5"/>
          <p:cNvSpPr txBox="1"/>
          <p:nvPr/>
        </p:nvSpPr>
        <p:spPr>
          <a:xfrm>
            <a:off x="822960" y="1783080"/>
            <a:ext cx="10515600" cy="3200400"/>
          </a:xfrm>
          <a:prstGeom prst="rect">
            <a:avLst/>
          </a:prstGeom>
          <a:noFill/>
        </p:spPr>
        <p:txBody>
          <a:bodyPr wrap="square" lIns="0" rIns="0" tIns="0" bIns="0" anchor="t">
            <a:spAutoFit/>
          </a:bodyPr>
          <a:lstStyle/>
          <a:p>
            <a:pPr algn="l">
              <a:spcAft>
                <a:spcPts val="1400"/>
              </a:spcAft>
            </a:pPr>
            <a:r>
              <a:rPr sz="2000" b="0">
                <a:solidFill>
                  <a:srgbClr val="E9E7E3"/>
                </a:solidFill>
                <a:latin typeface="Arial"/>
              </a:rPr>
              <a:t>▸  Microsoft’s BASIC had two RNDs: timer-seeded for Commodore, a fixed seed for everyone else.</a:t>
            </a:r>
          </a:p>
          <a:p>
            <a:pPr algn="l">
              <a:spcAft>
                <a:spcPts val="1400"/>
              </a:spcAft>
            </a:pPr>
            <a:r>
              <a:rPr sz="2000" b="0">
                <a:solidFill>
                  <a:srgbClr val="E9E7E3"/>
                </a:solidFill>
                <a:latin typeface="Arial"/>
              </a:rPr>
              <a:t>▸  Apple got the everyone-else build.</a:t>
            </a:r>
          </a:p>
          <a:p>
            <a:pPr algn="l">
              <a:spcAft>
                <a:spcPts val="1400"/>
              </a:spcAft>
            </a:pPr>
            <a:r>
              <a:rPr sz="2000" b="0">
                <a:solidFill>
                  <a:srgbClr val="E9E7E3"/>
                </a:solidFill>
                <a:latin typeface="Arial"/>
              </a:rPr>
              <a:t>▸  Apple edited code inside the seed-copy loop (STX SPEEDZ at $F157) and kept the short count.</a:t>
            </a:r>
          </a:p>
          <a:p>
            <a:pPr algn="l">
              <a:spcAft>
                <a:spcPts val="1400"/>
              </a:spcAft>
            </a:pPr>
            <a:r>
              <a:rPr sz="2000" b="0">
                <a:solidFill>
                  <a:srgbClr val="E9E7E3"/>
                </a:solidFill>
                <a:latin typeface="Arial"/>
              </a:rPr>
              <a:t>▸  The same RND bytes shipped in the II Plus, IIe and enhanced IIe ROMs.</a:t>
            </a:r>
          </a:p>
        </p:txBody>
      </p:sp>
      <p:sp>
        <p:nvSpPr>
          <p:cNvPr id="7" name="Rectangle 6"/>
          <p:cNvSpPr/>
          <p:nvPr/>
        </p:nvSpPr>
        <p:spPr>
          <a:xfrm>
            <a:off x="640080" y="5120640"/>
            <a:ext cx="10881360" cy="960120"/>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5120640"/>
            <a:ext cx="64008" cy="960120"/>
          </a:xfrm>
          <a:prstGeom prst="rect">
            <a:avLst/>
          </a:prstGeom>
          <a:solidFill>
            <a:srgbClr val="E0A7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19" y="5120640"/>
            <a:ext cx="10332720" cy="960120"/>
          </a:xfrm>
          <a:prstGeom prst="rect">
            <a:avLst/>
          </a:prstGeom>
          <a:noFill/>
        </p:spPr>
        <p:txBody>
          <a:bodyPr wrap="square" lIns="0" rIns="0" tIns="0" bIns="0" anchor="ctr">
            <a:spAutoFit/>
          </a:bodyPr>
          <a:lstStyle/>
          <a:p>
            <a:pPr algn="l">
              <a:spcAft>
                <a:spcPts val="400"/>
              </a:spcAft>
            </a:pPr>
            <a:r>
              <a:rPr sz="1900" b="0">
                <a:solidFill>
                  <a:srgbClr val="E9E7E3"/>
                </a:solidFill>
                <a:latin typeface="Arial"/>
              </a:rPr>
              <a:t>No record explains why. Nobody connected the counter the monitor was already running.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7181A"/>
        </a:solidFill>
        <a:effectLst/>
      </p:bgPr>
    </p:bg>
    <p:spTree>
      <p:nvGrpSpPr>
        <p:cNvPr id="1" name=""/>
        <p:cNvGrpSpPr/>
        <p:nvPr/>
      </p:nvGrpSpPr>
      <p:grpSpPr/>
      <p:sp>
        <p:nvSpPr>
          <p:cNvPr id="2" name="Rectangle 1"/>
          <p:cNvSpPr/>
          <p:nvPr/>
        </p:nvSpPr>
        <p:spPr>
          <a:xfrm>
            <a:off x="10927080" y="384048"/>
            <a:ext cx="566928" cy="566928"/>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27080" y="384048"/>
            <a:ext cx="566928" cy="566928"/>
          </a:xfrm>
          <a:prstGeom prst="rect">
            <a:avLst/>
          </a:prstGeom>
          <a:noFill/>
        </p:spPr>
        <p:txBody>
          <a:bodyPr wrap="square" lIns="0" rIns="0" tIns="0" bIns="0" anchor="ctr">
            <a:spAutoFit/>
          </a:bodyPr>
          <a:lstStyle/>
          <a:p>
            <a:pPr algn="ctr">
              <a:spcAft>
                <a:spcPts val="0"/>
              </a:spcAft>
            </a:pPr>
            <a:r>
              <a:rPr sz="1500" b="1">
                <a:solidFill>
                  <a:srgbClr val="5FCB7E"/>
                </a:solidFill>
                <a:latin typeface="Courier New"/>
              </a:rPr>
              <a:t>12</a:t>
            </a:r>
          </a:p>
        </p:txBody>
      </p:sp>
      <p:sp>
        <p:nvSpPr>
          <p:cNvPr id="4" name="TextBox 3"/>
          <p:cNvSpPr txBox="1"/>
          <p:nvPr/>
        </p:nvSpPr>
        <p:spPr>
          <a:xfrm>
            <a:off x="640080" y="411480"/>
            <a:ext cx="10058400" cy="685800"/>
          </a:xfrm>
          <a:prstGeom prst="rect">
            <a:avLst/>
          </a:prstGeom>
          <a:noFill/>
        </p:spPr>
        <p:txBody>
          <a:bodyPr wrap="square" lIns="0" rIns="0" tIns="0" bIns="0" anchor="ctr">
            <a:spAutoFit/>
          </a:bodyPr>
          <a:lstStyle/>
          <a:p>
            <a:pPr algn="l">
              <a:spcAft>
                <a:spcPts val="0"/>
              </a:spcAft>
            </a:pPr>
            <a:r>
              <a:rPr sz="3200" b="1">
                <a:solidFill>
                  <a:srgbClr val="E9E7E3"/>
                </a:solidFill>
                <a:latin typeface="Arial"/>
              </a:rPr>
              <a:t>The damage</a:t>
            </a:r>
          </a:p>
        </p:txBody>
      </p:sp>
      <p:sp>
        <p:nvSpPr>
          <p:cNvPr id="5" name="TextBox 4"/>
          <p:cNvSpPr txBox="1"/>
          <p:nvPr/>
        </p:nvSpPr>
        <p:spPr>
          <a:xfrm>
            <a:off x="640080" y="6309360"/>
            <a:ext cx="10881360" cy="365760"/>
          </a:xfrm>
          <a:prstGeom prst="rect">
            <a:avLst/>
          </a:prstGeom>
          <a:noFill/>
        </p:spPr>
        <p:txBody>
          <a:bodyPr wrap="square" lIns="0" rIns="0" tIns="0" bIns="0" anchor="t">
            <a:spAutoFit/>
          </a:bodyPr>
          <a:lstStyle/>
          <a:p>
            <a:pPr algn="l">
              <a:spcAft>
                <a:spcPts val="0"/>
              </a:spcAft>
            </a:pPr>
            <a:r>
              <a:rPr sz="1050" b="0">
                <a:solidFill>
                  <a:srgbClr val="9DA39B"/>
                </a:solidFill>
                <a:latin typeface="Arial"/>
              </a:rPr>
              <a:t>Aldridge, Behavior Research Methods, Instruments, &amp; Computers 19(4):397–399, 1987</a:t>
            </a:r>
          </a:p>
        </p:txBody>
      </p:sp>
      <p:sp>
        <p:nvSpPr>
          <p:cNvPr id="6" name="Rectangle 5"/>
          <p:cNvSpPr/>
          <p:nvPr/>
        </p:nvSpPr>
        <p:spPr>
          <a:xfrm>
            <a:off x="640080" y="1600200"/>
            <a:ext cx="10881360" cy="2651760"/>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600200"/>
            <a:ext cx="64008" cy="2651760"/>
          </a:xfrm>
          <a:prstGeom prst="rect">
            <a:avLst/>
          </a:prstGeom>
          <a:solidFill>
            <a:srgbClr val="E0A7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691640"/>
            <a:ext cx="10058400" cy="2011680"/>
          </a:xfrm>
          <a:prstGeom prst="rect">
            <a:avLst/>
          </a:prstGeom>
          <a:noFill/>
        </p:spPr>
        <p:txBody>
          <a:bodyPr wrap="square" lIns="0" rIns="0" tIns="0" bIns="0" anchor="ctr">
            <a:spAutoFit/>
          </a:bodyPr>
          <a:lstStyle/>
          <a:p>
            <a:pPr algn="l">
              <a:spcAft>
                <a:spcPts val="0"/>
              </a:spcAft>
            </a:pPr>
            <a:r>
              <a:rPr sz="2600" b="0">
                <a:solidFill>
                  <a:srgbClr val="E9E7E3"/>
                </a:solidFill>
                <a:latin typeface="Arial"/>
              </a:rPr>
              <a:t>“…the subjects receiving the repeated lists were those tested at the beginning of each day, immediately after the computer had been turned on.”</a:t>
            </a:r>
          </a:p>
        </p:txBody>
      </p:sp>
      <p:sp>
        <p:nvSpPr>
          <p:cNvPr id="9" name="TextBox 8"/>
          <p:cNvSpPr txBox="1"/>
          <p:nvPr/>
        </p:nvSpPr>
        <p:spPr>
          <a:xfrm>
            <a:off x="1097280" y="3657600"/>
            <a:ext cx="10058400" cy="457200"/>
          </a:xfrm>
          <a:prstGeom prst="rect">
            <a:avLst/>
          </a:prstGeom>
          <a:noFill/>
        </p:spPr>
        <p:txBody>
          <a:bodyPr wrap="square" lIns="0" rIns="0" tIns="0" bIns="0" anchor="t">
            <a:spAutoFit/>
          </a:bodyPr>
          <a:lstStyle/>
          <a:p>
            <a:pPr algn="l">
              <a:spcAft>
                <a:spcPts val="0"/>
              </a:spcAft>
            </a:pPr>
            <a:r>
              <a:rPr sz="1500" b="0">
                <a:solidFill>
                  <a:srgbClr val="9DA39B"/>
                </a:solidFill>
                <a:latin typeface="Arial"/>
              </a:rPr>
              <a:t>Aldridge, 1987: a memory experiment with “individually randomized” word lists</a:t>
            </a:r>
          </a:p>
        </p:txBody>
      </p:sp>
      <p:sp>
        <p:nvSpPr>
          <p:cNvPr id="10" name="TextBox 9"/>
          <p:cNvSpPr txBox="1"/>
          <p:nvPr/>
        </p:nvSpPr>
        <p:spPr>
          <a:xfrm>
            <a:off x="822960" y="4572000"/>
            <a:ext cx="10515600" cy="1371600"/>
          </a:xfrm>
          <a:prstGeom prst="rect">
            <a:avLst/>
          </a:prstGeom>
          <a:noFill/>
        </p:spPr>
        <p:txBody>
          <a:bodyPr wrap="square" lIns="0" rIns="0" tIns="0" bIns="0" anchor="t">
            <a:spAutoFit/>
          </a:bodyPr>
          <a:lstStyle/>
          <a:p>
            <a:pPr algn="l">
              <a:spcAft>
                <a:spcPts val="1000"/>
              </a:spcAft>
            </a:pPr>
            <a:r>
              <a:rPr sz="1900" b="0">
                <a:solidFill>
                  <a:srgbClr val="E9E7E3"/>
                </a:solidFill>
                <a:latin typeface="Arial"/>
              </a:rPr>
              <a:t>▸  Kaner &amp; Vokey needed RND to randomize experiments too.</a:t>
            </a:r>
          </a:p>
          <a:p>
            <a:pPr algn="l">
              <a:spcAft>
                <a:spcPts val="1000"/>
              </a:spcAft>
            </a:pPr>
            <a:r>
              <a:rPr sz="1900" b="0">
                <a:solidFill>
                  <a:srgbClr val="E9E7E3"/>
                </a:solidFill>
                <a:latin typeface="Arial"/>
              </a:rPr>
              <a:t>▸  Published research ran on this generator.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7181A"/>
        </a:solidFill>
        <a:effectLst/>
      </p:bgPr>
    </p:bg>
    <p:spTree>
      <p:nvGrpSpPr>
        <p:cNvPr id="1" name=""/>
        <p:cNvGrpSpPr/>
        <p:nvPr/>
      </p:nvGrpSpPr>
      <p:grpSpPr/>
      <p:sp>
        <p:nvSpPr>
          <p:cNvPr id="2" name="Rectangle 1"/>
          <p:cNvSpPr/>
          <p:nvPr/>
        </p:nvSpPr>
        <p:spPr>
          <a:xfrm>
            <a:off x="10927080" y="384048"/>
            <a:ext cx="566928" cy="566928"/>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27080" y="384048"/>
            <a:ext cx="566928" cy="566928"/>
          </a:xfrm>
          <a:prstGeom prst="rect">
            <a:avLst/>
          </a:prstGeom>
          <a:noFill/>
        </p:spPr>
        <p:txBody>
          <a:bodyPr wrap="square" lIns="0" rIns="0" tIns="0" bIns="0" anchor="ctr">
            <a:spAutoFit/>
          </a:bodyPr>
          <a:lstStyle/>
          <a:p>
            <a:pPr algn="ctr">
              <a:spcAft>
                <a:spcPts val="0"/>
              </a:spcAft>
            </a:pPr>
            <a:r>
              <a:rPr sz="1500" b="1">
                <a:solidFill>
                  <a:srgbClr val="5FCB7E"/>
                </a:solidFill>
                <a:latin typeface="Courier New"/>
              </a:rPr>
              <a:t>13</a:t>
            </a:r>
          </a:p>
        </p:txBody>
      </p:sp>
      <p:sp>
        <p:nvSpPr>
          <p:cNvPr id="4" name="TextBox 3"/>
          <p:cNvSpPr txBox="1"/>
          <p:nvPr/>
        </p:nvSpPr>
        <p:spPr>
          <a:xfrm>
            <a:off x="640080" y="411480"/>
            <a:ext cx="10058400" cy="685800"/>
          </a:xfrm>
          <a:prstGeom prst="rect">
            <a:avLst/>
          </a:prstGeom>
          <a:noFill/>
        </p:spPr>
        <p:txBody>
          <a:bodyPr wrap="square" lIns="0" rIns="0" tIns="0" bIns="0" anchor="ctr">
            <a:spAutoFit/>
          </a:bodyPr>
          <a:lstStyle/>
          <a:p>
            <a:pPr algn="l">
              <a:spcAft>
                <a:spcPts val="0"/>
              </a:spcAft>
            </a:pPr>
            <a:r>
              <a:rPr sz="3200" b="1">
                <a:solidFill>
                  <a:srgbClr val="E9E7E3"/>
                </a:solidFill>
                <a:latin typeface="Arial"/>
              </a:rPr>
              <a:t>Found, reported, worked around</a:t>
            </a:r>
          </a:p>
        </p:txBody>
      </p:sp>
      <p:sp>
        <p:nvSpPr>
          <p:cNvPr id="5" name="TextBox 4"/>
          <p:cNvSpPr txBox="1"/>
          <p:nvPr/>
        </p:nvSpPr>
        <p:spPr>
          <a:xfrm>
            <a:off x="777240" y="1783080"/>
            <a:ext cx="1231696" cy="384048"/>
          </a:xfrm>
          <a:prstGeom prst="rect">
            <a:avLst/>
          </a:prstGeom>
          <a:noFill/>
        </p:spPr>
        <p:txBody>
          <a:bodyPr wrap="square" lIns="0" rIns="0" tIns="0" bIns="0" anchor="ctr">
            <a:spAutoFit/>
          </a:bodyPr>
          <a:lstStyle/>
          <a:p>
            <a:pPr algn="l">
              <a:spcAft>
                <a:spcPts val="0"/>
              </a:spcAft>
            </a:pPr>
            <a:r>
              <a:rPr sz="1300" b="1">
                <a:solidFill>
                  <a:srgbClr val="9DA39B"/>
                </a:solidFill>
                <a:latin typeface="Arial"/>
              </a:rPr>
              <a:t>Year</a:t>
            </a:r>
          </a:p>
        </p:txBody>
      </p:sp>
      <p:sp>
        <p:nvSpPr>
          <p:cNvPr id="6" name="TextBox 5"/>
          <p:cNvSpPr txBox="1"/>
          <p:nvPr/>
        </p:nvSpPr>
        <p:spPr>
          <a:xfrm>
            <a:off x="2191816" y="1783080"/>
            <a:ext cx="3081527" cy="384048"/>
          </a:xfrm>
          <a:prstGeom prst="rect">
            <a:avLst/>
          </a:prstGeom>
          <a:noFill/>
        </p:spPr>
        <p:txBody>
          <a:bodyPr wrap="square" lIns="0" rIns="0" tIns="0" bIns="0" anchor="ctr">
            <a:spAutoFit/>
          </a:bodyPr>
          <a:lstStyle/>
          <a:p>
            <a:pPr algn="l">
              <a:spcAft>
                <a:spcPts val="0"/>
              </a:spcAft>
            </a:pPr>
            <a:r>
              <a:rPr sz="1300" b="1">
                <a:solidFill>
                  <a:srgbClr val="9DA39B"/>
                </a:solidFill>
                <a:latin typeface="Arial"/>
              </a:rPr>
              <a:t>Who</a:t>
            </a:r>
          </a:p>
        </p:txBody>
      </p:sp>
      <p:sp>
        <p:nvSpPr>
          <p:cNvPr id="7" name="TextBox 6"/>
          <p:cNvSpPr txBox="1"/>
          <p:nvPr/>
        </p:nvSpPr>
        <p:spPr>
          <a:xfrm>
            <a:off x="5456224" y="1783080"/>
            <a:ext cx="6019495" cy="384048"/>
          </a:xfrm>
          <a:prstGeom prst="rect">
            <a:avLst/>
          </a:prstGeom>
          <a:noFill/>
        </p:spPr>
        <p:txBody>
          <a:bodyPr wrap="square" lIns="0" rIns="0" tIns="0" bIns="0" anchor="ctr">
            <a:spAutoFit/>
          </a:bodyPr>
          <a:lstStyle/>
          <a:p>
            <a:pPr algn="l">
              <a:spcAft>
                <a:spcPts val="0"/>
              </a:spcAft>
            </a:pPr>
            <a:r>
              <a:rPr sz="1300" b="1">
                <a:solidFill>
                  <a:srgbClr val="9DA39B"/>
                </a:solidFill>
                <a:latin typeface="Arial"/>
              </a:rPr>
              <a:t>What</a:t>
            </a:r>
          </a:p>
        </p:txBody>
      </p:sp>
      <p:sp>
        <p:nvSpPr>
          <p:cNvPr id="8" name="Rectangle 7"/>
          <p:cNvSpPr/>
          <p:nvPr/>
        </p:nvSpPr>
        <p:spPr>
          <a:xfrm>
            <a:off x="640080" y="2194560"/>
            <a:ext cx="10881360" cy="13716"/>
          </a:xfrm>
          <a:prstGeom prst="rect">
            <a:avLst/>
          </a:prstGeom>
          <a:solidFill>
            <a:srgbClr val="3A3E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2286000"/>
            <a:ext cx="10881360" cy="420624"/>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1" y="2286000"/>
            <a:ext cx="1185976" cy="420624"/>
          </a:xfrm>
          <a:prstGeom prst="rect">
            <a:avLst/>
          </a:prstGeom>
          <a:noFill/>
        </p:spPr>
        <p:txBody>
          <a:bodyPr wrap="square" lIns="0" rIns="0" tIns="0" bIns="0" anchor="ctr">
            <a:spAutoFit/>
          </a:bodyPr>
          <a:lstStyle/>
          <a:p>
            <a:pPr algn="l">
              <a:spcAft>
                <a:spcPts val="0"/>
              </a:spcAft>
            </a:pPr>
            <a:r>
              <a:rPr sz="1600" b="1">
                <a:solidFill>
                  <a:srgbClr val="5FCB7E"/>
                </a:solidFill>
                <a:latin typeface="Arial"/>
              </a:rPr>
              <a:t>1982/84</a:t>
            </a:r>
          </a:p>
        </p:txBody>
      </p:sp>
      <p:sp>
        <p:nvSpPr>
          <p:cNvPr id="11" name="TextBox 10"/>
          <p:cNvSpPr txBox="1"/>
          <p:nvPr/>
        </p:nvSpPr>
        <p:spPr>
          <a:xfrm>
            <a:off x="2219248" y="2286000"/>
            <a:ext cx="3035808" cy="420624"/>
          </a:xfrm>
          <a:prstGeom prst="rect">
            <a:avLst/>
          </a:prstGeom>
          <a:noFill/>
        </p:spPr>
        <p:txBody>
          <a:bodyPr wrap="square" lIns="0" rIns="0" tIns="0" bIns="0" anchor="ctr">
            <a:spAutoFit/>
          </a:bodyPr>
          <a:lstStyle/>
          <a:p>
            <a:pPr algn="l">
              <a:spcAft>
                <a:spcPts val="0"/>
              </a:spcAft>
            </a:pPr>
            <a:r>
              <a:rPr sz="1600" b="0">
                <a:solidFill>
                  <a:srgbClr val="E9E7E3"/>
                </a:solidFill>
                <a:latin typeface="Arial"/>
              </a:rPr>
              <a:t>Kaner &amp; Vokey, MICRO</a:t>
            </a:r>
          </a:p>
        </p:txBody>
      </p:sp>
      <p:sp>
        <p:nvSpPr>
          <p:cNvPr id="12" name="TextBox 11"/>
          <p:cNvSpPr txBox="1"/>
          <p:nvPr/>
        </p:nvSpPr>
        <p:spPr>
          <a:xfrm>
            <a:off x="5483656" y="2286000"/>
            <a:ext cx="5973775" cy="420624"/>
          </a:xfrm>
          <a:prstGeom prst="rect">
            <a:avLst/>
          </a:prstGeom>
          <a:noFill/>
        </p:spPr>
        <p:txBody>
          <a:bodyPr wrap="square" lIns="0" rIns="0" tIns="0" bIns="0" anchor="ctr">
            <a:spAutoFit/>
          </a:bodyPr>
          <a:lstStyle/>
          <a:p>
            <a:pPr algn="l">
              <a:spcAft>
                <a:spcPts val="0"/>
              </a:spcAft>
            </a:pPr>
            <a:r>
              <a:rPr sz="1600" b="0">
                <a:solidFill>
                  <a:srgbClr val="E9E7E3"/>
                </a:solidFill>
                <a:latin typeface="Arial"/>
              </a:rPr>
              <a:t>Loop of 202 numbers; replacement generator</a:t>
            </a:r>
          </a:p>
        </p:txBody>
      </p:sp>
      <p:sp>
        <p:nvSpPr>
          <p:cNvPr id="13" name="Rectangle 12"/>
          <p:cNvSpPr/>
          <p:nvPr/>
        </p:nvSpPr>
        <p:spPr>
          <a:xfrm>
            <a:off x="640080" y="2761488"/>
            <a:ext cx="10881360" cy="420624"/>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1" y="2761488"/>
            <a:ext cx="1185976" cy="420624"/>
          </a:xfrm>
          <a:prstGeom prst="rect">
            <a:avLst/>
          </a:prstGeom>
          <a:noFill/>
        </p:spPr>
        <p:txBody>
          <a:bodyPr wrap="square" lIns="0" rIns="0" tIns="0" bIns="0" anchor="ctr">
            <a:spAutoFit/>
          </a:bodyPr>
          <a:lstStyle/>
          <a:p>
            <a:pPr algn="l">
              <a:spcAft>
                <a:spcPts val="0"/>
              </a:spcAft>
            </a:pPr>
            <a:r>
              <a:rPr sz="1600" b="1">
                <a:solidFill>
                  <a:srgbClr val="5FCB7E"/>
                </a:solidFill>
                <a:latin typeface="Arial"/>
              </a:rPr>
              <a:t>1983</a:t>
            </a:r>
          </a:p>
        </p:txBody>
      </p:sp>
      <p:sp>
        <p:nvSpPr>
          <p:cNvPr id="15" name="TextBox 14"/>
          <p:cNvSpPr txBox="1"/>
          <p:nvPr/>
        </p:nvSpPr>
        <p:spPr>
          <a:xfrm>
            <a:off x="2219248" y="2761488"/>
            <a:ext cx="3035808" cy="420624"/>
          </a:xfrm>
          <a:prstGeom prst="rect">
            <a:avLst/>
          </a:prstGeom>
          <a:noFill/>
        </p:spPr>
        <p:txBody>
          <a:bodyPr wrap="square" lIns="0" rIns="0" tIns="0" bIns="0" anchor="ctr">
            <a:spAutoFit/>
          </a:bodyPr>
          <a:lstStyle/>
          <a:p>
            <a:pPr algn="l">
              <a:spcAft>
                <a:spcPts val="0"/>
              </a:spcAft>
            </a:pPr>
            <a:r>
              <a:rPr sz="1600" b="0">
                <a:solidFill>
                  <a:srgbClr val="E9E7E3"/>
                </a:solidFill>
                <a:latin typeface="Arial"/>
              </a:rPr>
              <a:t>Call-A.P.P.L.E.</a:t>
            </a:r>
          </a:p>
        </p:txBody>
      </p:sp>
      <p:sp>
        <p:nvSpPr>
          <p:cNvPr id="16" name="TextBox 15"/>
          <p:cNvSpPr txBox="1"/>
          <p:nvPr/>
        </p:nvSpPr>
        <p:spPr>
          <a:xfrm>
            <a:off x="5483656" y="2761488"/>
            <a:ext cx="5973775" cy="420624"/>
          </a:xfrm>
          <a:prstGeom prst="rect">
            <a:avLst/>
          </a:prstGeom>
          <a:noFill/>
        </p:spPr>
        <p:txBody>
          <a:bodyPr wrap="square" lIns="0" rIns="0" tIns="0" bIns="0" anchor="ctr">
            <a:spAutoFit/>
          </a:bodyPr>
          <a:lstStyle/>
          <a:p>
            <a:pPr algn="l">
              <a:spcAft>
                <a:spcPts val="0"/>
              </a:spcAft>
            </a:pPr>
            <a:r>
              <a:rPr sz="1600" b="0">
                <a:solidFill>
                  <a:srgbClr val="E9E7E3"/>
                </a:solidFill>
                <a:latin typeface="Arial"/>
              </a:rPr>
              <a:t>“RND is Fatally Flawed,” pp. 29–34</a:t>
            </a:r>
          </a:p>
        </p:txBody>
      </p:sp>
      <p:sp>
        <p:nvSpPr>
          <p:cNvPr id="17" name="Rectangle 16"/>
          <p:cNvSpPr/>
          <p:nvPr/>
        </p:nvSpPr>
        <p:spPr>
          <a:xfrm>
            <a:off x="640080" y="3236976"/>
            <a:ext cx="10881360" cy="420624"/>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1" y="3236976"/>
            <a:ext cx="1185976" cy="420624"/>
          </a:xfrm>
          <a:prstGeom prst="rect">
            <a:avLst/>
          </a:prstGeom>
          <a:noFill/>
        </p:spPr>
        <p:txBody>
          <a:bodyPr wrap="square" lIns="0" rIns="0" tIns="0" bIns="0" anchor="ctr">
            <a:spAutoFit/>
          </a:bodyPr>
          <a:lstStyle/>
          <a:p>
            <a:pPr algn="l">
              <a:spcAft>
                <a:spcPts val="0"/>
              </a:spcAft>
            </a:pPr>
            <a:r>
              <a:rPr sz="1600" b="1">
                <a:solidFill>
                  <a:srgbClr val="5FCB7E"/>
                </a:solidFill>
                <a:latin typeface="Arial"/>
              </a:rPr>
              <a:t>1984</a:t>
            </a:r>
          </a:p>
        </p:txBody>
      </p:sp>
      <p:sp>
        <p:nvSpPr>
          <p:cNvPr id="19" name="TextBox 18"/>
          <p:cNvSpPr txBox="1"/>
          <p:nvPr/>
        </p:nvSpPr>
        <p:spPr>
          <a:xfrm>
            <a:off x="2219248" y="3236976"/>
            <a:ext cx="3035808" cy="420624"/>
          </a:xfrm>
          <a:prstGeom prst="rect">
            <a:avLst/>
          </a:prstGeom>
          <a:noFill/>
        </p:spPr>
        <p:txBody>
          <a:bodyPr wrap="square" lIns="0" rIns="0" tIns="0" bIns="0" anchor="ctr">
            <a:spAutoFit/>
          </a:bodyPr>
          <a:lstStyle/>
          <a:p>
            <a:pPr algn="l">
              <a:spcAft>
                <a:spcPts val="0"/>
              </a:spcAft>
            </a:pPr>
            <a:r>
              <a:rPr sz="1600" b="0">
                <a:solidFill>
                  <a:srgbClr val="E9E7E3"/>
                </a:solidFill>
                <a:latin typeface="Arial"/>
              </a:rPr>
              <a:t>Sander-Cederlof, AAL</a:t>
            </a:r>
          </a:p>
        </p:txBody>
      </p:sp>
      <p:sp>
        <p:nvSpPr>
          <p:cNvPr id="20" name="TextBox 19"/>
          <p:cNvSpPr txBox="1"/>
          <p:nvPr/>
        </p:nvSpPr>
        <p:spPr>
          <a:xfrm>
            <a:off x="5483656" y="3236976"/>
            <a:ext cx="5973775" cy="420624"/>
          </a:xfrm>
          <a:prstGeom prst="rect">
            <a:avLst/>
          </a:prstGeom>
          <a:noFill/>
        </p:spPr>
        <p:txBody>
          <a:bodyPr wrap="square" lIns="0" rIns="0" tIns="0" bIns="0" anchor="ctr">
            <a:spAutoFit/>
          </a:bodyPr>
          <a:lstStyle/>
          <a:p>
            <a:pPr algn="l">
              <a:spcAft>
                <a:spcPts val="0"/>
              </a:spcAft>
            </a:pPr>
            <a:r>
              <a:rPr sz="1600" b="0">
                <a:solidFill>
                  <a:srgbClr val="E9E7E3"/>
                </a:solidFill>
                <a:latin typeface="Arial"/>
              </a:rPr>
              <a:t>Seed copies 4 of 5 bytes; repetition at 37,758</a:t>
            </a:r>
          </a:p>
        </p:txBody>
      </p:sp>
      <p:sp>
        <p:nvSpPr>
          <p:cNvPr id="21" name="Rectangle 20"/>
          <p:cNvSpPr/>
          <p:nvPr/>
        </p:nvSpPr>
        <p:spPr>
          <a:xfrm>
            <a:off x="640080" y="3712464"/>
            <a:ext cx="10881360" cy="420624"/>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1" y="3712464"/>
            <a:ext cx="1185976" cy="420624"/>
          </a:xfrm>
          <a:prstGeom prst="rect">
            <a:avLst/>
          </a:prstGeom>
          <a:noFill/>
        </p:spPr>
        <p:txBody>
          <a:bodyPr wrap="square" lIns="0" rIns="0" tIns="0" bIns="0" anchor="ctr">
            <a:spAutoFit/>
          </a:bodyPr>
          <a:lstStyle/>
          <a:p>
            <a:pPr algn="l">
              <a:spcAft>
                <a:spcPts val="0"/>
              </a:spcAft>
            </a:pPr>
            <a:r>
              <a:rPr sz="1600" b="1">
                <a:solidFill>
                  <a:srgbClr val="5FCB7E"/>
                </a:solidFill>
                <a:latin typeface="Arial"/>
              </a:rPr>
              <a:t>1987</a:t>
            </a:r>
          </a:p>
        </p:txBody>
      </p:sp>
      <p:sp>
        <p:nvSpPr>
          <p:cNvPr id="23" name="TextBox 22"/>
          <p:cNvSpPr txBox="1"/>
          <p:nvPr/>
        </p:nvSpPr>
        <p:spPr>
          <a:xfrm>
            <a:off x="2219248" y="3712464"/>
            <a:ext cx="3035808" cy="420624"/>
          </a:xfrm>
          <a:prstGeom prst="rect">
            <a:avLst/>
          </a:prstGeom>
          <a:noFill/>
        </p:spPr>
        <p:txBody>
          <a:bodyPr wrap="square" lIns="0" rIns="0" tIns="0" bIns="0" anchor="ctr">
            <a:spAutoFit/>
          </a:bodyPr>
          <a:lstStyle/>
          <a:p>
            <a:pPr algn="l">
              <a:spcAft>
                <a:spcPts val="0"/>
              </a:spcAft>
            </a:pPr>
            <a:r>
              <a:rPr sz="1600" b="0">
                <a:solidFill>
                  <a:srgbClr val="E9E7E3"/>
                </a:solidFill>
                <a:latin typeface="Arial"/>
              </a:rPr>
              <a:t>Aldridge, BRMIC</a:t>
            </a:r>
          </a:p>
        </p:txBody>
      </p:sp>
      <p:sp>
        <p:nvSpPr>
          <p:cNvPr id="24" name="TextBox 23"/>
          <p:cNvSpPr txBox="1"/>
          <p:nvPr/>
        </p:nvSpPr>
        <p:spPr>
          <a:xfrm>
            <a:off x="5483656" y="3712464"/>
            <a:ext cx="5973775" cy="420624"/>
          </a:xfrm>
          <a:prstGeom prst="rect">
            <a:avLst/>
          </a:prstGeom>
          <a:noFill/>
        </p:spPr>
        <p:txBody>
          <a:bodyPr wrap="square" lIns="0" rIns="0" tIns="0" bIns="0" anchor="ctr">
            <a:spAutoFit/>
          </a:bodyPr>
          <a:lstStyle/>
          <a:p>
            <a:pPr algn="l">
              <a:spcAft>
                <a:spcPts val="0"/>
              </a:spcAft>
            </a:pPr>
            <a:r>
              <a:rPr sz="1600" b="0">
                <a:solidFill>
                  <a:srgbClr val="E9E7E3"/>
                </a:solidFill>
                <a:latin typeface="Arial"/>
              </a:rPr>
              <a:t>Same word lists every morning; Apple’s advice: seed from $4E/$4F</a:t>
            </a:r>
          </a:p>
        </p:txBody>
      </p:sp>
      <p:sp>
        <p:nvSpPr>
          <p:cNvPr id="25" name="Rectangle 24"/>
          <p:cNvSpPr/>
          <p:nvPr/>
        </p:nvSpPr>
        <p:spPr>
          <a:xfrm>
            <a:off x="640080" y="4187952"/>
            <a:ext cx="10881360" cy="420624"/>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671" y="4187952"/>
            <a:ext cx="1185976" cy="420624"/>
          </a:xfrm>
          <a:prstGeom prst="rect">
            <a:avLst/>
          </a:prstGeom>
          <a:noFill/>
        </p:spPr>
        <p:txBody>
          <a:bodyPr wrap="square" lIns="0" rIns="0" tIns="0" bIns="0" anchor="ctr">
            <a:spAutoFit/>
          </a:bodyPr>
          <a:lstStyle/>
          <a:p>
            <a:pPr algn="l">
              <a:spcAft>
                <a:spcPts val="0"/>
              </a:spcAft>
            </a:pPr>
            <a:r>
              <a:rPr sz="1600" b="1">
                <a:solidFill>
                  <a:srgbClr val="5FCB7E"/>
                </a:solidFill>
                <a:latin typeface="Arial"/>
              </a:rPr>
              <a:t>1988</a:t>
            </a:r>
          </a:p>
        </p:txBody>
      </p:sp>
      <p:sp>
        <p:nvSpPr>
          <p:cNvPr id="27" name="TextBox 26"/>
          <p:cNvSpPr txBox="1"/>
          <p:nvPr/>
        </p:nvSpPr>
        <p:spPr>
          <a:xfrm>
            <a:off x="2219248" y="4187952"/>
            <a:ext cx="3035808" cy="420624"/>
          </a:xfrm>
          <a:prstGeom prst="rect">
            <a:avLst/>
          </a:prstGeom>
          <a:noFill/>
        </p:spPr>
        <p:txBody>
          <a:bodyPr wrap="square" lIns="0" rIns="0" tIns="0" bIns="0" anchor="ctr">
            <a:spAutoFit/>
          </a:bodyPr>
          <a:lstStyle/>
          <a:p>
            <a:pPr algn="l">
              <a:spcAft>
                <a:spcPts val="0"/>
              </a:spcAft>
            </a:pPr>
            <a:r>
              <a:rPr sz="1600" b="0">
                <a:solidFill>
                  <a:srgbClr val="E9E7E3"/>
                </a:solidFill>
                <a:latin typeface="Arial"/>
              </a:rPr>
              <a:t>Gleason, Collegiate Micro.</a:t>
            </a:r>
          </a:p>
        </p:txBody>
      </p:sp>
      <p:sp>
        <p:nvSpPr>
          <p:cNvPr id="28" name="TextBox 27"/>
          <p:cNvSpPr txBox="1"/>
          <p:nvPr/>
        </p:nvSpPr>
        <p:spPr>
          <a:xfrm>
            <a:off x="5483656" y="4187952"/>
            <a:ext cx="5973775" cy="420624"/>
          </a:xfrm>
          <a:prstGeom prst="rect">
            <a:avLst/>
          </a:prstGeom>
          <a:noFill/>
        </p:spPr>
        <p:txBody>
          <a:bodyPr wrap="square" lIns="0" rIns="0" tIns="0" bIns="0" anchor="ctr">
            <a:spAutoFit/>
          </a:bodyPr>
          <a:lstStyle/>
          <a:p>
            <a:pPr algn="l">
              <a:spcAft>
                <a:spcPts val="0"/>
              </a:spcAft>
            </a:pPr>
            <a:r>
              <a:rPr sz="1600" b="0">
                <a:solidFill>
                  <a:srgbClr val="E9E7E3"/>
                </a:solidFill>
                <a:latin typeface="Arial"/>
              </a:rPr>
              <a:t>Statistical tests; suggested seeds</a:t>
            </a:r>
          </a:p>
        </p:txBody>
      </p:sp>
      <p:sp>
        <p:nvSpPr>
          <p:cNvPr id="29" name="Rectangle 28"/>
          <p:cNvSpPr/>
          <p:nvPr/>
        </p:nvSpPr>
        <p:spPr>
          <a:xfrm>
            <a:off x="640080" y="4663440"/>
            <a:ext cx="10881360" cy="420624"/>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1" y="4663440"/>
            <a:ext cx="1185976" cy="420624"/>
          </a:xfrm>
          <a:prstGeom prst="rect">
            <a:avLst/>
          </a:prstGeom>
          <a:noFill/>
        </p:spPr>
        <p:txBody>
          <a:bodyPr wrap="square" lIns="0" rIns="0" tIns="0" bIns="0" anchor="ctr">
            <a:spAutoFit/>
          </a:bodyPr>
          <a:lstStyle/>
          <a:p>
            <a:pPr algn="l">
              <a:spcAft>
                <a:spcPts val="0"/>
              </a:spcAft>
            </a:pPr>
            <a:r>
              <a:rPr sz="1600" b="1">
                <a:solidFill>
                  <a:srgbClr val="5FCB7E"/>
                </a:solidFill>
                <a:latin typeface="Arial"/>
              </a:rPr>
              <a:t>1989/99</a:t>
            </a:r>
          </a:p>
        </p:txBody>
      </p:sp>
      <p:sp>
        <p:nvSpPr>
          <p:cNvPr id="31" name="TextBox 30"/>
          <p:cNvSpPr txBox="1"/>
          <p:nvPr/>
        </p:nvSpPr>
        <p:spPr>
          <a:xfrm>
            <a:off x="2219248" y="4663440"/>
            <a:ext cx="3035808" cy="420624"/>
          </a:xfrm>
          <a:prstGeom prst="rect">
            <a:avLst/>
          </a:prstGeom>
          <a:noFill/>
        </p:spPr>
        <p:txBody>
          <a:bodyPr wrap="square" lIns="0" rIns="0" tIns="0" bIns="0" anchor="ctr">
            <a:spAutoFit/>
          </a:bodyPr>
          <a:lstStyle/>
          <a:p>
            <a:pPr algn="l">
              <a:spcAft>
                <a:spcPts val="0"/>
              </a:spcAft>
            </a:pPr>
            <a:r>
              <a:rPr sz="1600" b="0">
                <a:solidFill>
                  <a:srgbClr val="E9E7E3"/>
                </a:solidFill>
                <a:latin typeface="Arial"/>
              </a:rPr>
              <a:t>Moore; Empson</a:t>
            </a:r>
          </a:p>
        </p:txBody>
      </p:sp>
      <p:sp>
        <p:nvSpPr>
          <p:cNvPr id="32" name="TextBox 31"/>
          <p:cNvSpPr txBox="1"/>
          <p:nvPr/>
        </p:nvSpPr>
        <p:spPr>
          <a:xfrm>
            <a:off x="5483656" y="4663440"/>
            <a:ext cx="5973775" cy="420624"/>
          </a:xfrm>
          <a:prstGeom prst="rect">
            <a:avLst/>
          </a:prstGeom>
          <a:noFill/>
        </p:spPr>
        <p:txBody>
          <a:bodyPr wrap="square" lIns="0" rIns="0" tIns="0" bIns="0" anchor="ctr">
            <a:spAutoFit/>
          </a:bodyPr>
          <a:lstStyle/>
          <a:p>
            <a:pPr algn="l">
              <a:spcAft>
                <a:spcPts val="0"/>
              </a:spcAft>
            </a:pPr>
            <a:r>
              <a:rPr sz="1600" b="0">
                <a:solidFill>
                  <a:srgbClr val="E9E7E3"/>
                </a:solidFill>
                <a:latin typeface="Arial"/>
              </a:rPr>
              <a:t>Shift-register replacement seeded from $4E/$4F</a:t>
            </a:r>
          </a:p>
        </p:txBody>
      </p:sp>
      <p:sp>
        <p:nvSpPr>
          <p:cNvPr id="33" name="Rectangle 32"/>
          <p:cNvSpPr/>
          <p:nvPr/>
        </p:nvSpPr>
        <p:spPr>
          <a:xfrm>
            <a:off x="640080" y="5321807"/>
            <a:ext cx="10881360" cy="914400"/>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40080" y="5321807"/>
            <a:ext cx="64008" cy="914400"/>
          </a:xfrm>
          <a:prstGeom prst="rect">
            <a:avLst/>
          </a:prstGeom>
          <a:solidFill>
            <a:srgbClr val="E0A7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60119" y="5321807"/>
            <a:ext cx="10332720" cy="914400"/>
          </a:xfrm>
          <a:prstGeom prst="rect">
            <a:avLst/>
          </a:prstGeom>
          <a:noFill/>
        </p:spPr>
        <p:txBody>
          <a:bodyPr wrap="square" lIns="0" rIns="0" tIns="0" bIns="0" anchor="ctr">
            <a:spAutoFit/>
          </a:bodyPr>
          <a:lstStyle/>
          <a:p>
            <a:pPr algn="l">
              <a:spcAft>
                <a:spcPts val="400"/>
              </a:spcAft>
            </a:pPr>
            <a:r>
              <a:rPr sz="1900" b="0">
                <a:solidFill>
                  <a:srgbClr val="E9E7E3"/>
                </a:solidFill>
                <a:latin typeface="Arial"/>
              </a:rPr>
              <a:t>Found in 1982. Worked around, one program at a time. Never fixed in ROM.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7181A"/>
        </a:solidFill>
        <a:effectLst/>
      </p:bgPr>
    </p:bg>
    <p:spTree>
      <p:nvGrpSpPr>
        <p:cNvPr id="1" name=""/>
        <p:cNvGrpSpPr/>
        <p:nvPr/>
      </p:nvGrpSpPr>
      <p:grpSpPr/>
      <p:sp>
        <p:nvSpPr>
          <p:cNvPr id="2" name="Rectangle 1"/>
          <p:cNvSpPr/>
          <p:nvPr/>
        </p:nvSpPr>
        <p:spPr>
          <a:xfrm>
            <a:off x="10927080" y="384048"/>
            <a:ext cx="566928" cy="566928"/>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27080" y="384048"/>
            <a:ext cx="566928" cy="566928"/>
          </a:xfrm>
          <a:prstGeom prst="rect">
            <a:avLst/>
          </a:prstGeom>
          <a:noFill/>
        </p:spPr>
        <p:txBody>
          <a:bodyPr wrap="square" lIns="0" rIns="0" tIns="0" bIns="0" anchor="ctr">
            <a:spAutoFit/>
          </a:bodyPr>
          <a:lstStyle/>
          <a:p>
            <a:pPr algn="ctr">
              <a:spcAft>
                <a:spcPts val="0"/>
              </a:spcAft>
            </a:pPr>
            <a:r>
              <a:rPr sz="1500" b="1">
                <a:solidFill>
                  <a:srgbClr val="5FCB7E"/>
                </a:solidFill>
                <a:latin typeface="Courier New"/>
              </a:rPr>
              <a:t>14</a:t>
            </a:r>
          </a:p>
        </p:txBody>
      </p:sp>
      <p:sp>
        <p:nvSpPr>
          <p:cNvPr id="4" name="TextBox 3"/>
          <p:cNvSpPr txBox="1"/>
          <p:nvPr/>
        </p:nvSpPr>
        <p:spPr>
          <a:xfrm>
            <a:off x="640080" y="411480"/>
            <a:ext cx="10058400" cy="685800"/>
          </a:xfrm>
          <a:prstGeom prst="rect">
            <a:avLst/>
          </a:prstGeom>
          <a:noFill/>
        </p:spPr>
        <p:txBody>
          <a:bodyPr wrap="square" lIns="0" rIns="0" tIns="0" bIns="0" anchor="ctr">
            <a:spAutoFit/>
          </a:bodyPr>
          <a:lstStyle/>
          <a:p>
            <a:pPr algn="l">
              <a:spcAft>
                <a:spcPts val="0"/>
              </a:spcAft>
            </a:pPr>
            <a:r>
              <a:rPr sz="3200" b="1">
                <a:solidFill>
                  <a:srgbClr val="E9E7E3"/>
                </a:solidFill>
                <a:latin typeface="Arial"/>
              </a:rPr>
              <a:t>“Just seed it first”</a:t>
            </a:r>
          </a:p>
        </p:txBody>
      </p:sp>
      <p:sp>
        <p:nvSpPr>
          <p:cNvPr id="5" name="TextBox 4"/>
          <p:cNvSpPr txBox="1"/>
          <p:nvPr/>
        </p:nvSpPr>
        <p:spPr>
          <a:xfrm>
            <a:off x="640080" y="1143000"/>
            <a:ext cx="10241280" cy="457200"/>
          </a:xfrm>
          <a:prstGeom prst="rect">
            <a:avLst/>
          </a:prstGeom>
          <a:noFill/>
        </p:spPr>
        <p:txBody>
          <a:bodyPr wrap="square" lIns="0" rIns="0" tIns="0" bIns="0" anchor="t">
            <a:spAutoFit/>
          </a:bodyPr>
          <a:lstStyle/>
          <a:p>
            <a:pPr algn="l">
              <a:spcAft>
                <a:spcPts val="0"/>
              </a:spcAft>
            </a:pPr>
            <a:r>
              <a:rPr sz="1800" b="0">
                <a:solidFill>
                  <a:srgbClr val="9DA39B"/>
                </a:solidFill>
                <a:latin typeface="Arial"/>
              </a:rPr>
              <a:t>Right. That’s what Apple told Aldridge’s lab in 1987.</a:t>
            </a:r>
          </a:p>
        </p:txBody>
      </p:sp>
      <p:sp>
        <p:nvSpPr>
          <p:cNvPr id="6" name="TextBox 5"/>
          <p:cNvSpPr txBox="1"/>
          <p:nvPr/>
        </p:nvSpPr>
        <p:spPr>
          <a:xfrm>
            <a:off x="640080" y="6309360"/>
            <a:ext cx="10881360" cy="365760"/>
          </a:xfrm>
          <a:prstGeom prst="rect">
            <a:avLst/>
          </a:prstGeom>
          <a:noFill/>
        </p:spPr>
        <p:txBody>
          <a:bodyPr wrap="square" lIns="0" rIns="0" tIns="0" bIns="0" anchor="t">
            <a:spAutoFit/>
          </a:bodyPr>
          <a:lstStyle/>
          <a:p>
            <a:pPr algn="l">
              <a:spcAft>
                <a:spcPts val="0"/>
              </a:spcAft>
            </a:pPr>
            <a:r>
              <a:rPr sz="1050" b="0">
                <a:solidFill>
                  <a:srgbClr val="9DA39B"/>
                </a:solidFill>
                <a:latin typeface="Arial"/>
              </a:rPr>
              <a:t>Aldridge 1987 (Apple’s advice to the lab)</a:t>
            </a:r>
          </a:p>
        </p:txBody>
      </p:sp>
      <p:sp>
        <p:nvSpPr>
          <p:cNvPr id="7" name="Rectangle 6"/>
          <p:cNvSpPr/>
          <p:nvPr/>
        </p:nvSpPr>
        <p:spPr>
          <a:xfrm>
            <a:off x="640080" y="1783080"/>
            <a:ext cx="5303520" cy="3063240"/>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11680"/>
            <a:ext cx="4754880" cy="2697480"/>
          </a:xfrm>
          <a:prstGeom prst="rect">
            <a:avLst/>
          </a:prstGeom>
          <a:noFill/>
        </p:spPr>
        <p:txBody>
          <a:bodyPr wrap="square" lIns="0" rIns="0" tIns="0" bIns="0" anchor="t">
            <a:spAutoFit/>
          </a:bodyPr>
          <a:lstStyle/>
          <a:p>
            <a:pPr algn="l">
              <a:spcAft>
                <a:spcPts val="1200"/>
              </a:spcAft>
            </a:pPr>
            <a:r>
              <a:rPr sz="1900" b="1">
                <a:solidFill>
                  <a:srgbClr val="5FCB7E"/>
                </a:solidFill>
                <a:latin typeface="Arial"/>
              </a:rPr>
              <a:t>New code</a:t>
            </a:r>
          </a:p>
          <a:p>
            <a:pPr algn="l">
              <a:spcAft>
                <a:spcPts val="800"/>
              </a:spcAft>
            </a:pPr>
            <a:r>
              <a:rPr sz="1600" b="0">
                <a:solidFill>
                  <a:srgbClr val="5FCB7E"/>
                </a:solidFill>
                <a:latin typeface="Courier New"/>
              </a:rPr>
              <a:t>X = RND(−(PEEK(78)+256*PEEK(79)))</a:t>
            </a:r>
          </a:p>
          <a:p>
            <a:pPr algn="l">
              <a:spcAft>
                <a:spcPts val="800"/>
              </a:spcAft>
            </a:pPr>
            <a:r>
              <a:rPr sz="1700" b="0">
                <a:solidFill>
                  <a:srgbClr val="E9E7E3"/>
                </a:solidFill>
                <a:latin typeface="Arial"/>
              </a:rPr>
              <a:t>after a key wait, before the first RND</a:t>
            </a:r>
          </a:p>
        </p:txBody>
      </p:sp>
      <p:sp>
        <p:nvSpPr>
          <p:cNvPr id="9" name="Rectangle 8"/>
          <p:cNvSpPr/>
          <p:nvPr/>
        </p:nvSpPr>
        <p:spPr>
          <a:xfrm>
            <a:off x="6217920" y="1783080"/>
            <a:ext cx="5303520" cy="3063240"/>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2011680"/>
            <a:ext cx="4754880" cy="2697480"/>
          </a:xfrm>
          <a:prstGeom prst="rect">
            <a:avLst/>
          </a:prstGeom>
          <a:noFill/>
        </p:spPr>
        <p:txBody>
          <a:bodyPr wrap="square" lIns="0" rIns="0" tIns="0" bIns="0" anchor="t">
            <a:spAutoFit/>
          </a:bodyPr>
          <a:lstStyle/>
          <a:p>
            <a:pPr algn="l">
              <a:spcAft>
                <a:spcPts val="1200"/>
              </a:spcAft>
            </a:pPr>
            <a:r>
              <a:rPr sz="1900" b="1">
                <a:solidFill>
                  <a:srgbClr val="5FCB7E"/>
                </a:solidFill>
                <a:latin typeface="Arial"/>
              </a:rPr>
              <a:t>Existing code</a:t>
            </a:r>
          </a:p>
          <a:p>
            <a:pPr algn="l">
              <a:spcAft>
                <a:spcPts val="800"/>
              </a:spcAft>
            </a:pPr>
            <a:r>
              <a:rPr sz="1700" b="0">
                <a:solidFill>
                  <a:srgbClr val="E9E7E3"/>
                </a:solidFill>
                <a:latin typeface="Arial"/>
              </a:rPr>
              <a:t>You can’t edit software you didn’t write.</a:t>
            </a:r>
          </a:p>
          <a:p>
            <a:pPr algn="l">
              <a:spcAft>
                <a:spcPts val="800"/>
              </a:spcAft>
            </a:pPr>
            <a:r>
              <a:rPr sz="1700" b="0">
                <a:solidFill>
                  <a:srgbClr val="E9E7E3"/>
                </a:solidFill>
                <a:latin typeface="Arial"/>
              </a:rPr>
              <a:t>The failure is silent: only people who already know can fix it.</a:t>
            </a:r>
          </a:p>
          <a:p>
            <a:pPr algn="l">
              <a:spcAft>
                <a:spcPts val="800"/>
              </a:spcAft>
            </a:pPr>
            <a:r>
              <a:rPr sz="1700" b="0">
                <a:solidFill>
                  <a:srgbClr val="E9E7E3"/>
                </a:solidFill>
                <a:latin typeface="Arial"/>
              </a:rPr>
              <a:t>This machine used to do it automatically.</a:t>
            </a:r>
          </a:p>
        </p:txBody>
      </p:sp>
      <p:sp>
        <p:nvSpPr>
          <p:cNvPr id="11" name="Rectangle 10"/>
          <p:cNvSpPr/>
          <p:nvPr/>
        </p:nvSpPr>
        <p:spPr>
          <a:xfrm>
            <a:off x="640080" y="5029200"/>
            <a:ext cx="10881360" cy="960120"/>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5029200"/>
            <a:ext cx="64008" cy="960120"/>
          </a:xfrm>
          <a:prstGeom prst="rect">
            <a:avLst/>
          </a:prstGeom>
          <a:solidFill>
            <a:srgbClr val="E0A7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19" y="5029200"/>
            <a:ext cx="10332720" cy="960120"/>
          </a:xfrm>
          <a:prstGeom prst="rect">
            <a:avLst/>
          </a:prstGeom>
          <a:noFill/>
        </p:spPr>
        <p:txBody>
          <a:bodyPr wrap="square" lIns="0" rIns="0" tIns="0" bIns="0" anchor="ctr">
            <a:spAutoFit/>
          </a:bodyPr>
          <a:lstStyle/>
          <a:p>
            <a:pPr algn="l">
              <a:spcAft>
                <a:spcPts val="400"/>
              </a:spcAft>
            </a:pPr>
            <a:r>
              <a:rPr sz="1900" b="0">
                <a:solidFill>
                  <a:srgbClr val="E9E7E3"/>
                </a:solidFill>
                <a:latin typeface="Arial"/>
              </a:rPr>
              <a:t>The patch is for the programs nobody will ever edit.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7181A"/>
        </a:solidFill>
        <a:effectLst/>
      </p:bgPr>
    </p:bg>
    <p:spTree>
      <p:nvGrpSpPr>
        <p:cNvPr id="1" name=""/>
        <p:cNvGrpSpPr/>
        <p:nvPr/>
      </p:nvGrpSpPr>
      <p:grpSpPr/>
      <p:sp>
        <p:nvSpPr>
          <p:cNvPr id="2" name="Rectangle 1"/>
          <p:cNvSpPr/>
          <p:nvPr/>
        </p:nvSpPr>
        <p:spPr>
          <a:xfrm>
            <a:off x="10927080" y="384048"/>
            <a:ext cx="566928" cy="566928"/>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27080" y="384048"/>
            <a:ext cx="566928" cy="566928"/>
          </a:xfrm>
          <a:prstGeom prst="rect">
            <a:avLst/>
          </a:prstGeom>
          <a:noFill/>
        </p:spPr>
        <p:txBody>
          <a:bodyPr wrap="square" lIns="0" rIns="0" tIns="0" bIns="0" anchor="ctr">
            <a:spAutoFit/>
          </a:bodyPr>
          <a:lstStyle/>
          <a:p>
            <a:pPr algn="ctr">
              <a:spcAft>
                <a:spcPts val="0"/>
              </a:spcAft>
            </a:pPr>
            <a:r>
              <a:rPr sz="1500" b="1">
                <a:solidFill>
                  <a:srgbClr val="5FCB7E"/>
                </a:solidFill>
                <a:latin typeface="Courier New"/>
              </a:rPr>
              <a:t>15</a:t>
            </a:r>
          </a:p>
        </p:txBody>
      </p:sp>
      <p:sp>
        <p:nvSpPr>
          <p:cNvPr id="4" name="TextBox 3"/>
          <p:cNvSpPr txBox="1"/>
          <p:nvPr/>
        </p:nvSpPr>
        <p:spPr>
          <a:xfrm>
            <a:off x="640080" y="411480"/>
            <a:ext cx="10058400" cy="685800"/>
          </a:xfrm>
          <a:prstGeom prst="rect">
            <a:avLst/>
          </a:prstGeom>
          <a:noFill/>
        </p:spPr>
        <p:txBody>
          <a:bodyPr wrap="square" lIns="0" rIns="0" tIns="0" bIns="0" anchor="ctr">
            <a:spAutoFit/>
          </a:bodyPr>
          <a:lstStyle/>
          <a:p>
            <a:pPr algn="l">
              <a:spcAft>
                <a:spcPts val="0"/>
              </a:spcAft>
            </a:pPr>
            <a:r>
              <a:rPr sz="3200" b="1">
                <a:solidFill>
                  <a:srgbClr val="E9E7E3"/>
                </a:solidFill>
                <a:latin typeface="Arial"/>
              </a:rPr>
              <a:t>The fix: put the counter back</a:t>
            </a:r>
          </a:p>
        </p:txBody>
      </p:sp>
      <p:sp>
        <p:nvSpPr>
          <p:cNvPr id="5" name="TextBox 4"/>
          <p:cNvSpPr txBox="1"/>
          <p:nvPr/>
        </p:nvSpPr>
        <p:spPr>
          <a:xfrm>
            <a:off x="640080" y="1143000"/>
            <a:ext cx="10241280" cy="457200"/>
          </a:xfrm>
          <a:prstGeom prst="rect">
            <a:avLst/>
          </a:prstGeom>
          <a:noFill/>
        </p:spPr>
        <p:txBody>
          <a:bodyPr wrap="square" lIns="0" rIns="0" tIns="0" bIns="0" anchor="t">
            <a:spAutoFit/>
          </a:bodyPr>
          <a:lstStyle/>
          <a:p>
            <a:pPr algn="l">
              <a:spcAft>
                <a:spcPts val="0"/>
              </a:spcAft>
            </a:pPr>
            <a:r>
              <a:rPr sz="1800" b="0">
                <a:solidFill>
                  <a:srgbClr val="9DA39B"/>
                </a:solidFill>
                <a:latin typeface="Arial"/>
              </a:rPr>
              <a:t>Copy the ROM into the language card, patch the copy, read from the card.</a:t>
            </a:r>
          </a:p>
        </p:txBody>
      </p:sp>
      <p:sp>
        <p:nvSpPr>
          <p:cNvPr id="6" name="TextBox 5"/>
          <p:cNvSpPr txBox="1"/>
          <p:nvPr/>
        </p:nvSpPr>
        <p:spPr>
          <a:xfrm>
            <a:off x="640080" y="6309360"/>
            <a:ext cx="10881360" cy="365760"/>
          </a:xfrm>
          <a:prstGeom prst="rect">
            <a:avLst/>
          </a:prstGeom>
          <a:noFill/>
        </p:spPr>
        <p:txBody>
          <a:bodyPr wrap="square" lIns="0" rIns="0" tIns="0" bIns="0" anchor="t">
            <a:spAutoFit/>
          </a:bodyPr>
          <a:lstStyle/>
          <a:p>
            <a:pPr algn="l">
              <a:spcAft>
                <a:spcPts val="0"/>
              </a:spcAft>
            </a:pPr>
            <a:r>
              <a:rPr sz="1050" b="0">
                <a:solidFill>
                  <a:srgbClr val="9DA39B"/>
                </a:solidFill>
                <a:latin typeface="Arial"/>
              </a:rPr>
              <a:t>Jeff Robison, LC_Loader / Patch_lc; HFIND per S-C DocuMentor; byte search of the II Plus ROM</a:t>
            </a:r>
          </a:p>
        </p:txBody>
      </p:sp>
      <p:sp>
        <p:nvSpPr>
          <p:cNvPr id="7" name="Rectangle 6"/>
          <p:cNvSpPr/>
          <p:nvPr/>
        </p:nvSpPr>
        <p:spPr>
          <a:xfrm>
            <a:off x="640080" y="1783080"/>
            <a:ext cx="7223760" cy="658368"/>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783080"/>
            <a:ext cx="2103120" cy="658368"/>
          </a:xfrm>
          <a:prstGeom prst="rect">
            <a:avLst/>
          </a:prstGeom>
          <a:noFill/>
        </p:spPr>
        <p:txBody>
          <a:bodyPr wrap="square" lIns="0" rIns="0" tIns="0" bIns="0" anchor="ctr">
            <a:spAutoFit/>
          </a:bodyPr>
          <a:lstStyle/>
          <a:p>
            <a:pPr algn="l">
              <a:spcAft>
                <a:spcPts val="0"/>
              </a:spcAft>
            </a:pPr>
            <a:r>
              <a:rPr sz="1400" b="1">
                <a:solidFill>
                  <a:srgbClr val="5FCB7E"/>
                </a:solidFill>
                <a:latin typeface="Courier New"/>
              </a:rPr>
              <a:t>$F800–$FFFF</a:t>
            </a:r>
          </a:p>
        </p:txBody>
      </p:sp>
      <p:sp>
        <p:nvSpPr>
          <p:cNvPr id="9" name="TextBox 8"/>
          <p:cNvSpPr txBox="1"/>
          <p:nvPr/>
        </p:nvSpPr>
        <p:spPr>
          <a:xfrm>
            <a:off x="3017520" y="1783080"/>
            <a:ext cx="4754880" cy="658368"/>
          </a:xfrm>
          <a:prstGeom prst="rect">
            <a:avLst/>
          </a:prstGeom>
          <a:noFill/>
        </p:spPr>
        <p:txBody>
          <a:bodyPr wrap="square" lIns="0" rIns="0" tIns="0" bIns="0" anchor="ctr">
            <a:spAutoFit/>
          </a:bodyPr>
          <a:lstStyle/>
          <a:p>
            <a:pPr algn="l">
              <a:spcAft>
                <a:spcPts val="0"/>
              </a:spcAft>
            </a:pPr>
            <a:r>
              <a:rPr sz="1400" b="0">
                <a:solidFill>
                  <a:srgbClr val="E9E7E3"/>
                </a:solidFill>
                <a:latin typeface="Arial"/>
              </a:rPr>
              <a:t>Monitor, copied</a:t>
            </a:r>
          </a:p>
        </p:txBody>
      </p:sp>
      <p:sp>
        <p:nvSpPr>
          <p:cNvPr id="10" name="Rectangle 9"/>
          <p:cNvSpPr/>
          <p:nvPr/>
        </p:nvSpPr>
        <p:spPr>
          <a:xfrm>
            <a:off x="640080" y="2496312"/>
            <a:ext cx="7223760" cy="402336"/>
          </a:xfrm>
          <a:prstGeom prst="rect">
            <a:avLst/>
          </a:prstGeom>
          <a:solidFill>
            <a:srgbClr val="1B1C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496312"/>
            <a:ext cx="2103120" cy="402336"/>
          </a:xfrm>
          <a:prstGeom prst="rect">
            <a:avLst/>
          </a:prstGeom>
          <a:noFill/>
        </p:spPr>
        <p:txBody>
          <a:bodyPr wrap="square" lIns="0" rIns="0" tIns="0" bIns="0" anchor="ctr">
            <a:spAutoFit/>
          </a:bodyPr>
          <a:lstStyle/>
          <a:p>
            <a:pPr algn="l">
              <a:spcAft>
                <a:spcPts val="0"/>
              </a:spcAft>
            </a:pPr>
            <a:r>
              <a:rPr sz="1400" b="1">
                <a:solidFill>
                  <a:srgbClr val="5FCB7E"/>
                </a:solidFill>
                <a:latin typeface="Courier New"/>
              </a:rPr>
              <a:t>$F601</a:t>
            </a:r>
          </a:p>
        </p:txBody>
      </p:sp>
      <p:sp>
        <p:nvSpPr>
          <p:cNvPr id="12" name="TextBox 11"/>
          <p:cNvSpPr txBox="1"/>
          <p:nvPr/>
        </p:nvSpPr>
        <p:spPr>
          <a:xfrm>
            <a:off x="3017520" y="2496312"/>
            <a:ext cx="4754880" cy="402336"/>
          </a:xfrm>
          <a:prstGeom prst="rect">
            <a:avLst/>
          </a:prstGeom>
          <a:noFill/>
        </p:spPr>
        <p:txBody>
          <a:bodyPr wrap="square" lIns="0" rIns="0" tIns="0" bIns="0" anchor="ctr">
            <a:spAutoFit/>
          </a:bodyPr>
          <a:lstStyle/>
          <a:p>
            <a:pPr algn="l">
              <a:spcAft>
                <a:spcPts val="0"/>
              </a:spcAft>
            </a:pPr>
            <a:r>
              <a:rPr sz="1400" b="0">
                <a:solidFill>
                  <a:srgbClr val="9DA39B"/>
                </a:solidFill>
                <a:latin typeface="Arial"/>
              </a:rPr>
              <a:t>DRAW, untouched</a:t>
            </a:r>
          </a:p>
        </p:txBody>
      </p:sp>
      <p:sp>
        <p:nvSpPr>
          <p:cNvPr id="13" name="Rectangle 12"/>
          <p:cNvSpPr/>
          <p:nvPr/>
        </p:nvSpPr>
        <p:spPr>
          <a:xfrm>
            <a:off x="640080" y="2953512"/>
            <a:ext cx="7223760" cy="402336"/>
          </a:xfrm>
          <a:prstGeom prst="rect">
            <a:avLst/>
          </a:prstGeom>
          <a:solidFill>
            <a:srgbClr val="1B1C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2953512"/>
            <a:ext cx="2103120" cy="402336"/>
          </a:xfrm>
          <a:prstGeom prst="rect">
            <a:avLst/>
          </a:prstGeom>
          <a:noFill/>
        </p:spPr>
        <p:txBody>
          <a:bodyPr wrap="square" lIns="0" rIns="0" tIns="0" bIns="0" anchor="ctr">
            <a:spAutoFit/>
          </a:bodyPr>
          <a:lstStyle/>
          <a:p>
            <a:pPr algn="l">
              <a:spcAft>
                <a:spcPts val="0"/>
              </a:spcAft>
            </a:pPr>
            <a:r>
              <a:rPr sz="1400" b="1">
                <a:solidFill>
                  <a:srgbClr val="5FCB7E"/>
                </a:solidFill>
                <a:latin typeface="Courier New"/>
              </a:rPr>
              <a:t>$F600</a:t>
            </a:r>
          </a:p>
        </p:txBody>
      </p:sp>
      <p:sp>
        <p:nvSpPr>
          <p:cNvPr id="15" name="TextBox 14"/>
          <p:cNvSpPr txBox="1"/>
          <p:nvPr/>
        </p:nvSpPr>
        <p:spPr>
          <a:xfrm>
            <a:off x="3017520" y="2953512"/>
            <a:ext cx="4754880" cy="402336"/>
          </a:xfrm>
          <a:prstGeom prst="rect">
            <a:avLst/>
          </a:prstGeom>
          <a:noFill/>
        </p:spPr>
        <p:txBody>
          <a:bodyPr wrap="square" lIns="0" rIns="0" tIns="0" bIns="0" anchor="ctr">
            <a:spAutoFit/>
          </a:bodyPr>
          <a:lstStyle/>
          <a:p>
            <a:pPr algn="l">
              <a:spcAft>
                <a:spcPts val="0"/>
              </a:spcAft>
            </a:pPr>
            <a:r>
              <a:rPr sz="1400" b="0">
                <a:solidFill>
                  <a:srgbClr val="9DA39B"/>
                </a:solidFill>
                <a:latin typeface="Arial"/>
              </a:rPr>
              <a:t>RTS shared with HLIN, untouched</a:t>
            </a:r>
          </a:p>
        </p:txBody>
      </p:sp>
      <p:sp>
        <p:nvSpPr>
          <p:cNvPr id="16" name="Rectangle 15"/>
          <p:cNvSpPr/>
          <p:nvPr/>
        </p:nvSpPr>
        <p:spPr>
          <a:xfrm>
            <a:off x="640080" y="3410712"/>
            <a:ext cx="7223760" cy="585215"/>
          </a:xfrm>
          <a:prstGeom prst="rect">
            <a:avLst/>
          </a:prstGeom>
          <a:solidFill>
            <a:srgbClr val="202225"/>
          </a:solidFill>
          <a:ln w="19050">
            <a:solidFill>
              <a:srgbClr val="E0A7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3410712"/>
            <a:ext cx="2103120" cy="585215"/>
          </a:xfrm>
          <a:prstGeom prst="rect">
            <a:avLst/>
          </a:prstGeom>
          <a:noFill/>
        </p:spPr>
        <p:txBody>
          <a:bodyPr wrap="square" lIns="0" rIns="0" tIns="0" bIns="0" anchor="ctr">
            <a:spAutoFit/>
          </a:bodyPr>
          <a:lstStyle/>
          <a:p>
            <a:pPr algn="l">
              <a:spcAft>
                <a:spcPts val="0"/>
              </a:spcAft>
            </a:pPr>
            <a:r>
              <a:rPr sz="1400" b="1">
                <a:solidFill>
                  <a:srgbClr val="E0A73E"/>
                </a:solidFill>
                <a:latin typeface="Courier New"/>
              </a:rPr>
              <a:t>$F5CB–$F5FF</a:t>
            </a:r>
          </a:p>
        </p:txBody>
      </p:sp>
      <p:sp>
        <p:nvSpPr>
          <p:cNvPr id="18" name="TextBox 17"/>
          <p:cNvSpPr txBox="1"/>
          <p:nvPr/>
        </p:nvSpPr>
        <p:spPr>
          <a:xfrm>
            <a:off x="3017520" y="3410712"/>
            <a:ext cx="4754880" cy="585215"/>
          </a:xfrm>
          <a:prstGeom prst="rect">
            <a:avLst/>
          </a:prstGeom>
          <a:noFill/>
        </p:spPr>
        <p:txBody>
          <a:bodyPr wrap="square" lIns="0" rIns="0" tIns="0" bIns="0" anchor="ctr">
            <a:spAutoFit/>
          </a:bodyPr>
          <a:lstStyle/>
          <a:p>
            <a:pPr algn="l">
              <a:spcAft>
                <a:spcPts val="0"/>
              </a:spcAft>
            </a:pPr>
            <a:r>
              <a:rPr sz="1400" b="1">
                <a:solidFill>
                  <a:srgbClr val="E9E7E3"/>
                </a:solidFill>
                <a:latin typeface="Arial"/>
              </a:rPr>
              <a:t>Patch code over HFIND: 53 bytes, never called by Applesoft</a:t>
            </a:r>
          </a:p>
        </p:txBody>
      </p:sp>
      <p:sp>
        <p:nvSpPr>
          <p:cNvPr id="19" name="Rectangle 18"/>
          <p:cNvSpPr/>
          <p:nvPr/>
        </p:nvSpPr>
        <p:spPr>
          <a:xfrm>
            <a:off x="640080" y="4050791"/>
            <a:ext cx="7223760" cy="585215"/>
          </a:xfrm>
          <a:prstGeom prst="rect">
            <a:avLst/>
          </a:prstGeom>
          <a:solidFill>
            <a:srgbClr val="202225"/>
          </a:solidFill>
          <a:ln w="19050">
            <a:solidFill>
              <a:srgbClr val="E0A7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4050791"/>
            <a:ext cx="2103120" cy="585215"/>
          </a:xfrm>
          <a:prstGeom prst="rect">
            <a:avLst/>
          </a:prstGeom>
          <a:noFill/>
        </p:spPr>
        <p:txBody>
          <a:bodyPr wrap="square" lIns="0" rIns="0" tIns="0" bIns="0" anchor="ctr">
            <a:spAutoFit/>
          </a:bodyPr>
          <a:lstStyle/>
          <a:p>
            <a:pPr algn="l">
              <a:spcAft>
                <a:spcPts val="0"/>
              </a:spcAft>
            </a:pPr>
            <a:r>
              <a:rPr sz="1400" b="1">
                <a:solidFill>
                  <a:srgbClr val="E0A73E"/>
                </a:solidFill>
                <a:latin typeface="Courier New"/>
              </a:rPr>
              <a:t>$EFAE</a:t>
            </a:r>
          </a:p>
        </p:txBody>
      </p:sp>
      <p:sp>
        <p:nvSpPr>
          <p:cNvPr id="21" name="TextBox 20"/>
          <p:cNvSpPr txBox="1"/>
          <p:nvPr/>
        </p:nvSpPr>
        <p:spPr>
          <a:xfrm>
            <a:off x="3017520" y="4050791"/>
            <a:ext cx="4754880" cy="585215"/>
          </a:xfrm>
          <a:prstGeom prst="rect">
            <a:avLst/>
          </a:prstGeom>
          <a:noFill/>
        </p:spPr>
        <p:txBody>
          <a:bodyPr wrap="square" lIns="0" rIns="0" tIns="0" bIns="0" anchor="ctr">
            <a:spAutoFit/>
          </a:bodyPr>
          <a:lstStyle/>
          <a:p>
            <a:pPr algn="l">
              <a:spcAft>
                <a:spcPts val="0"/>
              </a:spcAft>
            </a:pPr>
            <a:r>
              <a:rPr sz="1400" b="1">
                <a:solidFill>
                  <a:srgbClr val="E9E7E3"/>
                </a:solidFill>
                <a:latin typeface="Arial"/>
              </a:rPr>
              <a:t>RND entry: JMP $F5CB</a:t>
            </a:r>
          </a:p>
        </p:txBody>
      </p:sp>
      <p:sp>
        <p:nvSpPr>
          <p:cNvPr id="22" name="Rectangle 21"/>
          <p:cNvSpPr/>
          <p:nvPr/>
        </p:nvSpPr>
        <p:spPr>
          <a:xfrm>
            <a:off x="640080" y="4690872"/>
            <a:ext cx="7223760" cy="658368"/>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4690872"/>
            <a:ext cx="2103120" cy="658368"/>
          </a:xfrm>
          <a:prstGeom prst="rect">
            <a:avLst/>
          </a:prstGeom>
          <a:noFill/>
        </p:spPr>
        <p:txBody>
          <a:bodyPr wrap="square" lIns="0" rIns="0" tIns="0" bIns="0" anchor="ctr">
            <a:spAutoFit/>
          </a:bodyPr>
          <a:lstStyle/>
          <a:p>
            <a:pPr algn="l">
              <a:spcAft>
                <a:spcPts val="0"/>
              </a:spcAft>
            </a:pPr>
            <a:r>
              <a:rPr sz="1400" b="1">
                <a:solidFill>
                  <a:srgbClr val="5FCB7E"/>
                </a:solidFill>
                <a:latin typeface="Courier New"/>
              </a:rPr>
              <a:t>$D000–$F7FF</a:t>
            </a:r>
          </a:p>
        </p:txBody>
      </p:sp>
      <p:sp>
        <p:nvSpPr>
          <p:cNvPr id="24" name="TextBox 23"/>
          <p:cNvSpPr txBox="1"/>
          <p:nvPr/>
        </p:nvSpPr>
        <p:spPr>
          <a:xfrm>
            <a:off x="3017520" y="4690872"/>
            <a:ext cx="4754880" cy="658368"/>
          </a:xfrm>
          <a:prstGeom prst="rect">
            <a:avLst/>
          </a:prstGeom>
          <a:noFill/>
        </p:spPr>
        <p:txBody>
          <a:bodyPr wrap="square" lIns="0" rIns="0" tIns="0" bIns="0" anchor="ctr">
            <a:spAutoFit/>
          </a:bodyPr>
          <a:lstStyle/>
          <a:p>
            <a:pPr algn="l">
              <a:spcAft>
                <a:spcPts val="0"/>
              </a:spcAft>
            </a:pPr>
            <a:r>
              <a:rPr sz="1400" b="0">
                <a:solidFill>
                  <a:srgbClr val="E9E7E3"/>
                </a:solidFill>
                <a:latin typeface="Arial"/>
              </a:rPr>
              <a:t>Applesoft, copied</a:t>
            </a:r>
          </a:p>
        </p:txBody>
      </p:sp>
      <p:sp>
        <p:nvSpPr>
          <p:cNvPr id="25" name="TextBox 24"/>
          <p:cNvSpPr txBox="1"/>
          <p:nvPr/>
        </p:nvSpPr>
        <p:spPr>
          <a:xfrm>
            <a:off x="640080" y="5449824"/>
            <a:ext cx="7223760" cy="320040"/>
          </a:xfrm>
          <a:prstGeom prst="rect">
            <a:avLst/>
          </a:prstGeom>
          <a:noFill/>
        </p:spPr>
        <p:txBody>
          <a:bodyPr wrap="square" lIns="0" rIns="0" tIns="0" bIns="0" anchor="t">
            <a:spAutoFit/>
          </a:bodyPr>
          <a:lstStyle/>
          <a:p>
            <a:pPr algn="l">
              <a:spcAft>
                <a:spcPts val="0"/>
              </a:spcAft>
            </a:pPr>
            <a:r>
              <a:rPr sz="1100" b="0">
                <a:solidFill>
                  <a:srgbClr val="9DA39B"/>
                </a:solidFill>
                <a:latin typeface="Arial"/>
              </a:rPr>
              <a:t>Language card RAM, top to bottom. Not to scale.</a:t>
            </a:r>
          </a:p>
        </p:txBody>
      </p:sp>
      <p:sp>
        <p:nvSpPr>
          <p:cNvPr id="26" name="Rectangle 25"/>
          <p:cNvSpPr/>
          <p:nvPr/>
        </p:nvSpPr>
        <p:spPr>
          <a:xfrm>
            <a:off x="8092440" y="1783080"/>
            <a:ext cx="3429000" cy="1938528"/>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21040" y="1947672"/>
            <a:ext cx="3063240" cy="1709928"/>
          </a:xfrm>
          <a:prstGeom prst="rect">
            <a:avLst/>
          </a:prstGeom>
          <a:noFill/>
        </p:spPr>
        <p:txBody>
          <a:bodyPr wrap="square" lIns="0" rIns="0" tIns="0" bIns="0" anchor="t">
            <a:spAutoFit/>
          </a:bodyPr>
          <a:lstStyle/>
          <a:p>
            <a:pPr algn="l">
              <a:spcAft>
                <a:spcPts val="600"/>
              </a:spcAft>
            </a:pPr>
            <a:r>
              <a:rPr sz="1500" b="1">
                <a:solidFill>
                  <a:srgbClr val="5FCB7E"/>
                </a:solidFill>
                <a:latin typeface="Arial"/>
              </a:rPr>
              <a:t>Loader steps</a:t>
            </a:r>
          </a:p>
          <a:p>
            <a:pPr algn="l">
              <a:spcAft>
                <a:spcPts val="300"/>
              </a:spcAft>
            </a:pPr>
            <a:r>
              <a:rPr sz="1400" b="0">
                <a:solidFill>
                  <a:srgbClr val="E9E7E3"/>
                </a:solidFill>
                <a:latin typeface="Arial"/>
              </a:rPr>
              <a:t>1. Write-enable the LC, ROM still readable</a:t>
            </a:r>
          </a:p>
          <a:p>
            <a:pPr algn="l">
              <a:spcAft>
                <a:spcPts val="300"/>
              </a:spcAft>
            </a:pPr>
            <a:r>
              <a:rPr sz="1400" b="0">
                <a:solidFill>
                  <a:srgbClr val="E9E7E3"/>
                </a:solidFill>
                <a:latin typeface="Arial"/>
              </a:rPr>
              <a:t>2. Copy $D000–$FFFF into the LC</a:t>
            </a:r>
          </a:p>
          <a:p>
            <a:pPr algn="l">
              <a:spcAft>
                <a:spcPts val="300"/>
              </a:spcAft>
            </a:pPr>
            <a:r>
              <a:rPr sz="1400" b="0">
                <a:solidFill>
                  <a:srgbClr val="E9E7E3"/>
                </a:solidFill>
                <a:latin typeface="Arial"/>
              </a:rPr>
              <a:t>3. Write the patch at $F5CB</a:t>
            </a:r>
          </a:p>
          <a:p>
            <a:pPr algn="l">
              <a:spcAft>
                <a:spcPts val="300"/>
              </a:spcAft>
            </a:pPr>
            <a:r>
              <a:rPr sz="1400" b="0">
                <a:solidFill>
                  <a:srgbClr val="E9E7E3"/>
                </a:solidFill>
                <a:latin typeface="Arial"/>
              </a:rPr>
              <a:t>4. Write JMP $F5CB at $EFAE</a:t>
            </a:r>
          </a:p>
          <a:p>
            <a:pPr algn="l">
              <a:spcAft>
                <a:spcPts val="300"/>
              </a:spcAft>
            </a:pPr>
            <a:r>
              <a:rPr sz="1400" b="0">
                <a:solidFill>
                  <a:srgbClr val="E9E7E3"/>
                </a:solidFill>
                <a:latin typeface="Arial"/>
              </a:rPr>
              <a:t>5. Switch the LC to read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7181A"/>
        </a:solidFill>
        <a:effectLst/>
      </p:bgPr>
    </p:bg>
    <p:spTree>
      <p:nvGrpSpPr>
        <p:cNvPr id="1" name=""/>
        <p:cNvGrpSpPr/>
        <p:nvPr/>
      </p:nvGrpSpPr>
      <p:grpSpPr/>
      <p:sp>
        <p:nvSpPr>
          <p:cNvPr id="2" name="Rectangle 1"/>
          <p:cNvSpPr/>
          <p:nvPr/>
        </p:nvSpPr>
        <p:spPr>
          <a:xfrm>
            <a:off x="10927080" y="384048"/>
            <a:ext cx="566928" cy="566928"/>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27080" y="384048"/>
            <a:ext cx="566928" cy="566928"/>
          </a:xfrm>
          <a:prstGeom prst="rect">
            <a:avLst/>
          </a:prstGeom>
          <a:noFill/>
        </p:spPr>
        <p:txBody>
          <a:bodyPr wrap="square" lIns="0" rIns="0" tIns="0" bIns="0" anchor="ctr">
            <a:spAutoFit/>
          </a:bodyPr>
          <a:lstStyle/>
          <a:p>
            <a:pPr algn="ctr">
              <a:spcAft>
                <a:spcPts val="0"/>
              </a:spcAft>
            </a:pPr>
            <a:r>
              <a:rPr sz="1500" b="1">
                <a:solidFill>
                  <a:srgbClr val="5FCB7E"/>
                </a:solidFill>
                <a:latin typeface="Courier New"/>
              </a:rPr>
              <a:t>16</a:t>
            </a:r>
          </a:p>
        </p:txBody>
      </p:sp>
      <p:sp>
        <p:nvSpPr>
          <p:cNvPr id="4" name="TextBox 3"/>
          <p:cNvSpPr txBox="1"/>
          <p:nvPr/>
        </p:nvSpPr>
        <p:spPr>
          <a:xfrm>
            <a:off x="640080" y="411480"/>
            <a:ext cx="10058400" cy="685800"/>
          </a:xfrm>
          <a:prstGeom prst="rect">
            <a:avLst/>
          </a:prstGeom>
          <a:noFill/>
        </p:spPr>
        <p:txBody>
          <a:bodyPr wrap="square" lIns="0" rIns="0" tIns="0" bIns="0" anchor="ctr">
            <a:spAutoFit/>
          </a:bodyPr>
          <a:lstStyle/>
          <a:p>
            <a:pPr algn="l">
              <a:spcAft>
                <a:spcPts val="0"/>
              </a:spcAft>
            </a:pPr>
            <a:r>
              <a:rPr sz="3200" b="1">
                <a:solidFill>
                  <a:srgbClr val="E9E7E3"/>
                </a:solidFill>
                <a:latin typeface="Arial"/>
              </a:rPr>
              <a:t>What the fix does, and doesn’t</a:t>
            </a:r>
          </a:p>
        </p:txBody>
      </p:sp>
      <p:sp>
        <p:nvSpPr>
          <p:cNvPr id="5" name="Rectangle 4"/>
          <p:cNvSpPr/>
          <p:nvPr/>
        </p:nvSpPr>
        <p:spPr>
          <a:xfrm>
            <a:off x="640080" y="1783080"/>
            <a:ext cx="5303520" cy="3063240"/>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11680"/>
            <a:ext cx="4754880" cy="2697480"/>
          </a:xfrm>
          <a:prstGeom prst="rect">
            <a:avLst/>
          </a:prstGeom>
          <a:noFill/>
        </p:spPr>
        <p:txBody>
          <a:bodyPr wrap="square" lIns="0" rIns="0" tIns="0" bIns="0" anchor="t">
            <a:spAutoFit/>
          </a:bodyPr>
          <a:lstStyle/>
          <a:p>
            <a:pPr algn="l">
              <a:spcAft>
                <a:spcPts val="1200"/>
              </a:spcAft>
            </a:pPr>
            <a:r>
              <a:rPr sz="1900" b="1">
                <a:solidFill>
                  <a:srgbClr val="5FCB7E"/>
                </a:solidFill>
                <a:latin typeface="Arial"/>
              </a:rPr>
              <a:t>Does</a:t>
            </a:r>
          </a:p>
          <a:p>
            <a:pPr algn="l">
              <a:spcAft>
                <a:spcPts val="800"/>
              </a:spcAft>
            </a:pPr>
            <a:r>
              <a:rPr sz="1700" b="0">
                <a:solidFill>
                  <a:srgbClr val="E9E7E3"/>
                </a:solidFill>
                <a:latin typeface="Arial"/>
              </a:rPr>
              <a:t>Positive RND draws on the KEYIN counter</a:t>
            </a:r>
          </a:p>
          <a:p>
            <a:pPr algn="l">
              <a:spcAft>
                <a:spcPts val="800"/>
              </a:spcAft>
            </a:pPr>
            <a:r>
              <a:rPr sz="1700" b="0">
                <a:solidFill>
                  <a:srgbClr val="E9E7E3"/>
                </a:solidFill>
                <a:latin typeface="Arial"/>
              </a:rPr>
              <a:t>RND(−n) still repeats; RND(0) still replays</a:t>
            </a:r>
          </a:p>
          <a:p>
            <a:pPr algn="l">
              <a:spcAft>
                <a:spcPts val="800"/>
              </a:spcAft>
            </a:pPr>
            <a:r>
              <a:rPr sz="1700" b="0">
                <a:solidFill>
                  <a:srgbClr val="E9E7E3"/>
                </a:solidFill>
                <a:latin typeface="Arial"/>
              </a:rPr>
              <a:t>No program changes</a:t>
            </a:r>
          </a:p>
        </p:txBody>
      </p:sp>
      <p:sp>
        <p:nvSpPr>
          <p:cNvPr id="7" name="Rectangle 6"/>
          <p:cNvSpPr/>
          <p:nvPr/>
        </p:nvSpPr>
        <p:spPr>
          <a:xfrm>
            <a:off x="6217920" y="1783080"/>
            <a:ext cx="5303520" cy="3063240"/>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2011680"/>
            <a:ext cx="4754880" cy="2697480"/>
          </a:xfrm>
          <a:prstGeom prst="rect">
            <a:avLst/>
          </a:prstGeom>
          <a:noFill/>
        </p:spPr>
        <p:txBody>
          <a:bodyPr wrap="square" lIns="0" rIns="0" tIns="0" bIns="0" anchor="t">
            <a:spAutoFit/>
          </a:bodyPr>
          <a:lstStyle/>
          <a:p>
            <a:pPr algn="l">
              <a:spcAft>
                <a:spcPts val="1200"/>
              </a:spcAft>
            </a:pPr>
            <a:r>
              <a:rPr sz="1900" b="1">
                <a:solidFill>
                  <a:srgbClr val="5FCB7E"/>
                </a:solidFill>
                <a:latin typeface="Arial"/>
              </a:rPr>
              <a:t>Doesn’t</a:t>
            </a:r>
          </a:p>
          <a:p>
            <a:pPr algn="l">
              <a:spcAft>
                <a:spcPts val="800"/>
              </a:spcAft>
            </a:pPr>
            <a:r>
              <a:rPr sz="1700" b="0">
                <a:solidFill>
                  <a:srgbClr val="E9E7E3"/>
                </a:solidFill>
                <a:latin typeface="Arial"/>
              </a:rPr>
              <a:t>Fix the generator: the 202 loop is still there</a:t>
            </a:r>
          </a:p>
          <a:p>
            <a:pPr algn="l">
              <a:spcAft>
                <a:spcPts val="800"/>
              </a:spcAft>
            </a:pPr>
            <a:r>
              <a:rPr sz="1700" b="0">
                <a:solidFill>
                  <a:srgbClr val="E9E7E3"/>
                </a:solidFill>
                <a:latin typeface="Arial"/>
              </a:rPr>
              <a:t>Help before the first key wait</a:t>
            </a:r>
          </a:p>
          <a:p>
            <a:pPr algn="l">
              <a:spcAft>
                <a:spcPts val="800"/>
              </a:spcAft>
            </a:pPr>
            <a:r>
              <a:rPr sz="1700" b="0">
                <a:solidFill>
                  <a:srgbClr val="E9E7E3"/>
                </a:solidFill>
                <a:latin typeface="Arial"/>
              </a:rPr>
              <a:t>Work without a language card</a:t>
            </a:r>
          </a:p>
        </p:txBody>
      </p:sp>
      <p:sp>
        <p:nvSpPr>
          <p:cNvPr id="9" name="Rectangle 8"/>
          <p:cNvSpPr/>
          <p:nvPr/>
        </p:nvSpPr>
        <p:spPr>
          <a:xfrm>
            <a:off x="640080" y="5029200"/>
            <a:ext cx="10881360" cy="960120"/>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5029200"/>
            <a:ext cx="64008" cy="960120"/>
          </a:xfrm>
          <a:prstGeom prst="rect">
            <a:avLst/>
          </a:prstGeom>
          <a:solidFill>
            <a:srgbClr val="E0A7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19" y="5029200"/>
            <a:ext cx="10332720" cy="960120"/>
          </a:xfrm>
          <a:prstGeom prst="rect">
            <a:avLst/>
          </a:prstGeom>
          <a:noFill/>
        </p:spPr>
        <p:txBody>
          <a:bodyPr wrap="square" lIns="0" rIns="0" tIns="0" bIns="0" anchor="ctr">
            <a:spAutoFit/>
          </a:bodyPr>
          <a:lstStyle/>
          <a:p>
            <a:pPr algn="l">
              <a:spcAft>
                <a:spcPts val="400"/>
              </a:spcAft>
            </a:pPr>
            <a:r>
              <a:rPr sz="1900" b="1">
                <a:solidFill>
                  <a:srgbClr val="E0A73E"/>
                </a:solidFill>
                <a:latin typeface="Arial"/>
              </a:rPr>
              <a:t>[Jeff: confirm behavior and compatibility (backup B4) before this slide is shown]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7181A"/>
        </a:solidFill>
        <a:effectLst/>
      </p:bgPr>
    </p:bg>
    <p:spTree>
      <p:nvGrpSpPr>
        <p:cNvPr id="1" name=""/>
        <p:cNvGrpSpPr/>
        <p:nvPr/>
      </p:nvGrpSpPr>
      <p:grpSpPr/>
      <p:sp>
        <p:nvSpPr>
          <p:cNvPr id="2" name="Rectangle 1"/>
          <p:cNvSpPr/>
          <p:nvPr/>
        </p:nvSpPr>
        <p:spPr>
          <a:xfrm>
            <a:off x="10927080" y="384048"/>
            <a:ext cx="566928" cy="566928"/>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27080" y="384048"/>
            <a:ext cx="566928" cy="566928"/>
          </a:xfrm>
          <a:prstGeom prst="rect">
            <a:avLst/>
          </a:prstGeom>
          <a:noFill/>
        </p:spPr>
        <p:txBody>
          <a:bodyPr wrap="square" lIns="0" rIns="0" tIns="0" bIns="0" anchor="ctr">
            <a:spAutoFit/>
          </a:bodyPr>
          <a:lstStyle/>
          <a:p>
            <a:pPr algn="ctr">
              <a:spcAft>
                <a:spcPts val="0"/>
              </a:spcAft>
            </a:pPr>
            <a:r>
              <a:rPr sz="1500" b="1">
                <a:solidFill>
                  <a:srgbClr val="5FCB7E"/>
                </a:solidFill>
                <a:latin typeface="Courier New"/>
              </a:rPr>
              <a:t>17</a:t>
            </a:r>
          </a:p>
        </p:txBody>
      </p:sp>
      <p:sp>
        <p:nvSpPr>
          <p:cNvPr id="4" name="TextBox 3"/>
          <p:cNvSpPr txBox="1"/>
          <p:nvPr/>
        </p:nvSpPr>
        <p:spPr>
          <a:xfrm>
            <a:off x="640080" y="411480"/>
            <a:ext cx="10058400" cy="685800"/>
          </a:xfrm>
          <a:prstGeom prst="rect">
            <a:avLst/>
          </a:prstGeom>
          <a:noFill/>
        </p:spPr>
        <p:txBody>
          <a:bodyPr wrap="square" lIns="0" rIns="0" tIns="0" bIns="0" anchor="ctr">
            <a:spAutoFit/>
          </a:bodyPr>
          <a:lstStyle/>
          <a:p>
            <a:pPr algn="l">
              <a:spcAft>
                <a:spcPts val="0"/>
              </a:spcAft>
            </a:pPr>
            <a:r>
              <a:rPr sz="3200" b="1">
                <a:solidFill>
                  <a:srgbClr val="E9E7E3"/>
                </a:solidFill>
                <a:latin typeface="Arial"/>
              </a:rPr>
              <a:t>Proof</a:t>
            </a:r>
          </a:p>
        </p:txBody>
      </p:sp>
      <p:sp>
        <p:nvSpPr>
          <p:cNvPr id="5" name="Rectangle 4"/>
          <p:cNvSpPr/>
          <p:nvPr/>
        </p:nvSpPr>
        <p:spPr>
          <a:xfrm>
            <a:off x="2804007" y="1600200"/>
            <a:ext cx="6583680" cy="3091180"/>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169767" y="1874519"/>
            <a:ext cx="6035040" cy="2542540"/>
          </a:xfrm>
          <a:prstGeom prst="rect">
            <a:avLst/>
          </a:prstGeom>
          <a:noFill/>
        </p:spPr>
        <p:txBody>
          <a:bodyPr wrap="square" lIns="0" rIns="0" tIns="0" bIns="0" anchor="t">
            <a:spAutoFit/>
          </a:bodyPr>
          <a:lstStyle/>
          <a:p>
            <a:pPr algn="l">
              <a:spcAft>
                <a:spcPts val="0"/>
              </a:spcAft>
            </a:pPr>
            <a:r>
              <a:rPr sz="2200" b="0">
                <a:solidFill>
                  <a:srgbClr val="5FCB7E"/>
                </a:solidFill>
                <a:latin typeface="Courier New"/>
              </a:rPr>
              <a:t>[power off, power on]</a:t>
            </a:r>
          </a:p>
          <a:p>
            <a:pPr algn="l">
              <a:spcAft>
                <a:spcPts val="0"/>
              </a:spcAft>
            </a:pPr>
            <a:r>
              <a:rPr sz="2200" b="0">
                <a:solidFill>
                  <a:srgbClr val="5FCB7E"/>
                </a:solidFill>
                <a:latin typeface="Courier New"/>
              </a:rPr>
              <a:t>]BRUN LC_LOADER</a:t>
            </a:r>
          </a:p>
          <a:p>
            <a:pPr algn="l">
              <a:spcAft>
                <a:spcPts val="0"/>
              </a:spcAft>
            </a:pPr>
            <a:r>
              <a:rPr sz="2200" b="0">
                <a:solidFill>
                  <a:srgbClr val="5FCB7E"/>
                </a:solidFill>
                <a:latin typeface="Courier New"/>
              </a:rPr>
              <a:t>]PRINT RND(1)</a:t>
            </a:r>
          </a:p>
          <a:p>
            <a:pPr algn="l">
              <a:spcAft>
                <a:spcPts val="0"/>
              </a:spcAft>
            </a:pPr>
            <a:r>
              <a:rPr sz="2200" b="0">
                <a:solidFill>
                  <a:srgbClr val="5FCB7E"/>
                </a:solidFill>
                <a:latin typeface="Courier New"/>
              </a:rPr>
              <a:t/>
            </a:r>
          </a:p>
          <a:p>
            <a:pPr algn="l">
              <a:spcAft>
                <a:spcPts val="0"/>
              </a:spcAft>
            </a:pPr>
            <a:r>
              <a:rPr sz="2200" b="0">
                <a:solidFill>
                  <a:srgbClr val="5FCB7E"/>
                </a:solidFill>
                <a:latin typeface="Courier New"/>
              </a:rPr>
              <a:t>[power off, power on]</a:t>
            </a:r>
          </a:p>
          <a:p>
            <a:pPr algn="l">
              <a:spcAft>
                <a:spcPts val="0"/>
              </a:spcAft>
            </a:pPr>
            <a:r>
              <a:rPr sz="2200" b="0">
                <a:solidFill>
                  <a:srgbClr val="5FCB7E"/>
                </a:solidFill>
                <a:latin typeface="Courier New"/>
              </a:rPr>
              <a:t>]BRUN LC_LOADER</a:t>
            </a:r>
          </a:p>
          <a:p>
            <a:pPr algn="l">
              <a:spcAft>
                <a:spcPts val="0"/>
              </a:spcAft>
            </a:pPr>
            <a:r>
              <a:rPr sz="2200" b="0">
                <a:solidFill>
                  <a:srgbClr val="5FCB7E"/>
                </a:solidFill>
                <a:latin typeface="Courier New"/>
              </a:rPr>
              <a:t>]PRINT RND(1)</a:t>
            </a:r>
          </a:p>
        </p:txBody>
      </p:sp>
      <p:sp>
        <p:nvSpPr>
          <p:cNvPr id="7" name="TextBox 6"/>
          <p:cNvSpPr txBox="1"/>
          <p:nvPr/>
        </p:nvSpPr>
        <p:spPr>
          <a:xfrm>
            <a:off x="822960" y="5011420"/>
            <a:ext cx="10515600" cy="1280160"/>
          </a:xfrm>
          <a:prstGeom prst="rect">
            <a:avLst/>
          </a:prstGeom>
          <a:noFill/>
        </p:spPr>
        <p:txBody>
          <a:bodyPr wrap="square" lIns="0" rIns="0" tIns="0" bIns="0" anchor="t">
            <a:spAutoFit/>
          </a:bodyPr>
          <a:lstStyle/>
          <a:p>
            <a:pPr algn="ctr">
              <a:spcAft>
                <a:spcPts val="1000"/>
              </a:spcAft>
            </a:pPr>
            <a:r>
              <a:rPr sz="2200" b="1">
                <a:solidFill>
                  <a:srgbClr val="E9E7E3"/>
                </a:solidFill>
                <a:latin typeface="Arial"/>
              </a:rPr>
              <a:t>Two power-ons. Two different numbers.</a:t>
            </a:r>
          </a:p>
          <a:p>
            <a:pPr algn="ctr">
              <a:spcAft>
                <a:spcPts val="600"/>
              </a:spcAft>
            </a:pPr>
            <a:r>
              <a:rPr sz="1800" b="0">
                <a:solidFill>
                  <a:srgbClr val="9DA39B"/>
                </a:solidFill>
                <a:latin typeface="Arial"/>
              </a:rPr>
              <a:t>Live, or a recorded clip if power-cycling on stage is risky.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7181A"/>
        </a:solidFill>
        <a:effectLst/>
      </p:bgPr>
    </p:bg>
    <p:spTree>
      <p:nvGrpSpPr>
        <p:cNvPr id="1" name=""/>
        <p:cNvGrpSpPr/>
        <p:nvPr/>
      </p:nvGrpSpPr>
      <p:grpSpPr/>
      <p:sp>
        <p:nvSpPr>
          <p:cNvPr id="2" name="Rectangle 1"/>
          <p:cNvSpPr/>
          <p:nvPr/>
        </p:nvSpPr>
        <p:spPr>
          <a:xfrm>
            <a:off x="10927080" y="384048"/>
            <a:ext cx="566928" cy="566928"/>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27080" y="384048"/>
            <a:ext cx="566928" cy="566928"/>
          </a:xfrm>
          <a:prstGeom prst="rect">
            <a:avLst/>
          </a:prstGeom>
          <a:noFill/>
        </p:spPr>
        <p:txBody>
          <a:bodyPr wrap="square" lIns="0" rIns="0" tIns="0" bIns="0" anchor="ctr">
            <a:spAutoFit/>
          </a:bodyPr>
          <a:lstStyle/>
          <a:p>
            <a:pPr algn="ctr">
              <a:spcAft>
                <a:spcPts val="0"/>
              </a:spcAft>
            </a:pPr>
            <a:r>
              <a:rPr sz="1500" b="1">
                <a:solidFill>
                  <a:srgbClr val="5FCB7E"/>
                </a:solidFill>
                <a:latin typeface="Courier New"/>
              </a:rPr>
              <a:t>18</a:t>
            </a:r>
          </a:p>
        </p:txBody>
      </p:sp>
      <p:sp>
        <p:nvSpPr>
          <p:cNvPr id="4" name="TextBox 3"/>
          <p:cNvSpPr txBox="1"/>
          <p:nvPr/>
        </p:nvSpPr>
        <p:spPr>
          <a:xfrm>
            <a:off x="640080" y="411480"/>
            <a:ext cx="10058400" cy="685800"/>
          </a:xfrm>
          <a:prstGeom prst="rect">
            <a:avLst/>
          </a:prstGeom>
          <a:noFill/>
        </p:spPr>
        <p:txBody>
          <a:bodyPr wrap="square" lIns="0" rIns="0" tIns="0" bIns="0" anchor="ctr">
            <a:spAutoFit/>
          </a:bodyPr>
          <a:lstStyle/>
          <a:p>
            <a:pPr algn="l">
              <a:spcAft>
                <a:spcPts val="0"/>
              </a:spcAft>
            </a:pPr>
            <a:r>
              <a:rPr sz="3200" b="1">
                <a:solidFill>
                  <a:srgbClr val="E9E7E3"/>
                </a:solidFill>
                <a:latin typeface="Arial"/>
              </a:rPr>
              <a:t>Now: the same shape, 2006</a:t>
            </a:r>
          </a:p>
        </p:txBody>
      </p:sp>
      <p:sp>
        <p:nvSpPr>
          <p:cNvPr id="5" name="TextBox 4"/>
          <p:cNvSpPr txBox="1"/>
          <p:nvPr/>
        </p:nvSpPr>
        <p:spPr>
          <a:xfrm>
            <a:off x="640080" y="1143000"/>
            <a:ext cx="10241280" cy="457200"/>
          </a:xfrm>
          <a:prstGeom prst="rect">
            <a:avLst/>
          </a:prstGeom>
          <a:noFill/>
        </p:spPr>
        <p:txBody>
          <a:bodyPr wrap="square" lIns="0" rIns="0" tIns="0" bIns="0" anchor="t">
            <a:spAutoFit/>
          </a:bodyPr>
          <a:lstStyle/>
          <a:p>
            <a:pPr algn="l">
              <a:spcAft>
                <a:spcPts val="0"/>
              </a:spcAft>
            </a:pPr>
            <a:r>
              <a:rPr sz="1800" b="0">
                <a:solidFill>
                  <a:srgbClr val="9DA39B"/>
                </a:solidFill>
                <a:latin typeface="Arial"/>
              </a:rPr>
              <a:t>A change silently disconnects the entropy. The output still looks random.</a:t>
            </a:r>
          </a:p>
        </p:txBody>
      </p:sp>
      <p:sp>
        <p:nvSpPr>
          <p:cNvPr id="6" name="TextBox 5"/>
          <p:cNvSpPr txBox="1"/>
          <p:nvPr/>
        </p:nvSpPr>
        <p:spPr>
          <a:xfrm>
            <a:off x="640080" y="6309360"/>
            <a:ext cx="10881360" cy="365760"/>
          </a:xfrm>
          <a:prstGeom prst="rect">
            <a:avLst/>
          </a:prstGeom>
          <a:noFill/>
        </p:spPr>
        <p:txBody>
          <a:bodyPr wrap="square" lIns="0" rIns="0" tIns="0" bIns="0" anchor="t">
            <a:spAutoFit/>
          </a:bodyPr>
          <a:lstStyle/>
          <a:p>
            <a:pPr algn="l">
              <a:spcAft>
                <a:spcPts val="0"/>
              </a:spcAft>
            </a:pPr>
            <a:r>
              <a:rPr sz="1050" b="0">
                <a:solidFill>
                  <a:srgbClr val="9DA39B"/>
                </a:solidFill>
                <a:latin typeface="Arial"/>
              </a:rPr>
              <a:t>Debian Security Advisory DSA-1571-1 (May 2008); ISO C, rand/srand</a:t>
            </a:r>
          </a:p>
        </p:txBody>
      </p:sp>
      <p:sp>
        <p:nvSpPr>
          <p:cNvPr id="7" name="Rectangle 6"/>
          <p:cNvSpPr/>
          <p:nvPr/>
        </p:nvSpPr>
        <p:spPr>
          <a:xfrm>
            <a:off x="640080" y="1783080"/>
            <a:ext cx="5303520" cy="3063240"/>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11680"/>
            <a:ext cx="4754880" cy="2697480"/>
          </a:xfrm>
          <a:prstGeom prst="rect">
            <a:avLst/>
          </a:prstGeom>
          <a:noFill/>
        </p:spPr>
        <p:txBody>
          <a:bodyPr wrap="square" lIns="0" rIns="0" tIns="0" bIns="0" anchor="t">
            <a:spAutoFit/>
          </a:bodyPr>
          <a:lstStyle/>
          <a:p>
            <a:pPr algn="l">
              <a:spcAft>
                <a:spcPts val="1200"/>
              </a:spcAft>
            </a:pPr>
            <a:r>
              <a:rPr sz="1900" b="1">
                <a:solidFill>
                  <a:srgbClr val="5FCB7E"/>
                </a:solidFill>
                <a:latin typeface="Arial"/>
              </a:rPr>
              <a:t>Debian OpenSSL, 2006–2008</a:t>
            </a:r>
          </a:p>
          <a:p>
            <a:pPr algn="l">
              <a:spcAft>
                <a:spcPts val="800"/>
              </a:spcAft>
            </a:pPr>
            <a:r>
              <a:rPr sz="1700" b="0">
                <a:solidFill>
                  <a:srgbClr val="E9E7E3"/>
                </a:solidFill>
                <a:latin typeface="Arial"/>
              </a:rPr>
              <a:t>A Debian change removed nearly all entropy from OpenSSL’s PRNG</a:t>
            </a:r>
          </a:p>
          <a:p>
            <a:pPr algn="l">
              <a:spcAft>
                <a:spcPts val="800"/>
              </a:spcAft>
            </a:pPr>
            <a:r>
              <a:rPr sz="1700" b="0">
                <a:solidFill>
                  <a:srgbClr val="E9E7E3"/>
                </a:solidFill>
                <a:latin typeface="Arial"/>
              </a:rPr>
              <a:t>Keys were predictable until May 2008</a:t>
            </a:r>
          </a:p>
          <a:p>
            <a:pPr algn="l">
              <a:spcAft>
                <a:spcPts val="800"/>
              </a:spcAft>
            </a:pPr>
            <a:r>
              <a:rPr sz="1700" b="0">
                <a:solidFill>
                  <a:srgbClr val="E9E7E3"/>
                </a:solidFill>
                <a:latin typeface="Arial"/>
              </a:rPr>
              <a:t>CVE-2008-0166</a:t>
            </a:r>
          </a:p>
        </p:txBody>
      </p:sp>
      <p:sp>
        <p:nvSpPr>
          <p:cNvPr id="9" name="Rectangle 8"/>
          <p:cNvSpPr/>
          <p:nvPr/>
        </p:nvSpPr>
        <p:spPr>
          <a:xfrm>
            <a:off x="6217920" y="1783080"/>
            <a:ext cx="5303520" cy="3063240"/>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2011680"/>
            <a:ext cx="4754880" cy="2697480"/>
          </a:xfrm>
          <a:prstGeom prst="rect">
            <a:avLst/>
          </a:prstGeom>
          <a:noFill/>
        </p:spPr>
        <p:txBody>
          <a:bodyPr wrap="square" lIns="0" rIns="0" tIns="0" bIns="0" anchor="t">
            <a:spAutoFit/>
          </a:bodyPr>
          <a:lstStyle/>
          <a:p>
            <a:pPr algn="l">
              <a:spcAft>
                <a:spcPts val="1200"/>
              </a:spcAft>
            </a:pPr>
            <a:r>
              <a:rPr sz="1900" b="1">
                <a:solidFill>
                  <a:srgbClr val="5FCB7E"/>
                </a:solidFill>
                <a:latin typeface="Arial"/>
              </a:rPr>
              <a:t>C, today</a:t>
            </a:r>
          </a:p>
          <a:p>
            <a:pPr algn="l">
              <a:spcAft>
                <a:spcPts val="800"/>
              </a:spcAft>
            </a:pPr>
            <a:r>
              <a:rPr sz="1700" b="0">
                <a:solidFill>
                  <a:srgbClr val="E9E7E3"/>
                </a:solidFill>
                <a:latin typeface="Arial"/>
              </a:rPr>
              <a:t>rand() without srand() starts as if seeded with 1</a:t>
            </a:r>
          </a:p>
          <a:p>
            <a:pPr algn="l">
              <a:spcAft>
                <a:spcPts val="800"/>
              </a:spcAft>
            </a:pPr>
            <a:r>
              <a:rPr sz="1700" b="0">
                <a:solidFill>
                  <a:srgbClr val="E9E7E3"/>
                </a:solidFill>
                <a:latin typeface="Arial"/>
              </a:rPr>
              <a:t>Same sequence, every run</a:t>
            </a:r>
          </a:p>
        </p:txBody>
      </p:sp>
      <p:sp>
        <p:nvSpPr>
          <p:cNvPr id="11" name="Rectangle 10"/>
          <p:cNvSpPr/>
          <p:nvPr/>
        </p:nvSpPr>
        <p:spPr>
          <a:xfrm>
            <a:off x="640080" y="5029200"/>
            <a:ext cx="10881360" cy="960120"/>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5029200"/>
            <a:ext cx="64008" cy="960120"/>
          </a:xfrm>
          <a:prstGeom prst="rect">
            <a:avLst/>
          </a:prstGeom>
          <a:solidFill>
            <a:srgbClr val="E0A7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19" y="5029200"/>
            <a:ext cx="10332720" cy="960120"/>
          </a:xfrm>
          <a:prstGeom prst="rect">
            <a:avLst/>
          </a:prstGeom>
          <a:noFill/>
        </p:spPr>
        <p:txBody>
          <a:bodyPr wrap="square" lIns="0" rIns="0" tIns="0" bIns="0" anchor="ctr">
            <a:spAutoFit/>
          </a:bodyPr>
          <a:lstStyle/>
          <a:p>
            <a:pPr algn="l">
              <a:spcAft>
                <a:spcPts val="400"/>
              </a:spcAft>
            </a:pPr>
            <a:r>
              <a:rPr sz="1900" b="0">
                <a:solidFill>
                  <a:srgbClr val="E9E7E3"/>
                </a:solidFill>
                <a:latin typeface="Arial"/>
              </a:rPr>
              <a:t>A parallel, not a lineage.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7181A"/>
        </a:solidFill>
        <a:effectLst/>
      </p:bgPr>
    </p:bg>
    <p:spTree>
      <p:nvGrpSpPr>
        <p:cNvPr id="1" name=""/>
        <p:cNvGrpSpPr/>
        <p:nvPr/>
      </p:nvGrpSpPr>
      <p:grpSpPr/>
      <p:sp>
        <p:nvSpPr>
          <p:cNvPr id="2" name="Rectangle 1"/>
          <p:cNvSpPr/>
          <p:nvPr/>
        </p:nvSpPr>
        <p:spPr>
          <a:xfrm>
            <a:off x="10927080" y="384048"/>
            <a:ext cx="566928" cy="566928"/>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27080" y="384048"/>
            <a:ext cx="566928" cy="566928"/>
          </a:xfrm>
          <a:prstGeom prst="rect">
            <a:avLst/>
          </a:prstGeom>
          <a:noFill/>
        </p:spPr>
        <p:txBody>
          <a:bodyPr wrap="square" lIns="0" rIns="0" tIns="0" bIns="0" anchor="ctr">
            <a:spAutoFit/>
          </a:bodyPr>
          <a:lstStyle/>
          <a:p>
            <a:pPr algn="ctr">
              <a:spcAft>
                <a:spcPts val="0"/>
              </a:spcAft>
            </a:pPr>
            <a:r>
              <a:rPr sz="1500" b="1">
                <a:solidFill>
                  <a:srgbClr val="5FCB7E"/>
                </a:solidFill>
                <a:latin typeface="Courier New"/>
              </a:rPr>
              <a:t>19</a:t>
            </a:r>
          </a:p>
        </p:txBody>
      </p:sp>
      <p:sp>
        <p:nvSpPr>
          <p:cNvPr id="4" name="TextBox 3"/>
          <p:cNvSpPr txBox="1"/>
          <p:nvPr/>
        </p:nvSpPr>
        <p:spPr>
          <a:xfrm>
            <a:off x="822960" y="685800"/>
            <a:ext cx="9692640" cy="1554480"/>
          </a:xfrm>
          <a:prstGeom prst="rect">
            <a:avLst/>
          </a:prstGeom>
          <a:noFill/>
        </p:spPr>
        <p:txBody>
          <a:bodyPr wrap="square" lIns="0" rIns="0" tIns="0" bIns="0" anchor="t">
            <a:spAutoFit/>
          </a:bodyPr>
          <a:lstStyle/>
          <a:p>
            <a:pPr algn="l">
              <a:spcAft>
                <a:spcPts val="800"/>
              </a:spcAft>
            </a:pPr>
            <a:r>
              <a:rPr sz="1900" b="0">
                <a:solidFill>
                  <a:srgbClr val="E9E7E3"/>
                </a:solidFill>
                <a:latin typeface="Arial"/>
              </a:rPr>
              <a:t>1977: Integer BASIC seeded RND from you. Applesoft seeded it from ROM.</a:t>
            </a:r>
          </a:p>
          <a:p>
            <a:pPr algn="l">
              <a:spcAft>
                <a:spcPts val="800"/>
              </a:spcAft>
            </a:pPr>
            <a:r>
              <a:rPr sz="1900" b="0">
                <a:solidFill>
                  <a:srgbClr val="E9E7E3"/>
                </a:solidFill>
                <a:latin typeface="Arial"/>
              </a:rPr>
              <a:t>It hid for years: rerun looked random; only power-on repeated.</a:t>
            </a:r>
          </a:p>
          <a:p>
            <a:pPr algn="l">
              <a:spcAft>
                <a:spcPts val="800"/>
              </a:spcAft>
            </a:pPr>
            <a:r>
              <a:rPr sz="1900" b="0">
                <a:solidFill>
                  <a:srgbClr val="E9E7E3"/>
                </a:solidFill>
                <a:latin typeface="Arial"/>
              </a:rPr>
              <a:t>The fix puts the counter back without changing a single program.</a:t>
            </a:r>
          </a:p>
        </p:txBody>
      </p:sp>
      <p:sp>
        <p:nvSpPr>
          <p:cNvPr id="5" name="TextBox 4"/>
          <p:cNvSpPr txBox="1"/>
          <p:nvPr/>
        </p:nvSpPr>
        <p:spPr>
          <a:xfrm>
            <a:off x="822960" y="2331720"/>
            <a:ext cx="10515600" cy="731520"/>
          </a:xfrm>
          <a:prstGeom prst="rect">
            <a:avLst/>
          </a:prstGeom>
          <a:noFill/>
        </p:spPr>
        <p:txBody>
          <a:bodyPr wrap="square" lIns="0" rIns="0" tIns="0" bIns="0" anchor="t">
            <a:spAutoFit/>
          </a:bodyPr>
          <a:lstStyle/>
          <a:p>
            <a:pPr algn="l">
              <a:spcAft>
                <a:spcPts val="0"/>
              </a:spcAft>
            </a:pPr>
            <a:r>
              <a:rPr sz="4400" b="1">
                <a:solidFill>
                  <a:srgbClr val="E9E7E3"/>
                </a:solidFill>
                <a:latin typeface="Arial"/>
              </a:rPr>
              <a:t>Try it yourself</a:t>
            </a:r>
          </a:p>
        </p:txBody>
      </p:sp>
      <p:sp>
        <p:nvSpPr>
          <p:cNvPr id="6" name="Rectangle 5"/>
          <p:cNvSpPr/>
          <p:nvPr/>
        </p:nvSpPr>
        <p:spPr>
          <a:xfrm>
            <a:off x="841248" y="3200400"/>
            <a:ext cx="1463040" cy="27432"/>
          </a:xfrm>
          <a:prstGeom prst="rect">
            <a:avLst/>
          </a:prstGeom>
          <a:solidFill>
            <a:srgbClr val="5FCB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74720"/>
            <a:ext cx="7863840" cy="457200"/>
          </a:xfrm>
          <a:prstGeom prst="rect">
            <a:avLst/>
          </a:prstGeom>
          <a:noFill/>
        </p:spPr>
        <p:txBody>
          <a:bodyPr wrap="square" lIns="0" rIns="0" tIns="0" bIns="0" anchor="t">
            <a:spAutoFit/>
          </a:bodyPr>
          <a:lstStyle/>
          <a:p>
            <a:pPr algn="l">
              <a:spcAft>
                <a:spcPts val="0"/>
              </a:spcAft>
            </a:pPr>
            <a:r>
              <a:rPr sz="2000" b="0">
                <a:solidFill>
                  <a:srgbClr val="E0A73E"/>
                </a:solidFill>
                <a:latin typeface="Courier New"/>
              </a:rPr>
              <a:t>[ URL: Jeff to supply ]</a:t>
            </a:r>
          </a:p>
        </p:txBody>
      </p:sp>
      <p:sp>
        <p:nvSpPr>
          <p:cNvPr id="8" name="Rectangle 7"/>
          <p:cNvSpPr/>
          <p:nvPr/>
        </p:nvSpPr>
        <p:spPr>
          <a:xfrm>
            <a:off x="9418320" y="3291840"/>
            <a:ext cx="1828800" cy="1828800"/>
          </a:xfrm>
          <a:prstGeom prst="rect">
            <a:avLst/>
          </a:prstGeom>
          <a:solidFill>
            <a:srgbClr val="202225"/>
          </a:solidFill>
          <a:ln w="19050">
            <a:solidFill>
              <a:srgbClr val="E0A73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18320" y="3291840"/>
            <a:ext cx="1828800" cy="1828800"/>
          </a:xfrm>
          <a:prstGeom prst="rect">
            <a:avLst/>
          </a:prstGeom>
          <a:noFill/>
        </p:spPr>
        <p:txBody>
          <a:bodyPr wrap="square" lIns="0" rIns="0" tIns="0" bIns="0" anchor="ctr">
            <a:spAutoFit/>
          </a:bodyPr>
          <a:lstStyle/>
          <a:p>
            <a:pPr algn="ctr">
              <a:spcAft>
                <a:spcPts val="200"/>
              </a:spcAft>
            </a:pPr>
            <a:r>
              <a:rPr sz="1600" b="1">
                <a:solidFill>
                  <a:srgbClr val="E0A73E"/>
                </a:solidFill>
                <a:latin typeface="Arial"/>
              </a:rPr>
              <a:t>QR</a:t>
            </a:r>
          </a:p>
          <a:p>
            <a:pPr algn="ctr">
              <a:spcAft>
                <a:spcPts val="0"/>
              </a:spcAft>
            </a:pPr>
            <a:r>
              <a:rPr sz="1200" b="0">
                <a:solidFill>
                  <a:srgbClr val="E0A73E"/>
                </a:solidFill>
                <a:latin typeface="Arial"/>
              </a:rPr>
              <a:t>Jeff to supply</a:t>
            </a:r>
          </a:p>
        </p:txBody>
      </p:sp>
      <p:sp>
        <p:nvSpPr>
          <p:cNvPr id="10" name="TextBox 9"/>
          <p:cNvSpPr txBox="1"/>
          <p:nvPr/>
        </p:nvSpPr>
        <p:spPr>
          <a:xfrm>
            <a:off x="822960" y="5394960"/>
            <a:ext cx="8229600" cy="365760"/>
          </a:xfrm>
          <a:prstGeom prst="rect">
            <a:avLst/>
          </a:prstGeom>
          <a:noFill/>
        </p:spPr>
        <p:txBody>
          <a:bodyPr wrap="square" lIns="0" rIns="0" tIns="0" bIns="0" anchor="t">
            <a:spAutoFit/>
          </a:bodyPr>
          <a:lstStyle/>
          <a:p>
            <a:pPr algn="l">
              <a:spcAft>
                <a:spcPts val="0"/>
              </a:spcAft>
            </a:pPr>
            <a:r>
              <a:rPr sz="1500" b="0">
                <a:solidFill>
                  <a:srgbClr val="9DA39B"/>
                </a:solidFill>
                <a:latin typeface="Arial"/>
              </a:rPr>
              <a:t>Jeff Robison   ·   VCF Midwest 21 2026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7181A"/>
        </a:solidFill>
        <a:effectLst/>
      </p:bgPr>
    </p:bg>
    <p:spTree>
      <p:nvGrpSpPr>
        <p:cNvPr id="1" name=""/>
        <p:cNvGrpSpPr/>
        <p:nvPr/>
      </p:nvGrpSpPr>
      <p:grpSpPr/>
      <p:sp>
        <p:nvSpPr>
          <p:cNvPr id="2" name="Rectangle 1"/>
          <p:cNvSpPr/>
          <p:nvPr/>
        </p:nvSpPr>
        <p:spPr>
          <a:xfrm>
            <a:off x="10927080" y="384048"/>
            <a:ext cx="566928" cy="566928"/>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27080" y="384048"/>
            <a:ext cx="566928" cy="566928"/>
          </a:xfrm>
          <a:prstGeom prst="rect">
            <a:avLst/>
          </a:prstGeom>
          <a:noFill/>
        </p:spPr>
        <p:txBody>
          <a:bodyPr wrap="square" lIns="0" rIns="0" tIns="0" bIns="0" anchor="ctr">
            <a:spAutoFit/>
          </a:bodyPr>
          <a:lstStyle/>
          <a:p>
            <a:pPr algn="ctr">
              <a:spcAft>
                <a:spcPts val="0"/>
              </a:spcAft>
            </a:pPr>
            <a:r>
              <a:rPr sz="1500" b="1">
                <a:solidFill>
                  <a:srgbClr val="5FCB7E"/>
                </a:solidFill>
                <a:latin typeface="Courier New"/>
              </a:rPr>
              <a:t>B1</a:t>
            </a:r>
          </a:p>
        </p:txBody>
      </p:sp>
      <p:sp>
        <p:nvSpPr>
          <p:cNvPr id="4" name="TextBox 3"/>
          <p:cNvSpPr txBox="1"/>
          <p:nvPr/>
        </p:nvSpPr>
        <p:spPr>
          <a:xfrm>
            <a:off x="640080" y="411480"/>
            <a:ext cx="10058400" cy="685800"/>
          </a:xfrm>
          <a:prstGeom prst="rect">
            <a:avLst/>
          </a:prstGeom>
          <a:noFill/>
        </p:spPr>
        <p:txBody>
          <a:bodyPr wrap="square" lIns="0" rIns="0" tIns="0" bIns="0" anchor="ctr">
            <a:spAutoFit/>
          </a:bodyPr>
          <a:lstStyle/>
          <a:p>
            <a:pPr algn="l">
              <a:spcAft>
                <a:spcPts val="0"/>
              </a:spcAft>
            </a:pPr>
            <a:r>
              <a:rPr sz="3200" b="1">
                <a:solidFill>
                  <a:srgbClr val="E9E7E3"/>
                </a:solidFill>
                <a:latin typeface="Arial"/>
              </a:rPr>
              <a:t>Backup: Applesoft RND, byte by byte</a:t>
            </a:r>
          </a:p>
        </p:txBody>
      </p:sp>
      <p:sp>
        <p:nvSpPr>
          <p:cNvPr id="5" name="TextBox 4"/>
          <p:cNvSpPr txBox="1"/>
          <p:nvPr/>
        </p:nvSpPr>
        <p:spPr>
          <a:xfrm>
            <a:off x="640080" y="6309360"/>
            <a:ext cx="10881360" cy="365760"/>
          </a:xfrm>
          <a:prstGeom prst="rect">
            <a:avLst/>
          </a:prstGeom>
          <a:noFill/>
        </p:spPr>
        <p:txBody>
          <a:bodyPr wrap="square" lIns="0" rIns="0" tIns="0" bIns="0" anchor="t">
            <a:spAutoFit/>
          </a:bodyPr>
          <a:lstStyle/>
          <a:p>
            <a:pPr algn="l">
              <a:spcAft>
                <a:spcPts val="0"/>
              </a:spcAft>
            </a:pPr>
            <a:r>
              <a:rPr sz="1050" b="0">
                <a:solidFill>
                  <a:srgbClr val="9DA39B"/>
                </a:solidFill>
                <a:latin typeface="Arial"/>
              </a:rPr>
              <a:t>AppleWin Apple2_Plus.rom (SHA-1 33a24f54…); S-C DocuMentor labels, simplified</a:t>
            </a:r>
          </a:p>
        </p:txBody>
      </p:sp>
      <p:sp>
        <p:nvSpPr>
          <p:cNvPr id="6" name="Rectangle 5"/>
          <p:cNvSpPr/>
          <p:nvPr/>
        </p:nvSpPr>
        <p:spPr>
          <a:xfrm>
            <a:off x="640080" y="1234440"/>
            <a:ext cx="7223760" cy="4937760"/>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417320"/>
            <a:ext cx="6858000" cy="4663440"/>
          </a:xfrm>
          <a:prstGeom prst="rect">
            <a:avLst/>
          </a:prstGeom>
          <a:noFill/>
        </p:spPr>
        <p:txBody>
          <a:bodyPr wrap="square" lIns="0" rIns="0" tIns="0" bIns="0" anchor="t">
            <a:spAutoFit/>
          </a:bodyPr>
          <a:lstStyle/>
          <a:p>
            <a:pPr algn="l">
              <a:spcAft>
                <a:spcPts val="0"/>
              </a:spcAft>
            </a:pPr>
            <a:r>
              <a:rPr sz="1050" b="0">
                <a:solidFill>
                  <a:srgbClr val="E9E7E3"/>
                </a:solidFill>
                <a:latin typeface="Courier New"/>
              </a:rPr>
              <a:t>EFAE: 20 82 EB  JSR SIGN        ; -1 / 0 / +1</a:t>
            </a:r>
          </a:p>
          <a:p>
            <a:pPr algn="l">
              <a:spcAft>
                <a:spcPts val="0"/>
              </a:spcAft>
            </a:pPr>
            <a:r>
              <a:rPr sz="1050" b="0">
                <a:solidFill>
                  <a:srgbClr val="E9E7E3"/>
                </a:solidFill>
                <a:latin typeface="Courier New"/>
              </a:rPr>
              <a:t>EFB1: AA        TAX</a:t>
            </a:r>
          </a:p>
          <a:p>
            <a:pPr algn="l">
              <a:spcAft>
                <a:spcPts val="0"/>
              </a:spcAft>
            </a:pPr>
            <a:r>
              <a:rPr sz="1050" b="0">
                <a:solidFill>
                  <a:srgbClr val="E9E7E3"/>
                </a:solidFill>
                <a:latin typeface="Courier New"/>
              </a:rPr>
              <a:t>EFB2: 30 18     BMI $EFCC       ; negative: reseed from arg</a:t>
            </a:r>
          </a:p>
          <a:p>
            <a:pPr algn="l">
              <a:spcAft>
                <a:spcPts val="0"/>
              </a:spcAft>
            </a:pPr>
            <a:r>
              <a:rPr sz="1050" b="0">
                <a:solidFill>
                  <a:srgbClr val="E9E7E3"/>
                </a:solidFill>
                <a:latin typeface="Courier New"/>
              </a:rPr>
              <a:t>EFB4: A9 C9     LDA #$C9</a:t>
            </a:r>
          </a:p>
          <a:p>
            <a:pPr algn="l">
              <a:spcAft>
                <a:spcPts val="0"/>
              </a:spcAft>
            </a:pPr>
            <a:r>
              <a:rPr sz="1050" b="0">
                <a:solidFill>
                  <a:srgbClr val="E9E7E3"/>
                </a:solidFill>
                <a:latin typeface="Courier New"/>
              </a:rPr>
              <a:t>EFB6: A0 00     LDY #$00</a:t>
            </a:r>
          </a:p>
          <a:p>
            <a:pPr algn="l">
              <a:spcAft>
                <a:spcPts val="0"/>
              </a:spcAft>
            </a:pPr>
            <a:r>
              <a:rPr sz="1050" b="0">
                <a:solidFill>
                  <a:srgbClr val="E9E7E3"/>
                </a:solidFill>
                <a:latin typeface="Courier New"/>
              </a:rPr>
              <a:t>EFB8: 20 F9 EA  JSR LOAD_FAC    ; FAC = seed</a:t>
            </a:r>
          </a:p>
          <a:p>
            <a:pPr algn="l">
              <a:spcAft>
                <a:spcPts val="0"/>
              </a:spcAft>
            </a:pPr>
            <a:r>
              <a:rPr sz="1050" b="0">
                <a:solidFill>
                  <a:srgbClr val="E9E7E3"/>
                </a:solidFill>
                <a:latin typeface="Courier New"/>
              </a:rPr>
              <a:t>EFBB: 8A        TXA</a:t>
            </a:r>
          </a:p>
          <a:p>
            <a:pPr algn="l">
              <a:spcAft>
                <a:spcPts val="0"/>
              </a:spcAft>
            </a:pPr>
            <a:r>
              <a:rPr sz="1050" b="0">
                <a:solidFill>
                  <a:srgbClr val="E9E7E3"/>
                </a:solidFill>
                <a:latin typeface="Courier New"/>
              </a:rPr>
              <a:t>EFBC: F0 E7     BEQ $EFA5       ; RND(0): return seed</a:t>
            </a:r>
          </a:p>
          <a:p>
            <a:pPr algn="l">
              <a:spcAft>
                <a:spcPts val="0"/>
              </a:spcAft>
            </a:pPr>
            <a:r>
              <a:rPr sz="1050" b="0">
                <a:solidFill>
                  <a:srgbClr val="E9E7E3"/>
                </a:solidFill>
                <a:latin typeface="Courier New"/>
              </a:rPr>
              <a:t>EFBE: A9 A6     LDA #$A6</a:t>
            </a:r>
          </a:p>
          <a:p>
            <a:pPr algn="l">
              <a:spcAft>
                <a:spcPts val="0"/>
              </a:spcAft>
            </a:pPr>
            <a:r>
              <a:rPr sz="1050" b="0">
                <a:solidFill>
                  <a:srgbClr val="E9E7E3"/>
                </a:solidFill>
                <a:latin typeface="Courier New"/>
              </a:rPr>
              <a:t>EFC0: A0 EF     LDY #$EF</a:t>
            </a:r>
          </a:p>
          <a:p>
            <a:pPr algn="l">
              <a:spcAft>
                <a:spcPts val="0"/>
              </a:spcAft>
            </a:pPr>
            <a:r>
              <a:rPr sz="1050" b="0">
                <a:solidFill>
                  <a:srgbClr val="E9E7E3"/>
                </a:solidFill>
                <a:latin typeface="Courier New"/>
              </a:rPr>
              <a:t>EFC2: 20 7F E9  JSR FMULT       ; x 11879546.40625</a:t>
            </a:r>
          </a:p>
          <a:p>
            <a:pPr algn="l">
              <a:spcAft>
                <a:spcPts val="0"/>
              </a:spcAft>
            </a:pPr>
            <a:r>
              <a:rPr sz="1050" b="0">
                <a:solidFill>
                  <a:srgbClr val="E9E7E3"/>
                </a:solidFill>
                <a:latin typeface="Courier New"/>
              </a:rPr>
              <a:t>EFC5: A9 AA     LDA #$AA</a:t>
            </a:r>
          </a:p>
          <a:p>
            <a:pPr algn="l">
              <a:spcAft>
                <a:spcPts val="0"/>
              </a:spcAft>
            </a:pPr>
            <a:r>
              <a:rPr sz="1050" b="0">
                <a:solidFill>
                  <a:srgbClr val="E9E7E3"/>
                </a:solidFill>
                <a:latin typeface="Courier New"/>
              </a:rPr>
              <a:t>EFC7: A0 EF     LDY #$EF</a:t>
            </a:r>
          </a:p>
          <a:p>
            <a:pPr algn="l">
              <a:spcAft>
                <a:spcPts val="0"/>
              </a:spcAft>
            </a:pPr>
            <a:r>
              <a:rPr sz="1050" b="0">
                <a:solidFill>
                  <a:srgbClr val="E9E7E3"/>
                </a:solidFill>
                <a:latin typeface="Courier New"/>
              </a:rPr>
              <a:t>EFC9: 20 BE E7  JSR FADD        ; + 3.93E-8, lost</a:t>
            </a:r>
          </a:p>
          <a:p>
            <a:pPr algn="l">
              <a:spcAft>
                <a:spcPts val="0"/>
              </a:spcAft>
            </a:pPr>
            <a:r>
              <a:rPr sz="1050" b="0">
                <a:solidFill>
                  <a:srgbClr val="E9E7E3"/>
                </a:solidFill>
                <a:latin typeface="Courier New"/>
              </a:rPr>
              <a:t>EFCC: A6 A1     LDX FAC+4       ; swap highest and</a:t>
            </a:r>
          </a:p>
          <a:p>
            <a:pPr algn="l">
              <a:spcAft>
                <a:spcPts val="0"/>
              </a:spcAft>
            </a:pPr>
            <a:r>
              <a:rPr sz="1050" b="0">
                <a:solidFill>
                  <a:srgbClr val="E9E7E3"/>
                </a:solidFill>
                <a:latin typeface="Courier New"/>
              </a:rPr>
              <a:t>EFCE: A5 9E     LDA FAC+1       ;   lowest bytes</a:t>
            </a:r>
          </a:p>
          <a:p>
            <a:pPr algn="l">
              <a:spcAft>
                <a:spcPts val="0"/>
              </a:spcAft>
            </a:pPr>
            <a:r>
              <a:rPr sz="1050" b="0">
                <a:solidFill>
                  <a:srgbClr val="E9E7E3"/>
                </a:solidFill>
                <a:latin typeface="Courier New"/>
              </a:rPr>
              <a:t>EFD0: 85 A1     STA FAC+4</a:t>
            </a:r>
          </a:p>
          <a:p>
            <a:pPr algn="l">
              <a:spcAft>
                <a:spcPts val="0"/>
              </a:spcAft>
            </a:pPr>
            <a:r>
              <a:rPr sz="1050" b="0">
                <a:solidFill>
                  <a:srgbClr val="E9E7E3"/>
                </a:solidFill>
                <a:latin typeface="Courier New"/>
              </a:rPr>
              <a:t>EFD2: 86 9E     STX FAC+1</a:t>
            </a:r>
          </a:p>
          <a:p>
            <a:pPr algn="l">
              <a:spcAft>
                <a:spcPts val="0"/>
              </a:spcAft>
            </a:pPr>
            <a:r>
              <a:rPr sz="1050" b="0">
                <a:solidFill>
                  <a:srgbClr val="E9E7E3"/>
                </a:solidFill>
                <a:latin typeface="Courier New"/>
              </a:rPr>
              <a:t>EFD4: A9 00     LDA #$00</a:t>
            </a:r>
          </a:p>
          <a:p>
            <a:pPr algn="l">
              <a:spcAft>
                <a:spcPts val="0"/>
              </a:spcAft>
            </a:pPr>
            <a:r>
              <a:rPr sz="1050" b="0">
                <a:solidFill>
                  <a:srgbClr val="E9E7E3"/>
                </a:solidFill>
                <a:latin typeface="Courier New"/>
              </a:rPr>
              <a:t>EFD6: 85 A2     STA FAC_SIGN    ; force positive</a:t>
            </a:r>
          </a:p>
          <a:p>
            <a:pPr algn="l">
              <a:spcAft>
                <a:spcPts val="0"/>
              </a:spcAft>
            </a:pPr>
            <a:r>
              <a:rPr sz="1050" b="0">
                <a:solidFill>
                  <a:srgbClr val="E9E7E3"/>
                </a:solidFill>
                <a:latin typeface="Courier New"/>
              </a:rPr>
              <a:t>EFD8: A5 9D     LDA FAC</a:t>
            </a:r>
          </a:p>
          <a:p>
            <a:pPr algn="l">
              <a:spcAft>
                <a:spcPts val="0"/>
              </a:spcAft>
            </a:pPr>
            <a:r>
              <a:rPr sz="1050" b="0">
                <a:solidFill>
                  <a:srgbClr val="E9E7E3"/>
                </a:solidFill>
                <a:latin typeface="Courier New"/>
              </a:rPr>
              <a:t>EFDA: 85 AC     STA FAC_EXT     ; old exponent -&gt; guard</a:t>
            </a:r>
          </a:p>
          <a:p>
            <a:pPr algn="l">
              <a:spcAft>
                <a:spcPts val="0"/>
              </a:spcAft>
            </a:pPr>
            <a:r>
              <a:rPr sz="1050" b="0">
                <a:solidFill>
                  <a:srgbClr val="E9E7E3"/>
                </a:solidFill>
                <a:latin typeface="Courier New"/>
              </a:rPr>
              <a:t>EFDC: A9 80     LDA #$80</a:t>
            </a:r>
          </a:p>
          <a:p>
            <a:pPr algn="l">
              <a:spcAft>
                <a:spcPts val="0"/>
              </a:spcAft>
            </a:pPr>
            <a:r>
              <a:rPr sz="1050" b="0">
                <a:solidFill>
                  <a:srgbClr val="E9E7E3"/>
                </a:solidFill>
                <a:latin typeface="Courier New"/>
              </a:rPr>
              <a:t>EFDE: 85 9D     STA FAC         ; value &lt; 1</a:t>
            </a:r>
          </a:p>
          <a:p>
            <a:pPr algn="l">
              <a:spcAft>
                <a:spcPts val="0"/>
              </a:spcAft>
            </a:pPr>
            <a:r>
              <a:rPr sz="1050" b="0">
                <a:solidFill>
                  <a:srgbClr val="E9E7E3"/>
                </a:solidFill>
                <a:latin typeface="Courier New"/>
              </a:rPr>
              <a:t>EFE0: 20 2E E8  JSR NORMALIZE</a:t>
            </a:r>
          </a:p>
          <a:p>
            <a:pPr algn="l">
              <a:spcAft>
                <a:spcPts val="0"/>
              </a:spcAft>
            </a:pPr>
            <a:r>
              <a:rPr sz="1050" b="0">
                <a:solidFill>
                  <a:srgbClr val="E9E7E3"/>
                </a:solidFill>
                <a:latin typeface="Courier New"/>
              </a:rPr>
              <a:t>EFE3: A2 C9     LDX #$C9</a:t>
            </a:r>
          </a:p>
          <a:p>
            <a:pPr algn="l">
              <a:spcAft>
                <a:spcPts val="0"/>
              </a:spcAft>
            </a:pPr>
            <a:r>
              <a:rPr sz="1050" b="0">
                <a:solidFill>
                  <a:srgbClr val="E9E7E3"/>
                </a:solidFill>
                <a:latin typeface="Courier New"/>
              </a:rPr>
              <a:t>EFE5: A0 00     LDY #$00</a:t>
            </a:r>
          </a:p>
          <a:p>
            <a:pPr algn="l">
              <a:spcAft>
                <a:spcPts val="0"/>
              </a:spcAft>
            </a:pPr>
            <a:r>
              <a:rPr sz="1050" b="0">
                <a:solidFill>
                  <a:srgbClr val="E9E7E3"/>
                </a:solidFill>
                <a:latin typeface="Courier New"/>
              </a:rPr>
              <a:t>EFE7: 4C 2B EB  JMP STORE_FAC   ; round, write $C9-$CD</a:t>
            </a:r>
          </a:p>
        </p:txBody>
      </p:sp>
      <p:sp>
        <p:nvSpPr>
          <p:cNvPr id="8" name="Rectangle 7"/>
          <p:cNvSpPr/>
          <p:nvPr/>
        </p:nvSpPr>
        <p:spPr>
          <a:xfrm>
            <a:off x="8092440" y="1234440"/>
            <a:ext cx="3429000" cy="1389888"/>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0" y="1399032"/>
            <a:ext cx="3063240" cy="1161288"/>
          </a:xfrm>
          <a:prstGeom prst="rect">
            <a:avLst/>
          </a:prstGeom>
          <a:noFill/>
        </p:spPr>
        <p:txBody>
          <a:bodyPr wrap="square" lIns="0" rIns="0" tIns="0" bIns="0" anchor="t">
            <a:spAutoFit/>
          </a:bodyPr>
          <a:lstStyle/>
          <a:p>
            <a:pPr algn="l">
              <a:spcAft>
                <a:spcPts val="600"/>
              </a:spcAft>
            </a:pPr>
            <a:r>
              <a:rPr sz="1500" b="1">
                <a:solidFill>
                  <a:srgbClr val="5FCB7E"/>
                </a:solidFill>
                <a:latin typeface="Arial"/>
              </a:rPr>
              <a:t>Not a textbook LCG</a:t>
            </a:r>
          </a:p>
          <a:p>
            <a:pPr algn="l">
              <a:spcAft>
                <a:spcPts val="300"/>
              </a:spcAft>
            </a:pPr>
            <a:r>
              <a:rPr sz="1400" b="0">
                <a:solidFill>
                  <a:srgbClr val="E9E7E3"/>
                </a:solidFill>
                <a:latin typeface="Arial"/>
              </a:rPr>
              <a:t>No modulus.</a:t>
            </a:r>
          </a:p>
          <a:p>
            <a:pPr algn="l">
              <a:spcAft>
                <a:spcPts val="300"/>
              </a:spcAft>
            </a:pPr>
            <a:r>
              <a:rPr sz="1400" b="0">
                <a:solidFill>
                  <a:srgbClr val="E9E7E3"/>
                </a:solidFill>
                <a:latin typeface="Arial"/>
              </a:rPr>
              <a:t>Float multiply, byte swap, renormalize.</a:t>
            </a:r>
          </a:p>
          <a:p>
            <a:pPr algn="l">
              <a:spcAft>
                <a:spcPts val="300"/>
              </a:spcAft>
            </a:pPr>
            <a:r>
              <a:rPr sz="1400" b="0">
                <a:solidFill>
                  <a:srgbClr val="E9E7E3"/>
                </a:solidFill>
                <a:latin typeface="Arial"/>
              </a:rPr>
              <a:t>LCG lattice theory doesn’t transfer.</a:t>
            </a:r>
          </a:p>
        </p:txBody>
      </p:sp>
      <p:sp>
        <p:nvSpPr>
          <p:cNvPr id="10" name="Rectangle 9"/>
          <p:cNvSpPr/>
          <p:nvPr/>
        </p:nvSpPr>
        <p:spPr>
          <a:xfrm>
            <a:off x="8092440" y="2788920"/>
            <a:ext cx="3429000" cy="1115568"/>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21040" y="2953512"/>
            <a:ext cx="3063240" cy="886968"/>
          </a:xfrm>
          <a:prstGeom prst="rect">
            <a:avLst/>
          </a:prstGeom>
          <a:noFill/>
        </p:spPr>
        <p:txBody>
          <a:bodyPr wrap="square" lIns="0" rIns="0" tIns="0" bIns="0" anchor="t">
            <a:spAutoFit/>
          </a:bodyPr>
          <a:lstStyle/>
          <a:p>
            <a:pPr algn="l">
              <a:spcAft>
                <a:spcPts val="600"/>
              </a:spcAft>
            </a:pPr>
            <a:r>
              <a:rPr sz="1500" b="1">
                <a:solidFill>
                  <a:srgbClr val="5FCB7E"/>
                </a:solidFill>
                <a:latin typeface="Arial"/>
              </a:rPr>
              <a:t>Measured</a:t>
            </a:r>
          </a:p>
          <a:p>
            <a:pPr algn="l">
              <a:spcAft>
                <a:spcPts val="300"/>
              </a:spcAft>
            </a:pPr>
            <a:r>
              <a:rPr sz="1400" b="0">
                <a:solidFill>
                  <a:srgbClr val="E9E7E3"/>
                </a:solidFill>
                <a:latin typeface="Arial"/>
              </a:rPr>
              <a:t>Fraction bit 25 is set in 99.75% of outputs.</a:t>
            </a:r>
          </a:p>
          <a:p>
            <a:pPr algn="l">
              <a:spcAft>
                <a:spcPts val="300"/>
              </a:spcAft>
            </a:pPr>
            <a:r>
              <a:rPr sz="1400" b="0">
                <a:solidFill>
                  <a:srgbClr val="E9E7E3"/>
                </a:solidFill>
                <a:latin typeface="Arial"/>
              </a:rPr>
              <a:t>Leading digits pass uniformity and serial-pair χ².</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7181A"/>
        </a:solidFill>
        <a:effectLst/>
      </p:bgPr>
    </p:bg>
    <p:spTree>
      <p:nvGrpSpPr>
        <p:cNvPr id="1" name=""/>
        <p:cNvGrpSpPr/>
        <p:nvPr/>
      </p:nvGrpSpPr>
      <p:grpSpPr/>
      <p:sp>
        <p:nvSpPr>
          <p:cNvPr id="2" name="Rectangle 1"/>
          <p:cNvSpPr/>
          <p:nvPr/>
        </p:nvSpPr>
        <p:spPr>
          <a:xfrm>
            <a:off x="10927080" y="384048"/>
            <a:ext cx="566928" cy="566928"/>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27080" y="384048"/>
            <a:ext cx="566928" cy="566928"/>
          </a:xfrm>
          <a:prstGeom prst="rect">
            <a:avLst/>
          </a:prstGeom>
          <a:noFill/>
        </p:spPr>
        <p:txBody>
          <a:bodyPr wrap="square" lIns="0" rIns="0" tIns="0" bIns="0" anchor="ctr">
            <a:spAutoFit/>
          </a:bodyPr>
          <a:lstStyle/>
          <a:p>
            <a:pPr algn="ctr">
              <a:spcAft>
                <a:spcPts val="0"/>
              </a:spcAft>
            </a:pPr>
            <a:r>
              <a:rPr sz="1500" b="1">
                <a:solidFill>
                  <a:srgbClr val="5FCB7E"/>
                </a:solidFill>
                <a:latin typeface="Courier New"/>
              </a:rPr>
              <a:t>B2</a:t>
            </a:r>
          </a:p>
        </p:txBody>
      </p:sp>
      <p:sp>
        <p:nvSpPr>
          <p:cNvPr id="4" name="TextBox 3"/>
          <p:cNvSpPr txBox="1"/>
          <p:nvPr/>
        </p:nvSpPr>
        <p:spPr>
          <a:xfrm>
            <a:off x="640080" y="411480"/>
            <a:ext cx="10058400" cy="685800"/>
          </a:xfrm>
          <a:prstGeom prst="rect">
            <a:avLst/>
          </a:prstGeom>
          <a:noFill/>
        </p:spPr>
        <p:txBody>
          <a:bodyPr wrap="square" lIns="0" rIns="0" tIns="0" bIns="0" anchor="ctr">
            <a:spAutoFit/>
          </a:bodyPr>
          <a:lstStyle/>
          <a:p>
            <a:pPr algn="l">
              <a:spcAft>
                <a:spcPts val="0"/>
              </a:spcAft>
            </a:pPr>
            <a:r>
              <a:rPr sz="2800" b="1">
                <a:solidFill>
                  <a:srgbClr val="E9E7E3"/>
                </a:solidFill>
                <a:latin typeface="Arial"/>
              </a:rPr>
              <a:t>Backup: the constants, as actually read</a:t>
            </a:r>
          </a:p>
        </p:txBody>
      </p:sp>
      <p:sp>
        <p:nvSpPr>
          <p:cNvPr id="5" name="TextBox 4"/>
          <p:cNvSpPr txBox="1"/>
          <p:nvPr/>
        </p:nvSpPr>
        <p:spPr>
          <a:xfrm>
            <a:off x="640080" y="6309360"/>
            <a:ext cx="10881360" cy="365760"/>
          </a:xfrm>
          <a:prstGeom prst="rect">
            <a:avLst/>
          </a:prstGeom>
          <a:noFill/>
        </p:spPr>
        <p:txBody>
          <a:bodyPr wrap="square" lIns="0" rIns="0" tIns="0" bIns="0" anchor="t">
            <a:spAutoFit/>
          </a:bodyPr>
          <a:lstStyle/>
          <a:p>
            <a:pPr algn="l">
              <a:spcAft>
                <a:spcPts val="0"/>
              </a:spcAft>
            </a:pPr>
            <a:r>
              <a:rPr sz="1050" b="0">
                <a:solidFill>
                  <a:srgbClr val="9DA39B"/>
                </a:solidFill>
                <a:latin typeface="Arial"/>
              </a:rPr>
              <a:t>ROM bytes; Microsoft m6502.asm (octal); decoded with exact rational arithmetic; emulation of the II Plus ROM</a:t>
            </a:r>
          </a:p>
        </p:txBody>
      </p:sp>
      <p:sp>
        <p:nvSpPr>
          <p:cNvPr id="6" name="TextBox 5"/>
          <p:cNvSpPr txBox="1"/>
          <p:nvPr/>
        </p:nvSpPr>
        <p:spPr>
          <a:xfrm>
            <a:off x="777240" y="1783080"/>
            <a:ext cx="1775764" cy="384048"/>
          </a:xfrm>
          <a:prstGeom prst="rect">
            <a:avLst/>
          </a:prstGeom>
          <a:noFill/>
        </p:spPr>
        <p:txBody>
          <a:bodyPr wrap="square" lIns="0" rIns="0" tIns="0" bIns="0" anchor="ctr">
            <a:spAutoFit/>
          </a:bodyPr>
          <a:lstStyle/>
          <a:p>
            <a:pPr algn="l">
              <a:spcAft>
                <a:spcPts val="0"/>
              </a:spcAft>
            </a:pPr>
            <a:r>
              <a:rPr sz="1300" b="1">
                <a:solidFill>
                  <a:srgbClr val="9DA39B"/>
                </a:solidFill>
                <a:latin typeface="Arial"/>
              </a:rPr>
              <a:t>Constant</a:t>
            </a:r>
          </a:p>
        </p:txBody>
      </p:sp>
      <p:sp>
        <p:nvSpPr>
          <p:cNvPr id="7" name="TextBox 6"/>
          <p:cNvSpPr txBox="1"/>
          <p:nvPr/>
        </p:nvSpPr>
        <p:spPr>
          <a:xfrm>
            <a:off x="2735884" y="1783080"/>
            <a:ext cx="1340510" cy="384048"/>
          </a:xfrm>
          <a:prstGeom prst="rect">
            <a:avLst/>
          </a:prstGeom>
          <a:noFill/>
        </p:spPr>
        <p:txBody>
          <a:bodyPr wrap="square" lIns="0" rIns="0" tIns="0" bIns="0" anchor="ctr">
            <a:spAutoFit/>
          </a:bodyPr>
          <a:lstStyle/>
          <a:p>
            <a:pPr algn="l">
              <a:spcAft>
                <a:spcPts val="0"/>
              </a:spcAft>
            </a:pPr>
            <a:r>
              <a:rPr sz="1300" b="1">
                <a:solidFill>
                  <a:srgbClr val="9DA39B"/>
                </a:solidFill>
                <a:latin typeface="Arial"/>
              </a:rPr>
              <a:t>Stored at</a:t>
            </a:r>
          </a:p>
        </p:txBody>
      </p:sp>
      <p:sp>
        <p:nvSpPr>
          <p:cNvPr id="8" name="TextBox 7"/>
          <p:cNvSpPr txBox="1"/>
          <p:nvPr/>
        </p:nvSpPr>
        <p:spPr>
          <a:xfrm>
            <a:off x="4259275" y="1783080"/>
            <a:ext cx="3734409" cy="384048"/>
          </a:xfrm>
          <a:prstGeom prst="rect">
            <a:avLst/>
          </a:prstGeom>
          <a:noFill/>
        </p:spPr>
        <p:txBody>
          <a:bodyPr wrap="square" lIns="0" rIns="0" tIns="0" bIns="0" anchor="ctr">
            <a:spAutoFit/>
          </a:bodyPr>
          <a:lstStyle/>
          <a:p>
            <a:pPr algn="l">
              <a:spcAft>
                <a:spcPts val="0"/>
              </a:spcAft>
            </a:pPr>
            <a:r>
              <a:rPr sz="1300" b="1">
                <a:solidFill>
                  <a:srgbClr val="9DA39B"/>
                </a:solidFill>
                <a:latin typeface="Arial"/>
              </a:rPr>
              <a:t>Bytes actually read</a:t>
            </a:r>
          </a:p>
        </p:txBody>
      </p:sp>
      <p:sp>
        <p:nvSpPr>
          <p:cNvPr id="9" name="TextBox 8"/>
          <p:cNvSpPr txBox="1"/>
          <p:nvPr/>
        </p:nvSpPr>
        <p:spPr>
          <a:xfrm>
            <a:off x="8176564" y="1783080"/>
            <a:ext cx="3299155" cy="384048"/>
          </a:xfrm>
          <a:prstGeom prst="rect">
            <a:avLst/>
          </a:prstGeom>
          <a:noFill/>
        </p:spPr>
        <p:txBody>
          <a:bodyPr wrap="square" lIns="0" rIns="0" tIns="0" bIns="0" anchor="ctr">
            <a:spAutoFit/>
          </a:bodyPr>
          <a:lstStyle/>
          <a:p>
            <a:pPr algn="l">
              <a:spcAft>
                <a:spcPts val="0"/>
              </a:spcAft>
            </a:pPr>
            <a:r>
              <a:rPr sz="1300" b="1">
                <a:solidFill>
                  <a:srgbClr val="9DA39B"/>
                </a:solidFill>
                <a:latin typeface="Arial"/>
              </a:rPr>
              <a:t>Value used</a:t>
            </a:r>
          </a:p>
        </p:txBody>
      </p:sp>
      <p:sp>
        <p:nvSpPr>
          <p:cNvPr id="10" name="Rectangle 9"/>
          <p:cNvSpPr/>
          <p:nvPr/>
        </p:nvSpPr>
        <p:spPr>
          <a:xfrm>
            <a:off x="640080" y="2194560"/>
            <a:ext cx="10881360" cy="13716"/>
          </a:xfrm>
          <a:prstGeom prst="rect">
            <a:avLst/>
          </a:prstGeom>
          <a:solidFill>
            <a:srgbClr val="3A3E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2286000"/>
            <a:ext cx="10881360" cy="475488"/>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1" y="2286000"/>
            <a:ext cx="1730044" cy="475488"/>
          </a:xfrm>
          <a:prstGeom prst="rect">
            <a:avLst/>
          </a:prstGeom>
          <a:noFill/>
        </p:spPr>
        <p:txBody>
          <a:bodyPr wrap="square" lIns="0" rIns="0" tIns="0" bIns="0" anchor="ctr">
            <a:spAutoFit/>
          </a:bodyPr>
          <a:lstStyle/>
          <a:p>
            <a:pPr algn="l">
              <a:spcAft>
                <a:spcPts val="0"/>
              </a:spcAft>
            </a:pPr>
            <a:r>
              <a:rPr sz="1600" b="1">
                <a:solidFill>
                  <a:srgbClr val="5FCB7E"/>
                </a:solidFill>
                <a:latin typeface="Arial"/>
              </a:rPr>
              <a:t>Multiplier</a:t>
            </a:r>
          </a:p>
        </p:txBody>
      </p:sp>
      <p:sp>
        <p:nvSpPr>
          <p:cNvPr id="13" name="TextBox 12"/>
          <p:cNvSpPr txBox="1"/>
          <p:nvPr/>
        </p:nvSpPr>
        <p:spPr>
          <a:xfrm>
            <a:off x="2763316" y="2286000"/>
            <a:ext cx="1294790" cy="475488"/>
          </a:xfrm>
          <a:prstGeom prst="rect">
            <a:avLst/>
          </a:prstGeom>
          <a:noFill/>
        </p:spPr>
        <p:txBody>
          <a:bodyPr wrap="square" lIns="0" rIns="0" tIns="0" bIns="0" anchor="ctr">
            <a:spAutoFit/>
          </a:bodyPr>
          <a:lstStyle/>
          <a:p>
            <a:pPr algn="l">
              <a:spcAft>
                <a:spcPts val="0"/>
              </a:spcAft>
            </a:pPr>
            <a:r>
              <a:rPr sz="1600" b="0">
                <a:solidFill>
                  <a:srgbClr val="E9E7E3"/>
                </a:solidFill>
                <a:latin typeface="Arial"/>
              </a:rPr>
              <a:t>$EFA6</a:t>
            </a:r>
          </a:p>
        </p:txBody>
      </p:sp>
      <p:sp>
        <p:nvSpPr>
          <p:cNvPr id="14" name="TextBox 13"/>
          <p:cNvSpPr txBox="1"/>
          <p:nvPr/>
        </p:nvSpPr>
        <p:spPr>
          <a:xfrm>
            <a:off x="4286707" y="2286000"/>
            <a:ext cx="3688689" cy="475488"/>
          </a:xfrm>
          <a:prstGeom prst="rect">
            <a:avLst/>
          </a:prstGeom>
          <a:noFill/>
        </p:spPr>
        <p:txBody>
          <a:bodyPr wrap="square" lIns="0" rIns="0" tIns="0" bIns="0" anchor="ctr">
            <a:spAutoFit/>
          </a:bodyPr>
          <a:lstStyle/>
          <a:p>
            <a:pPr algn="l">
              <a:spcAft>
                <a:spcPts val="0"/>
              </a:spcAft>
            </a:pPr>
            <a:r>
              <a:rPr sz="1500" b="0">
                <a:solidFill>
                  <a:srgbClr val="E9E7E3"/>
                </a:solidFill>
                <a:latin typeface="Courier New"/>
              </a:rPr>
              <a:t>98 35 44 7A 68</a:t>
            </a:r>
          </a:p>
        </p:txBody>
      </p:sp>
      <p:sp>
        <p:nvSpPr>
          <p:cNvPr id="15" name="TextBox 14"/>
          <p:cNvSpPr txBox="1"/>
          <p:nvPr/>
        </p:nvSpPr>
        <p:spPr>
          <a:xfrm>
            <a:off x="8203996" y="2286000"/>
            <a:ext cx="3253435" cy="475488"/>
          </a:xfrm>
          <a:prstGeom prst="rect">
            <a:avLst/>
          </a:prstGeom>
          <a:noFill/>
        </p:spPr>
        <p:txBody>
          <a:bodyPr wrap="square" lIns="0" rIns="0" tIns="0" bIns="0" anchor="ctr">
            <a:spAutoFit/>
          </a:bodyPr>
          <a:lstStyle/>
          <a:p>
            <a:pPr algn="l">
              <a:spcAft>
                <a:spcPts val="0"/>
              </a:spcAft>
            </a:pPr>
            <a:r>
              <a:rPr sz="1600" b="0">
                <a:solidFill>
                  <a:srgbClr val="E9E7E3"/>
                </a:solidFill>
                <a:latin typeface="Arial"/>
              </a:rPr>
              <a:t>11,879,546.40625</a:t>
            </a:r>
          </a:p>
        </p:txBody>
      </p:sp>
      <p:sp>
        <p:nvSpPr>
          <p:cNvPr id="16" name="Rectangle 15"/>
          <p:cNvSpPr/>
          <p:nvPr/>
        </p:nvSpPr>
        <p:spPr>
          <a:xfrm>
            <a:off x="640080" y="2816352"/>
            <a:ext cx="10881360" cy="475488"/>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1" y="2816352"/>
            <a:ext cx="1730044" cy="475488"/>
          </a:xfrm>
          <a:prstGeom prst="rect">
            <a:avLst/>
          </a:prstGeom>
          <a:noFill/>
        </p:spPr>
        <p:txBody>
          <a:bodyPr wrap="square" lIns="0" rIns="0" tIns="0" bIns="0" anchor="ctr">
            <a:spAutoFit/>
          </a:bodyPr>
          <a:lstStyle/>
          <a:p>
            <a:pPr algn="l">
              <a:spcAft>
                <a:spcPts val="0"/>
              </a:spcAft>
            </a:pPr>
            <a:r>
              <a:rPr sz="1600" b="1">
                <a:solidFill>
                  <a:srgbClr val="5FCB7E"/>
                </a:solidFill>
                <a:latin typeface="Arial"/>
              </a:rPr>
              <a:t>Addend</a:t>
            </a:r>
          </a:p>
        </p:txBody>
      </p:sp>
      <p:sp>
        <p:nvSpPr>
          <p:cNvPr id="18" name="TextBox 17"/>
          <p:cNvSpPr txBox="1"/>
          <p:nvPr/>
        </p:nvSpPr>
        <p:spPr>
          <a:xfrm>
            <a:off x="2763316" y="2816352"/>
            <a:ext cx="1294790" cy="475488"/>
          </a:xfrm>
          <a:prstGeom prst="rect">
            <a:avLst/>
          </a:prstGeom>
          <a:noFill/>
        </p:spPr>
        <p:txBody>
          <a:bodyPr wrap="square" lIns="0" rIns="0" tIns="0" bIns="0" anchor="ctr">
            <a:spAutoFit/>
          </a:bodyPr>
          <a:lstStyle/>
          <a:p>
            <a:pPr algn="l">
              <a:spcAft>
                <a:spcPts val="0"/>
              </a:spcAft>
            </a:pPr>
            <a:r>
              <a:rPr sz="1600" b="0">
                <a:solidFill>
                  <a:srgbClr val="E9E7E3"/>
                </a:solidFill>
                <a:latin typeface="Arial"/>
              </a:rPr>
              <a:t>$EFAA</a:t>
            </a:r>
          </a:p>
        </p:txBody>
      </p:sp>
      <p:sp>
        <p:nvSpPr>
          <p:cNvPr id="19" name="TextBox 18"/>
          <p:cNvSpPr txBox="1"/>
          <p:nvPr/>
        </p:nvSpPr>
        <p:spPr>
          <a:xfrm>
            <a:off x="4286707" y="2816352"/>
            <a:ext cx="3688689" cy="475488"/>
          </a:xfrm>
          <a:prstGeom prst="rect">
            <a:avLst/>
          </a:prstGeom>
          <a:noFill/>
        </p:spPr>
        <p:txBody>
          <a:bodyPr wrap="square" lIns="0" rIns="0" tIns="0" bIns="0" anchor="ctr">
            <a:spAutoFit/>
          </a:bodyPr>
          <a:lstStyle/>
          <a:p>
            <a:pPr algn="l">
              <a:spcAft>
                <a:spcPts val="0"/>
              </a:spcAft>
            </a:pPr>
            <a:r>
              <a:rPr sz="1500" b="0">
                <a:solidFill>
                  <a:srgbClr val="E9E7E3"/>
                </a:solidFill>
                <a:latin typeface="Courier New"/>
              </a:rPr>
              <a:t>68 28 B1 46 20</a:t>
            </a:r>
          </a:p>
        </p:txBody>
      </p:sp>
      <p:sp>
        <p:nvSpPr>
          <p:cNvPr id="20" name="TextBox 19"/>
          <p:cNvSpPr txBox="1"/>
          <p:nvPr/>
        </p:nvSpPr>
        <p:spPr>
          <a:xfrm>
            <a:off x="8203996" y="2816352"/>
            <a:ext cx="3253435" cy="475488"/>
          </a:xfrm>
          <a:prstGeom prst="rect">
            <a:avLst/>
          </a:prstGeom>
          <a:noFill/>
        </p:spPr>
        <p:txBody>
          <a:bodyPr wrap="square" lIns="0" rIns="0" tIns="0" bIns="0" anchor="ctr">
            <a:spAutoFit/>
          </a:bodyPr>
          <a:lstStyle/>
          <a:p>
            <a:pPr algn="l">
              <a:spcAft>
                <a:spcPts val="0"/>
              </a:spcAft>
            </a:pPr>
            <a:r>
              <a:rPr sz="1600" b="0">
                <a:solidFill>
                  <a:srgbClr val="E9E7E3"/>
                </a:solidFill>
                <a:latin typeface="Arial"/>
              </a:rPr>
              <a:t>3.93 × 10⁻⁸</a:t>
            </a:r>
          </a:p>
        </p:txBody>
      </p:sp>
      <p:sp>
        <p:nvSpPr>
          <p:cNvPr id="21" name="Rectangle 20"/>
          <p:cNvSpPr/>
          <p:nvPr/>
        </p:nvSpPr>
        <p:spPr>
          <a:xfrm>
            <a:off x="640080" y="3346704"/>
            <a:ext cx="10881360" cy="475488"/>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1" y="3346704"/>
            <a:ext cx="1730044" cy="475488"/>
          </a:xfrm>
          <a:prstGeom prst="rect">
            <a:avLst/>
          </a:prstGeom>
          <a:noFill/>
        </p:spPr>
        <p:txBody>
          <a:bodyPr wrap="square" lIns="0" rIns="0" tIns="0" bIns="0" anchor="ctr">
            <a:spAutoFit/>
          </a:bodyPr>
          <a:lstStyle/>
          <a:p>
            <a:pPr algn="l">
              <a:spcAft>
                <a:spcPts val="0"/>
              </a:spcAft>
            </a:pPr>
            <a:r>
              <a:rPr sz="1600" b="1">
                <a:solidFill>
                  <a:srgbClr val="5FCB7E"/>
                </a:solidFill>
                <a:latin typeface="Arial"/>
              </a:rPr>
              <a:t>Seed</a:t>
            </a:r>
          </a:p>
        </p:txBody>
      </p:sp>
      <p:sp>
        <p:nvSpPr>
          <p:cNvPr id="23" name="TextBox 22"/>
          <p:cNvSpPr txBox="1"/>
          <p:nvPr/>
        </p:nvSpPr>
        <p:spPr>
          <a:xfrm>
            <a:off x="2763316" y="3346704"/>
            <a:ext cx="1294790" cy="475488"/>
          </a:xfrm>
          <a:prstGeom prst="rect">
            <a:avLst/>
          </a:prstGeom>
          <a:noFill/>
        </p:spPr>
        <p:txBody>
          <a:bodyPr wrap="square" lIns="0" rIns="0" tIns="0" bIns="0" anchor="ctr">
            <a:spAutoFit/>
          </a:bodyPr>
          <a:lstStyle/>
          <a:p>
            <a:pPr algn="l">
              <a:spcAft>
                <a:spcPts val="0"/>
              </a:spcAft>
            </a:pPr>
            <a:r>
              <a:rPr sz="1600" b="0">
                <a:solidFill>
                  <a:srgbClr val="E9E7E3"/>
                </a:solidFill>
                <a:latin typeface="Arial"/>
              </a:rPr>
              <a:t>$F123</a:t>
            </a:r>
          </a:p>
        </p:txBody>
      </p:sp>
      <p:sp>
        <p:nvSpPr>
          <p:cNvPr id="24" name="TextBox 23"/>
          <p:cNvSpPr txBox="1"/>
          <p:nvPr/>
        </p:nvSpPr>
        <p:spPr>
          <a:xfrm>
            <a:off x="4286707" y="3346704"/>
            <a:ext cx="3688689" cy="475488"/>
          </a:xfrm>
          <a:prstGeom prst="rect">
            <a:avLst/>
          </a:prstGeom>
          <a:noFill/>
        </p:spPr>
        <p:txBody>
          <a:bodyPr wrap="square" lIns="0" rIns="0" tIns="0" bIns="0" anchor="ctr">
            <a:spAutoFit/>
          </a:bodyPr>
          <a:lstStyle/>
          <a:p>
            <a:pPr algn="l">
              <a:spcAft>
                <a:spcPts val="0"/>
              </a:spcAft>
            </a:pPr>
            <a:r>
              <a:rPr sz="1500" b="0">
                <a:solidFill>
                  <a:srgbClr val="E9E7E3"/>
                </a:solidFill>
                <a:latin typeface="Courier New"/>
              </a:rPr>
              <a:t>80 4F C7 52 (58 never copied)</a:t>
            </a:r>
          </a:p>
        </p:txBody>
      </p:sp>
      <p:sp>
        <p:nvSpPr>
          <p:cNvPr id="25" name="TextBox 24"/>
          <p:cNvSpPr txBox="1"/>
          <p:nvPr/>
        </p:nvSpPr>
        <p:spPr>
          <a:xfrm>
            <a:off x="8203996" y="3346704"/>
            <a:ext cx="3253435" cy="475488"/>
          </a:xfrm>
          <a:prstGeom prst="rect">
            <a:avLst/>
          </a:prstGeom>
          <a:noFill/>
        </p:spPr>
        <p:txBody>
          <a:bodyPr wrap="square" lIns="0" rIns="0" tIns="0" bIns="0" anchor="ctr">
            <a:spAutoFit/>
          </a:bodyPr>
          <a:lstStyle/>
          <a:p>
            <a:pPr algn="l">
              <a:spcAft>
                <a:spcPts val="0"/>
              </a:spcAft>
            </a:pPr>
            <a:r>
              <a:rPr sz="1600" b="0">
                <a:solidFill>
                  <a:srgbClr val="E9E7E3"/>
                </a:solidFill>
                <a:latin typeface="Arial"/>
              </a:rPr>
              <a:t>≈ .811635157 + leftover byte</a:t>
            </a:r>
          </a:p>
        </p:txBody>
      </p:sp>
      <p:sp>
        <p:nvSpPr>
          <p:cNvPr id="26" name="Rectangle 25"/>
          <p:cNvSpPr/>
          <p:nvPr/>
        </p:nvSpPr>
        <p:spPr>
          <a:xfrm>
            <a:off x="640080" y="5074920"/>
            <a:ext cx="10881360" cy="914400"/>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0080" y="5074920"/>
            <a:ext cx="64008" cy="914400"/>
          </a:xfrm>
          <a:prstGeom prst="rect">
            <a:avLst/>
          </a:prstGeom>
          <a:solidFill>
            <a:srgbClr val="E0A7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0119" y="5074920"/>
            <a:ext cx="10332720" cy="914400"/>
          </a:xfrm>
          <a:prstGeom prst="rect">
            <a:avLst/>
          </a:prstGeom>
          <a:noFill/>
        </p:spPr>
        <p:txBody>
          <a:bodyPr wrap="square" lIns="0" rIns="0" tIns="0" bIns="0" anchor="ctr">
            <a:spAutoFit/>
          </a:bodyPr>
          <a:lstStyle/>
          <a:p>
            <a:pPr algn="l">
              <a:spcAft>
                <a:spcPts val="400"/>
              </a:spcAft>
            </a:pPr>
            <a:r>
              <a:rPr sz="1900" b="0">
                <a:solidFill>
                  <a:srgbClr val="E9E7E3"/>
                </a:solidFill>
                <a:latin typeface="Arial"/>
              </a:rPr>
              <a:t>The addend changed the stored seed in 5 of 57,021 steps. “Effectively nothing,” not “nothing.”</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7181A"/>
        </a:solidFill>
        <a:effectLst/>
      </p:bgPr>
    </p:bg>
    <p:spTree>
      <p:nvGrpSpPr>
        <p:cNvPr id="1" name=""/>
        <p:cNvGrpSpPr/>
        <p:nvPr/>
      </p:nvGrpSpPr>
      <p:grpSpPr/>
      <p:sp>
        <p:nvSpPr>
          <p:cNvPr id="2" name="Rectangle 1"/>
          <p:cNvSpPr/>
          <p:nvPr/>
        </p:nvSpPr>
        <p:spPr>
          <a:xfrm>
            <a:off x="10927080" y="384048"/>
            <a:ext cx="566928" cy="566928"/>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27080" y="384048"/>
            <a:ext cx="566928" cy="566928"/>
          </a:xfrm>
          <a:prstGeom prst="rect">
            <a:avLst/>
          </a:prstGeom>
          <a:noFill/>
        </p:spPr>
        <p:txBody>
          <a:bodyPr wrap="square" lIns="0" rIns="0" tIns="0" bIns="0" anchor="ctr">
            <a:spAutoFit/>
          </a:bodyPr>
          <a:lstStyle/>
          <a:p>
            <a:pPr algn="ctr">
              <a:spcAft>
                <a:spcPts val="0"/>
              </a:spcAft>
            </a:pPr>
            <a:r>
              <a:rPr sz="1500" b="1">
                <a:solidFill>
                  <a:srgbClr val="5FCB7E"/>
                </a:solidFill>
                <a:latin typeface="Courier New"/>
              </a:rPr>
              <a:t>B3</a:t>
            </a:r>
          </a:p>
        </p:txBody>
      </p:sp>
      <p:sp>
        <p:nvSpPr>
          <p:cNvPr id="4" name="TextBox 3"/>
          <p:cNvSpPr txBox="1"/>
          <p:nvPr/>
        </p:nvSpPr>
        <p:spPr>
          <a:xfrm>
            <a:off x="640080" y="411480"/>
            <a:ext cx="10058400" cy="685800"/>
          </a:xfrm>
          <a:prstGeom prst="rect">
            <a:avLst/>
          </a:prstGeom>
          <a:noFill/>
        </p:spPr>
        <p:txBody>
          <a:bodyPr wrap="square" lIns="0" rIns="0" tIns="0" bIns="0" anchor="ctr">
            <a:spAutoFit/>
          </a:bodyPr>
          <a:lstStyle/>
          <a:p>
            <a:pPr algn="l">
              <a:spcAft>
                <a:spcPts val="0"/>
              </a:spcAft>
            </a:pPr>
            <a:r>
              <a:rPr sz="2800" b="1">
                <a:solidFill>
                  <a:srgbClr val="E9E7E3"/>
                </a:solidFill>
                <a:latin typeface="Arial"/>
              </a:rPr>
              <a:t>Backup: $CD on real hardware (to fill in)</a:t>
            </a:r>
          </a:p>
        </p:txBody>
      </p:sp>
      <p:sp>
        <p:nvSpPr>
          <p:cNvPr id="5" name="TextBox 4"/>
          <p:cNvSpPr txBox="1"/>
          <p:nvPr/>
        </p:nvSpPr>
        <p:spPr>
          <a:xfrm>
            <a:off x="777240" y="1783080"/>
            <a:ext cx="2537460" cy="384048"/>
          </a:xfrm>
          <a:prstGeom prst="rect">
            <a:avLst/>
          </a:prstGeom>
          <a:noFill/>
        </p:spPr>
        <p:txBody>
          <a:bodyPr wrap="square" lIns="0" rIns="0" tIns="0" bIns="0" anchor="ctr">
            <a:spAutoFit/>
          </a:bodyPr>
          <a:lstStyle/>
          <a:p>
            <a:pPr algn="l">
              <a:spcAft>
                <a:spcPts val="0"/>
              </a:spcAft>
            </a:pPr>
            <a:r>
              <a:rPr sz="1300" b="1">
                <a:solidFill>
                  <a:srgbClr val="9DA39B"/>
                </a:solidFill>
                <a:latin typeface="Arial"/>
              </a:rPr>
              <a:t>Machine / ROM</a:t>
            </a:r>
          </a:p>
        </p:txBody>
      </p:sp>
      <p:sp>
        <p:nvSpPr>
          <p:cNvPr id="6" name="TextBox 5"/>
          <p:cNvSpPr txBox="1"/>
          <p:nvPr/>
        </p:nvSpPr>
        <p:spPr>
          <a:xfrm>
            <a:off x="3497579" y="1783080"/>
            <a:ext cx="3625596" cy="384048"/>
          </a:xfrm>
          <a:prstGeom prst="rect">
            <a:avLst/>
          </a:prstGeom>
          <a:noFill/>
        </p:spPr>
        <p:txBody>
          <a:bodyPr wrap="square" lIns="0" rIns="0" tIns="0" bIns="0" anchor="ctr">
            <a:spAutoFit/>
          </a:bodyPr>
          <a:lstStyle/>
          <a:p>
            <a:pPr algn="l">
              <a:spcAft>
                <a:spcPts val="0"/>
              </a:spcAft>
            </a:pPr>
            <a:r>
              <a:rPr sz="1300" b="1">
                <a:solidFill>
                  <a:srgbClr val="9DA39B"/>
                </a:solidFill>
                <a:latin typeface="Arial"/>
              </a:rPr>
              <a:t>Boot path</a:t>
            </a:r>
          </a:p>
        </p:txBody>
      </p:sp>
      <p:sp>
        <p:nvSpPr>
          <p:cNvPr id="7" name="TextBox 6"/>
          <p:cNvSpPr txBox="1"/>
          <p:nvPr/>
        </p:nvSpPr>
        <p:spPr>
          <a:xfrm>
            <a:off x="7306056" y="1783080"/>
            <a:ext cx="1775764" cy="384048"/>
          </a:xfrm>
          <a:prstGeom prst="rect">
            <a:avLst/>
          </a:prstGeom>
          <a:noFill/>
        </p:spPr>
        <p:txBody>
          <a:bodyPr wrap="square" lIns="0" rIns="0" tIns="0" bIns="0" anchor="ctr">
            <a:spAutoFit/>
          </a:bodyPr>
          <a:lstStyle/>
          <a:p>
            <a:pPr algn="l">
              <a:spcAft>
                <a:spcPts val="0"/>
              </a:spcAft>
            </a:pPr>
            <a:r>
              <a:rPr sz="1300" b="1">
                <a:solidFill>
                  <a:srgbClr val="9DA39B"/>
                </a:solidFill>
                <a:latin typeface="Arial"/>
              </a:rPr>
              <a:t>PEEK(205)</a:t>
            </a:r>
          </a:p>
        </p:txBody>
      </p:sp>
      <p:sp>
        <p:nvSpPr>
          <p:cNvPr id="8" name="TextBox 7"/>
          <p:cNvSpPr txBox="1"/>
          <p:nvPr/>
        </p:nvSpPr>
        <p:spPr>
          <a:xfrm>
            <a:off x="9264700" y="1783080"/>
            <a:ext cx="2211019" cy="384048"/>
          </a:xfrm>
          <a:prstGeom prst="rect">
            <a:avLst/>
          </a:prstGeom>
          <a:noFill/>
        </p:spPr>
        <p:txBody>
          <a:bodyPr wrap="square" lIns="0" rIns="0" tIns="0" bIns="0" anchor="ctr">
            <a:spAutoFit/>
          </a:bodyPr>
          <a:lstStyle/>
          <a:p>
            <a:pPr algn="l">
              <a:spcAft>
                <a:spcPts val="0"/>
              </a:spcAft>
            </a:pPr>
            <a:r>
              <a:rPr sz="1300" b="1">
                <a:solidFill>
                  <a:srgbClr val="9DA39B"/>
                </a:solidFill>
                <a:latin typeface="Arial"/>
              </a:rPr>
              <a:t>First RND(1)</a:t>
            </a:r>
          </a:p>
        </p:txBody>
      </p:sp>
      <p:sp>
        <p:nvSpPr>
          <p:cNvPr id="9" name="Rectangle 8"/>
          <p:cNvSpPr/>
          <p:nvPr/>
        </p:nvSpPr>
        <p:spPr>
          <a:xfrm>
            <a:off x="640080" y="2194560"/>
            <a:ext cx="10881360" cy="13716"/>
          </a:xfrm>
          <a:prstGeom prst="rect">
            <a:avLst/>
          </a:prstGeom>
          <a:solidFill>
            <a:srgbClr val="3A3E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2286000"/>
            <a:ext cx="10881360" cy="475488"/>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1" y="2286000"/>
            <a:ext cx="2491740" cy="475488"/>
          </a:xfrm>
          <a:prstGeom prst="rect">
            <a:avLst/>
          </a:prstGeom>
          <a:noFill/>
        </p:spPr>
        <p:txBody>
          <a:bodyPr wrap="square" lIns="0" rIns="0" tIns="0" bIns="0" anchor="ctr">
            <a:spAutoFit/>
          </a:bodyPr>
          <a:lstStyle/>
          <a:p>
            <a:pPr algn="l">
              <a:spcAft>
                <a:spcPts val="0"/>
              </a:spcAft>
            </a:pPr>
            <a:r>
              <a:rPr sz="1600" b="1">
                <a:solidFill>
                  <a:srgbClr val="5FCB7E"/>
                </a:solidFill>
                <a:latin typeface="Arial"/>
              </a:rPr>
              <a:t>II Plus</a:t>
            </a:r>
          </a:p>
        </p:txBody>
      </p:sp>
      <p:sp>
        <p:nvSpPr>
          <p:cNvPr id="12" name="TextBox 11"/>
          <p:cNvSpPr txBox="1"/>
          <p:nvPr/>
        </p:nvSpPr>
        <p:spPr>
          <a:xfrm>
            <a:off x="3525012" y="2286000"/>
            <a:ext cx="3579876" cy="475488"/>
          </a:xfrm>
          <a:prstGeom prst="rect">
            <a:avLst/>
          </a:prstGeom>
          <a:noFill/>
        </p:spPr>
        <p:txBody>
          <a:bodyPr wrap="square" lIns="0" rIns="0" tIns="0" bIns="0" anchor="ctr">
            <a:spAutoFit/>
          </a:bodyPr>
          <a:lstStyle/>
          <a:p>
            <a:pPr algn="l">
              <a:spcAft>
                <a:spcPts val="0"/>
              </a:spcAft>
            </a:pPr>
            <a:r>
              <a:rPr sz="1600" b="0">
                <a:solidFill>
                  <a:srgbClr val="E9E7E3"/>
                </a:solidFill>
                <a:latin typeface="Arial"/>
              </a:rPr>
              <a:t>No disk, Ctrl-Reset to ]</a:t>
            </a:r>
          </a:p>
        </p:txBody>
      </p:sp>
      <p:sp>
        <p:nvSpPr>
          <p:cNvPr id="13" name="TextBox 12"/>
          <p:cNvSpPr txBox="1"/>
          <p:nvPr/>
        </p:nvSpPr>
        <p:spPr>
          <a:xfrm>
            <a:off x="7333488" y="2286000"/>
            <a:ext cx="1730044" cy="475488"/>
          </a:xfrm>
          <a:prstGeom prst="rect">
            <a:avLst/>
          </a:prstGeom>
          <a:noFill/>
        </p:spPr>
        <p:txBody>
          <a:bodyPr wrap="square" lIns="0" rIns="0" tIns="0" bIns="0" anchor="ctr">
            <a:spAutoFit/>
          </a:bodyPr>
          <a:lstStyle/>
          <a:p>
            <a:pPr algn="l">
              <a:spcAft>
                <a:spcPts val="0"/>
              </a:spcAft>
            </a:pPr>
            <a:r>
              <a:rPr sz="1600" b="0">
                <a:solidFill>
                  <a:srgbClr val="E9E7E3"/>
                </a:solidFill>
                <a:latin typeface="Arial"/>
              </a:rPr>
              <a:t/>
            </a:r>
          </a:p>
        </p:txBody>
      </p:sp>
      <p:sp>
        <p:nvSpPr>
          <p:cNvPr id="14" name="TextBox 13"/>
          <p:cNvSpPr txBox="1"/>
          <p:nvPr/>
        </p:nvSpPr>
        <p:spPr>
          <a:xfrm>
            <a:off x="9292132" y="2286000"/>
            <a:ext cx="2165299" cy="475488"/>
          </a:xfrm>
          <a:prstGeom prst="rect">
            <a:avLst/>
          </a:prstGeom>
          <a:noFill/>
        </p:spPr>
        <p:txBody>
          <a:bodyPr wrap="square" lIns="0" rIns="0" tIns="0" bIns="0" anchor="ctr">
            <a:spAutoFit/>
          </a:bodyPr>
          <a:lstStyle/>
          <a:p>
            <a:pPr algn="l">
              <a:spcAft>
                <a:spcPts val="0"/>
              </a:spcAft>
            </a:pPr>
            <a:r>
              <a:rPr sz="1600" b="0">
                <a:solidFill>
                  <a:srgbClr val="E9E7E3"/>
                </a:solidFill>
                <a:latin typeface="Arial"/>
              </a:rPr>
              <a:t/>
            </a:r>
          </a:p>
        </p:txBody>
      </p:sp>
      <p:sp>
        <p:nvSpPr>
          <p:cNvPr id="15" name="Rectangle 14"/>
          <p:cNvSpPr/>
          <p:nvPr/>
        </p:nvSpPr>
        <p:spPr>
          <a:xfrm>
            <a:off x="640080" y="2816352"/>
            <a:ext cx="10881360" cy="475488"/>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1" y="2816352"/>
            <a:ext cx="2491740" cy="475488"/>
          </a:xfrm>
          <a:prstGeom prst="rect">
            <a:avLst/>
          </a:prstGeom>
          <a:noFill/>
        </p:spPr>
        <p:txBody>
          <a:bodyPr wrap="square" lIns="0" rIns="0" tIns="0" bIns="0" anchor="ctr">
            <a:spAutoFit/>
          </a:bodyPr>
          <a:lstStyle/>
          <a:p>
            <a:pPr algn="l">
              <a:spcAft>
                <a:spcPts val="0"/>
              </a:spcAft>
            </a:pPr>
            <a:r>
              <a:rPr sz="1600" b="1">
                <a:solidFill>
                  <a:srgbClr val="5FCB7E"/>
                </a:solidFill>
                <a:latin typeface="Arial"/>
              </a:rPr>
              <a:t>II Plus</a:t>
            </a:r>
          </a:p>
        </p:txBody>
      </p:sp>
      <p:sp>
        <p:nvSpPr>
          <p:cNvPr id="17" name="TextBox 16"/>
          <p:cNvSpPr txBox="1"/>
          <p:nvPr/>
        </p:nvSpPr>
        <p:spPr>
          <a:xfrm>
            <a:off x="3525012" y="2816352"/>
            <a:ext cx="3579876" cy="475488"/>
          </a:xfrm>
          <a:prstGeom prst="rect">
            <a:avLst/>
          </a:prstGeom>
          <a:noFill/>
        </p:spPr>
        <p:txBody>
          <a:bodyPr wrap="square" lIns="0" rIns="0" tIns="0" bIns="0" anchor="ctr">
            <a:spAutoFit/>
          </a:bodyPr>
          <a:lstStyle/>
          <a:p>
            <a:pPr algn="l">
              <a:spcAft>
                <a:spcPts val="0"/>
              </a:spcAft>
            </a:pPr>
            <a:r>
              <a:rPr sz="1600" b="0">
                <a:solidFill>
                  <a:srgbClr val="E9E7E3"/>
                </a:solidFill>
                <a:latin typeface="Arial"/>
              </a:rPr>
              <a:t>DOS 3.3</a:t>
            </a:r>
          </a:p>
        </p:txBody>
      </p:sp>
      <p:sp>
        <p:nvSpPr>
          <p:cNvPr id="18" name="TextBox 17"/>
          <p:cNvSpPr txBox="1"/>
          <p:nvPr/>
        </p:nvSpPr>
        <p:spPr>
          <a:xfrm>
            <a:off x="7333488" y="2816352"/>
            <a:ext cx="1730044" cy="475488"/>
          </a:xfrm>
          <a:prstGeom prst="rect">
            <a:avLst/>
          </a:prstGeom>
          <a:noFill/>
        </p:spPr>
        <p:txBody>
          <a:bodyPr wrap="square" lIns="0" rIns="0" tIns="0" bIns="0" anchor="ctr">
            <a:spAutoFit/>
          </a:bodyPr>
          <a:lstStyle/>
          <a:p>
            <a:pPr algn="l">
              <a:spcAft>
                <a:spcPts val="0"/>
              </a:spcAft>
            </a:pPr>
            <a:r>
              <a:rPr sz="1600" b="0">
                <a:solidFill>
                  <a:srgbClr val="E9E7E3"/>
                </a:solidFill>
                <a:latin typeface="Arial"/>
              </a:rPr>
              <a:t/>
            </a:r>
          </a:p>
        </p:txBody>
      </p:sp>
      <p:sp>
        <p:nvSpPr>
          <p:cNvPr id="19" name="TextBox 18"/>
          <p:cNvSpPr txBox="1"/>
          <p:nvPr/>
        </p:nvSpPr>
        <p:spPr>
          <a:xfrm>
            <a:off x="9292132" y="2816352"/>
            <a:ext cx="2165299" cy="475488"/>
          </a:xfrm>
          <a:prstGeom prst="rect">
            <a:avLst/>
          </a:prstGeom>
          <a:noFill/>
        </p:spPr>
        <p:txBody>
          <a:bodyPr wrap="square" lIns="0" rIns="0" tIns="0" bIns="0" anchor="ctr">
            <a:spAutoFit/>
          </a:bodyPr>
          <a:lstStyle/>
          <a:p>
            <a:pPr algn="l">
              <a:spcAft>
                <a:spcPts val="0"/>
              </a:spcAft>
            </a:pPr>
            <a:r>
              <a:rPr sz="1600" b="0">
                <a:solidFill>
                  <a:srgbClr val="E9E7E3"/>
                </a:solidFill>
                <a:latin typeface="Arial"/>
              </a:rPr>
              <a:t/>
            </a:r>
          </a:p>
        </p:txBody>
      </p:sp>
      <p:sp>
        <p:nvSpPr>
          <p:cNvPr id="20" name="Rectangle 19"/>
          <p:cNvSpPr/>
          <p:nvPr/>
        </p:nvSpPr>
        <p:spPr>
          <a:xfrm>
            <a:off x="640080" y="3346704"/>
            <a:ext cx="10881360" cy="475488"/>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671" y="3346704"/>
            <a:ext cx="2491740" cy="475488"/>
          </a:xfrm>
          <a:prstGeom prst="rect">
            <a:avLst/>
          </a:prstGeom>
          <a:noFill/>
        </p:spPr>
        <p:txBody>
          <a:bodyPr wrap="square" lIns="0" rIns="0" tIns="0" bIns="0" anchor="ctr">
            <a:spAutoFit/>
          </a:bodyPr>
          <a:lstStyle/>
          <a:p>
            <a:pPr algn="l">
              <a:spcAft>
                <a:spcPts val="0"/>
              </a:spcAft>
            </a:pPr>
            <a:r>
              <a:rPr sz="1600" b="1">
                <a:solidFill>
                  <a:srgbClr val="5FCB7E"/>
                </a:solidFill>
                <a:latin typeface="Arial"/>
              </a:rPr>
              <a:t>IIe (enhanced)</a:t>
            </a:r>
          </a:p>
        </p:txBody>
      </p:sp>
      <p:sp>
        <p:nvSpPr>
          <p:cNvPr id="22" name="TextBox 21"/>
          <p:cNvSpPr txBox="1"/>
          <p:nvPr/>
        </p:nvSpPr>
        <p:spPr>
          <a:xfrm>
            <a:off x="3525012" y="3346704"/>
            <a:ext cx="3579876" cy="475488"/>
          </a:xfrm>
          <a:prstGeom prst="rect">
            <a:avLst/>
          </a:prstGeom>
          <a:noFill/>
        </p:spPr>
        <p:txBody>
          <a:bodyPr wrap="square" lIns="0" rIns="0" tIns="0" bIns="0" anchor="ctr">
            <a:spAutoFit/>
          </a:bodyPr>
          <a:lstStyle/>
          <a:p>
            <a:pPr algn="l">
              <a:spcAft>
                <a:spcPts val="0"/>
              </a:spcAft>
            </a:pPr>
            <a:r>
              <a:rPr sz="1600" b="0">
                <a:solidFill>
                  <a:srgbClr val="E9E7E3"/>
                </a:solidFill>
                <a:latin typeface="Arial"/>
              </a:rPr>
              <a:t>DOS 3.3</a:t>
            </a:r>
          </a:p>
        </p:txBody>
      </p:sp>
      <p:sp>
        <p:nvSpPr>
          <p:cNvPr id="23" name="TextBox 22"/>
          <p:cNvSpPr txBox="1"/>
          <p:nvPr/>
        </p:nvSpPr>
        <p:spPr>
          <a:xfrm>
            <a:off x="7333488" y="3346704"/>
            <a:ext cx="1730044" cy="475488"/>
          </a:xfrm>
          <a:prstGeom prst="rect">
            <a:avLst/>
          </a:prstGeom>
          <a:noFill/>
        </p:spPr>
        <p:txBody>
          <a:bodyPr wrap="square" lIns="0" rIns="0" tIns="0" bIns="0" anchor="ctr">
            <a:spAutoFit/>
          </a:bodyPr>
          <a:lstStyle/>
          <a:p>
            <a:pPr algn="l">
              <a:spcAft>
                <a:spcPts val="0"/>
              </a:spcAft>
            </a:pPr>
            <a:r>
              <a:rPr sz="1600" b="0">
                <a:solidFill>
                  <a:srgbClr val="E9E7E3"/>
                </a:solidFill>
                <a:latin typeface="Arial"/>
              </a:rPr>
              <a:t/>
            </a:r>
          </a:p>
        </p:txBody>
      </p:sp>
      <p:sp>
        <p:nvSpPr>
          <p:cNvPr id="24" name="TextBox 23"/>
          <p:cNvSpPr txBox="1"/>
          <p:nvPr/>
        </p:nvSpPr>
        <p:spPr>
          <a:xfrm>
            <a:off x="9292132" y="3346704"/>
            <a:ext cx="2165299" cy="475488"/>
          </a:xfrm>
          <a:prstGeom prst="rect">
            <a:avLst/>
          </a:prstGeom>
          <a:noFill/>
        </p:spPr>
        <p:txBody>
          <a:bodyPr wrap="square" lIns="0" rIns="0" tIns="0" bIns="0" anchor="ctr">
            <a:spAutoFit/>
          </a:bodyPr>
          <a:lstStyle/>
          <a:p>
            <a:pPr algn="l">
              <a:spcAft>
                <a:spcPts val="0"/>
              </a:spcAft>
            </a:pPr>
            <a:r>
              <a:rPr sz="1600" b="0">
                <a:solidFill>
                  <a:srgbClr val="E9E7E3"/>
                </a:solidFill>
                <a:latin typeface="Arial"/>
              </a:rPr>
              <a:t/>
            </a:r>
          </a:p>
        </p:txBody>
      </p:sp>
      <p:sp>
        <p:nvSpPr>
          <p:cNvPr id="25" name="Rectangle 24"/>
          <p:cNvSpPr/>
          <p:nvPr/>
        </p:nvSpPr>
        <p:spPr>
          <a:xfrm>
            <a:off x="640080" y="3877056"/>
            <a:ext cx="10881360" cy="475488"/>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671" y="3877056"/>
            <a:ext cx="2491740" cy="475488"/>
          </a:xfrm>
          <a:prstGeom prst="rect">
            <a:avLst/>
          </a:prstGeom>
          <a:noFill/>
        </p:spPr>
        <p:txBody>
          <a:bodyPr wrap="square" lIns="0" rIns="0" tIns="0" bIns="0" anchor="ctr">
            <a:spAutoFit/>
          </a:bodyPr>
          <a:lstStyle/>
          <a:p>
            <a:pPr algn="l">
              <a:spcAft>
                <a:spcPts val="0"/>
              </a:spcAft>
            </a:pPr>
            <a:r>
              <a:rPr sz="1600" b="1">
                <a:solidFill>
                  <a:srgbClr val="5FCB7E"/>
                </a:solidFill>
                <a:latin typeface="Arial"/>
              </a:rPr>
              <a:t>IIe (enhanced)</a:t>
            </a:r>
          </a:p>
        </p:txBody>
      </p:sp>
      <p:sp>
        <p:nvSpPr>
          <p:cNvPr id="27" name="TextBox 26"/>
          <p:cNvSpPr txBox="1"/>
          <p:nvPr/>
        </p:nvSpPr>
        <p:spPr>
          <a:xfrm>
            <a:off x="3525012" y="3877056"/>
            <a:ext cx="3579876" cy="475488"/>
          </a:xfrm>
          <a:prstGeom prst="rect">
            <a:avLst/>
          </a:prstGeom>
          <a:noFill/>
        </p:spPr>
        <p:txBody>
          <a:bodyPr wrap="square" lIns="0" rIns="0" tIns="0" bIns="0" anchor="ctr">
            <a:spAutoFit/>
          </a:bodyPr>
          <a:lstStyle/>
          <a:p>
            <a:pPr algn="l">
              <a:spcAft>
                <a:spcPts val="0"/>
              </a:spcAft>
            </a:pPr>
            <a:r>
              <a:rPr sz="1600" b="0">
                <a:solidFill>
                  <a:srgbClr val="E9E7E3"/>
                </a:solidFill>
                <a:latin typeface="Arial"/>
              </a:rPr>
              <a:t>ProDOS / BASIC.SYSTEM</a:t>
            </a:r>
          </a:p>
        </p:txBody>
      </p:sp>
      <p:sp>
        <p:nvSpPr>
          <p:cNvPr id="28" name="TextBox 27"/>
          <p:cNvSpPr txBox="1"/>
          <p:nvPr/>
        </p:nvSpPr>
        <p:spPr>
          <a:xfrm>
            <a:off x="7333488" y="3877056"/>
            <a:ext cx="1730044" cy="475488"/>
          </a:xfrm>
          <a:prstGeom prst="rect">
            <a:avLst/>
          </a:prstGeom>
          <a:noFill/>
        </p:spPr>
        <p:txBody>
          <a:bodyPr wrap="square" lIns="0" rIns="0" tIns="0" bIns="0" anchor="ctr">
            <a:spAutoFit/>
          </a:bodyPr>
          <a:lstStyle/>
          <a:p>
            <a:pPr algn="l">
              <a:spcAft>
                <a:spcPts val="0"/>
              </a:spcAft>
            </a:pPr>
            <a:r>
              <a:rPr sz="1600" b="0">
                <a:solidFill>
                  <a:srgbClr val="E9E7E3"/>
                </a:solidFill>
                <a:latin typeface="Arial"/>
              </a:rPr>
              <a:t/>
            </a:r>
          </a:p>
        </p:txBody>
      </p:sp>
      <p:sp>
        <p:nvSpPr>
          <p:cNvPr id="29" name="TextBox 28"/>
          <p:cNvSpPr txBox="1"/>
          <p:nvPr/>
        </p:nvSpPr>
        <p:spPr>
          <a:xfrm>
            <a:off x="9292132" y="3877056"/>
            <a:ext cx="2165299" cy="475488"/>
          </a:xfrm>
          <a:prstGeom prst="rect">
            <a:avLst/>
          </a:prstGeom>
          <a:noFill/>
        </p:spPr>
        <p:txBody>
          <a:bodyPr wrap="square" lIns="0" rIns="0" tIns="0" bIns="0" anchor="ctr">
            <a:spAutoFit/>
          </a:bodyPr>
          <a:lstStyle/>
          <a:p>
            <a:pPr algn="l">
              <a:spcAft>
                <a:spcPts val="0"/>
              </a:spcAft>
            </a:pPr>
            <a:r>
              <a:rPr sz="1600" b="0">
                <a:solidFill>
                  <a:srgbClr val="E9E7E3"/>
                </a:solidFill>
                <a:latin typeface="Arial"/>
              </a:rPr>
              <a:t/>
            </a:r>
          </a:p>
        </p:txBody>
      </p:sp>
      <p:sp>
        <p:nvSpPr>
          <p:cNvPr id="30" name="Rectangle 29"/>
          <p:cNvSpPr/>
          <p:nvPr/>
        </p:nvSpPr>
        <p:spPr>
          <a:xfrm>
            <a:off x="640080" y="4407408"/>
            <a:ext cx="10881360" cy="475488"/>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4671" y="4407408"/>
            <a:ext cx="2491740" cy="475488"/>
          </a:xfrm>
          <a:prstGeom prst="rect">
            <a:avLst/>
          </a:prstGeom>
          <a:noFill/>
        </p:spPr>
        <p:txBody>
          <a:bodyPr wrap="square" lIns="0" rIns="0" tIns="0" bIns="0" anchor="ctr">
            <a:spAutoFit/>
          </a:bodyPr>
          <a:lstStyle/>
          <a:p>
            <a:pPr algn="l">
              <a:spcAft>
                <a:spcPts val="0"/>
              </a:spcAft>
            </a:pPr>
            <a:r>
              <a:rPr sz="1600" b="1">
                <a:solidFill>
                  <a:srgbClr val="5FCB7E"/>
                </a:solidFill>
                <a:latin typeface="Arial"/>
              </a:rPr>
              <a:t>IIc</a:t>
            </a:r>
          </a:p>
        </p:txBody>
      </p:sp>
      <p:sp>
        <p:nvSpPr>
          <p:cNvPr id="32" name="TextBox 31"/>
          <p:cNvSpPr txBox="1"/>
          <p:nvPr/>
        </p:nvSpPr>
        <p:spPr>
          <a:xfrm>
            <a:off x="3525012" y="4407408"/>
            <a:ext cx="3579876" cy="475488"/>
          </a:xfrm>
          <a:prstGeom prst="rect">
            <a:avLst/>
          </a:prstGeom>
          <a:noFill/>
        </p:spPr>
        <p:txBody>
          <a:bodyPr wrap="square" lIns="0" rIns="0" tIns="0" bIns="0" anchor="ctr">
            <a:spAutoFit/>
          </a:bodyPr>
          <a:lstStyle/>
          <a:p>
            <a:pPr algn="l">
              <a:spcAft>
                <a:spcPts val="0"/>
              </a:spcAft>
            </a:pPr>
            <a:r>
              <a:rPr sz="1600" b="0">
                <a:solidFill>
                  <a:srgbClr val="E9E7E3"/>
                </a:solidFill>
                <a:latin typeface="Arial"/>
              </a:rPr>
              <a:t>ProDOS / BASIC.SYSTEM</a:t>
            </a:r>
          </a:p>
        </p:txBody>
      </p:sp>
      <p:sp>
        <p:nvSpPr>
          <p:cNvPr id="33" name="TextBox 32"/>
          <p:cNvSpPr txBox="1"/>
          <p:nvPr/>
        </p:nvSpPr>
        <p:spPr>
          <a:xfrm>
            <a:off x="7333488" y="4407408"/>
            <a:ext cx="1730044" cy="475488"/>
          </a:xfrm>
          <a:prstGeom prst="rect">
            <a:avLst/>
          </a:prstGeom>
          <a:noFill/>
        </p:spPr>
        <p:txBody>
          <a:bodyPr wrap="square" lIns="0" rIns="0" tIns="0" bIns="0" anchor="ctr">
            <a:spAutoFit/>
          </a:bodyPr>
          <a:lstStyle/>
          <a:p>
            <a:pPr algn="l">
              <a:spcAft>
                <a:spcPts val="0"/>
              </a:spcAft>
            </a:pPr>
            <a:r>
              <a:rPr sz="1600" b="0">
                <a:solidFill>
                  <a:srgbClr val="E9E7E3"/>
                </a:solidFill>
                <a:latin typeface="Arial"/>
              </a:rPr>
              <a:t/>
            </a:r>
          </a:p>
        </p:txBody>
      </p:sp>
      <p:sp>
        <p:nvSpPr>
          <p:cNvPr id="34" name="TextBox 33"/>
          <p:cNvSpPr txBox="1"/>
          <p:nvPr/>
        </p:nvSpPr>
        <p:spPr>
          <a:xfrm>
            <a:off x="9292132" y="4407408"/>
            <a:ext cx="2165299" cy="475488"/>
          </a:xfrm>
          <a:prstGeom prst="rect">
            <a:avLst/>
          </a:prstGeom>
          <a:noFill/>
        </p:spPr>
        <p:txBody>
          <a:bodyPr wrap="square" lIns="0" rIns="0" tIns="0" bIns="0" anchor="ctr">
            <a:spAutoFit/>
          </a:bodyPr>
          <a:lstStyle/>
          <a:p>
            <a:pPr algn="l">
              <a:spcAft>
                <a:spcPts val="0"/>
              </a:spcAft>
            </a:pPr>
            <a:r>
              <a:rPr sz="1600" b="0">
                <a:solidFill>
                  <a:srgbClr val="E9E7E3"/>
                </a:solidFill>
                <a:latin typeface="Arial"/>
              </a:rPr>
              <a:t/>
            </a:r>
          </a:p>
        </p:txBody>
      </p:sp>
      <p:sp>
        <p:nvSpPr>
          <p:cNvPr id="35" name="Rectangle 34"/>
          <p:cNvSpPr/>
          <p:nvPr/>
        </p:nvSpPr>
        <p:spPr>
          <a:xfrm>
            <a:off x="640080" y="5120640"/>
            <a:ext cx="10881360" cy="914400"/>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40080" y="5120640"/>
            <a:ext cx="64008" cy="914400"/>
          </a:xfrm>
          <a:prstGeom prst="rect">
            <a:avLst/>
          </a:prstGeom>
          <a:solidFill>
            <a:srgbClr val="E0A7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60119" y="5120640"/>
            <a:ext cx="10332720" cy="914400"/>
          </a:xfrm>
          <a:prstGeom prst="rect">
            <a:avLst/>
          </a:prstGeom>
          <a:noFill/>
        </p:spPr>
        <p:txBody>
          <a:bodyPr wrap="square" lIns="0" rIns="0" tIns="0" bIns="0" anchor="ctr">
            <a:spAutoFit/>
          </a:bodyPr>
          <a:lstStyle/>
          <a:p>
            <a:pPr algn="l">
              <a:spcAft>
                <a:spcPts val="400"/>
              </a:spcAft>
            </a:pPr>
            <a:r>
              <a:rPr sz="1900" b="0">
                <a:solidFill>
                  <a:srgbClr val="E9E7E3"/>
                </a:solidFill>
                <a:latin typeface="Arial"/>
              </a:rPr>
              <a:t>Emulator reference:  $FF → .973136996   ·   $00 → .270011996   ·   $58 → .512199496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7181A"/>
        </a:solidFill>
        <a:effectLst/>
      </p:bgPr>
    </p:bg>
    <p:spTree>
      <p:nvGrpSpPr>
        <p:cNvPr id="1" name=""/>
        <p:cNvGrpSpPr/>
        <p:nvPr/>
      </p:nvGrpSpPr>
      <p:grpSpPr/>
      <p:sp>
        <p:nvSpPr>
          <p:cNvPr id="2" name="Rectangle 1"/>
          <p:cNvSpPr/>
          <p:nvPr/>
        </p:nvSpPr>
        <p:spPr>
          <a:xfrm>
            <a:off x="10927080" y="384048"/>
            <a:ext cx="566928" cy="566928"/>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27080" y="384048"/>
            <a:ext cx="566928" cy="566928"/>
          </a:xfrm>
          <a:prstGeom prst="rect">
            <a:avLst/>
          </a:prstGeom>
          <a:noFill/>
        </p:spPr>
        <p:txBody>
          <a:bodyPr wrap="square" lIns="0" rIns="0" tIns="0" bIns="0" anchor="ctr">
            <a:spAutoFit/>
          </a:bodyPr>
          <a:lstStyle/>
          <a:p>
            <a:pPr algn="ctr">
              <a:spcAft>
                <a:spcPts val="0"/>
              </a:spcAft>
            </a:pPr>
            <a:r>
              <a:rPr sz="1500" b="1">
                <a:solidFill>
                  <a:srgbClr val="5FCB7E"/>
                </a:solidFill>
                <a:latin typeface="Courier New"/>
              </a:rPr>
              <a:t>B4</a:t>
            </a:r>
          </a:p>
        </p:txBody>
      </p:sp>
      <p:sp>
        <p:nvSpPr>
          <p:cNvPr id="4" name="TextBox 3"/>
          <p:cNvSpPr txBox="1"/>
          <p:nvPr/>
        </p:nvSpPr>
        <p:spPr>
          <a:xfrm>
            <a:off x="640080" y="411480"/>
            <a:ext cx="10058400" cy="685800"/>
          </a:xfrm>
          <a:prstGeom prst="rect">
            <a:avLst/>
          </a:prstGeom>
          <a:noFill/>
        </p:spPr>
        <p:txBody>
          <a:bodyPr wrap="square" lIns="0" rIns="0" tIns="0" bIns="0" anchor="ctr">
            <a:spAutoFit/>
          </a:bodyPr>
          <a:lstStyle/>
          <a:p>
            <a:pPr algn="l">
              <a:spcAft>
                <a:spcPts val="0"/>
              </a:spcAft>
            </a:pPr>
            <a:r>
              <a:rPr sz="2800" b="1">
                <a:solidFill>
                  <a:srgbClr val="E9E7E3"/>
                </a:solidFill>
                <a:latin typeface="Arial"/>
              </a:rPr>
              <a:t>Backup: patch compatibility (to fill in)</a:t>
            </a:r>
          </a:p>
        </p:txBody>
      </p:sp>
      <p:sp>
        <p:nvSpPr>
          <p:cNvPr id="5" name="TextBox 4"/>
          <p:cNvSpPr txBox="1"/>
          <p:nvPr/>
        </p:nvSpPr>
        <p:spPr>
          <a:xfrm>
            <a:off x="777240" y="1783080"/>
            <a:ext cx="3081527" cy="384048"/>
          </a:xfrm>
          <a:prstGeom prst="rect">
            <a:avLst/>
          </a:prstGeom>
          <a:noFill/>
        </p:spPr>
        <p:txBody>
          <a:bodyPr wrap="square" lIns="0" rIns="0" tIns="0" bIns="0" anchor="ctr">
            <a:spAutoFit/>
          </a:bodyPr>
          <a:lstStyle/>
          <a:p>
            <a:pPr algn="l">
              <a:spcAft>
                <a:spcPts val="0"/>
              </a:spcAft>
            </a:pPr>
            <a:r>
              <a:rPr sz="1300" b="1">
                <a:solidFill>
                  <a:srgbClr val="9DA39B"/>
                </a:solidFill>
                <a:latin typeface="Arial"/>
              </a:rPr>
              <a:t>Configuration</a:t>
            </a:r>
          </a:p>
        </p:txBody>
      </p:sp>
      <p:sp>
        <p:nvSpPr>
          <p:cNvPr id="6" name="TextBox 5"/>
          <p:cNvSpPr txBox="1"/>
          <p:nvPr/>
        </p:nvSpPr>
        <p:spPr>
          <a:xfrm>
            <a:off x="4041648" y="1783080"/>
            <a:ext cx="5475427" cy="384048"/>
          </a:xfrm>
          <a:prstGeom prst="rect">
            <a:avLst/>
          </a:prstGeom>
          <a:noFill/>
        </p:spPr>
        <p:txBody>
          <a:bodyPr wrap="square" lIns="0" rIns="0" tIns="0" bIns="0" anchor="ctr">
            <a:spAutoFit/>
          </a:bodyPr>
          <a:lstStyle/>
          <a:p>
            <a:pPr algn="l">
              <a:spcAft>
                <a:spcPts val="0"/>
              </a:spcAft>
            </a:pPr>
            <a:r>
              <a:rPr sz="1300" b="1">
                <a:solidFill>
                  <a:srgbClr val="9DA39B"/>
                </a:solidFill>
                <a:latin typeface="Arial"/>
              </a:rPr>
              <a:t>Risk</a:t>
            </a:r>
          </a:p>
        </p:txBody>
      </p:sp>
      <p:sp>
        <p:nvSpPr>
          <p:cNvPr id="7" name="TextBox 6"/>
          <p:cNvSpPr txBox="1"/>
          <p:nvPr/>
        </p:nvSpPr>
        <p:spPr>
          <a:xfrm>
            <a:off x="9699955" y="1783080"/>
            <a:ext cx="1775764" cy="384048"/>
          </a:xfrm>
          <a:prstGeom prst="rect">
            <a:avLst/>
          </a:prstGeom>
          <a:noFill/>
        </p:spPr>
        <p:txBody>
          <a:bodyPr wrap="square" lIns="0" rIns="0" tIns="0" bIns="0" anchor="ctr">
            <a:spAutoFit/>
          </a:bodyPr>
          <a:lstStyle/>
          <a:p>
            <a:pPr algn="l">
              <a:spcAft>
                <a:spcPts val="0"/>
              </a:spcAft>
            </a:pPr>
            <a:r>
              <a:rPr sz="1300" b="1">
                <a:solidFill>
                  <a:srgbClr val="9DA39B"/>
                </a:solidFill>
                <a:latin typeface="Arial"/>
              </a:rPr>
              <a:t>Result</a:t>
            </a:r>
          </a:p>
        </p:txBody>
      </p:sp>
      <p:sp>
        <p:nvSpPr>
          <p:cNvPr id="8" name="Rectangle 7"/>
          <p:cNvSpPr/>
          <p:nvPr/>
        </p:nvSpPr>
        <p:spPr>
          <a:xfrm>
            <a:off x="640080" y="2194560"/>
            <a:ext cx="10881360" cy="13716"/>
          </a:xfrm>
          <a:prstGeom prst="rect">
            <a:avLst/>
          </a:prstGeom>
          <a:solidFill>
            <a:srgbClr val="3A3E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2286000"/>
            <a:ext cx="10881360" cy="448056"/>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1" y="2286000"/>
            <a:ext cx="3035808" cy="448056"/>
          </a:xfrm>
          <a:prstGeom prst="rect">
            <a:avLst/>
          </a:prstGeom>
          <a:noFill/>
        </p:spPr>
        <p:txBody>
          <a:bodyPr wrap="square" lIns="0" rIns="0" tIns="0" bIns="0" anchor="ctr">
            <a:spAutoFit/>
          </a:bodyPr>
          <a:lstStyle/>
          <a:p>
            <a:pPr algn="l">
              <a:spcAft>
                <a:spcPts val="0"/>
              </a:spcAft>
            </a:pPr>
            <a:r>
              <a:rPr sz="1600" b="1">
                <a:solidFill>
                  <a:srgbClr val="5FCB7E"/>
                </a:solidFill>
                <a:latin typeface="Arial"/>
              </a:rPr>
              <a:t>ProDOS 8 / BASIC.SYSTEM</a:t>
            </a:r>
          </a:p>
        </p:txBody>
      </p:sp>
      <p:sp>
        <p:nvSpPr>
          <p:cNvPr id="11" name="TextBox 10"/>
          <p:cNvSpPr txBox="1"/>
          <p:nvPr/>
        </p:nvSpPr>
        <p:spPr>
          <a:xfrm>
            <a:off x="4069079" y="2286000"/>
            <a:ext cx="5429707" cy="448056"/>
          </a:xfrm>
          <a:prstGeom prst="rect">
            <a:avLst/>
          </a:prstGeom>
          <a:noFill/>
        </p:spPr>
        <p:txBody>
          <a:bodyPr wrap="square" lIns="0" rIns="0" tIns="0" bIns="0" anchor="ctr">
            <a:spAutoFit/>
          </a:bodyPr>
          <a:lstStyle/>
          <a:p>
            <a:pPr algn="l">
              <a:spcAft>
                <a:spcPts val="0"/>
              </a:spcAft>
            </a:pPr>
            <a:r>
              <a:rPr sz="1600" b="0">
                <a:solidFill>
                  <a:srgbClr val="E9E7E3"/>
                </a:solidFill>
                <a:latin typeface="Arial"/>
              </a:rPr>
              <a:t>ProDOS lives in LC RAM; loader overwrites it</a:t>
            </a:r>
          </a:p>
        </p:txBody>
      </p:sp>
      <p:sp>
        <p:nvSpPr>
          <p:cNvPr id="12" name="TextBox 11"/>
          <p:cNvSpPr txBox="1"/>
          <p:nvPr/>
        </p:nvSpPr>
        <p:spPr>
          <a:xfrm>
            <a:off x="9727387" y="2286000"/>
            <a:ext cx="1730044" cy="448056"/>
          </a:xfrm>
          <a:prstGeom prst="rect">
            <a:avLst/>
          </a:prstGeom>
          <a:noFill/>
        </p:spPr>
        <p:txBody>
          <a:bodyPr wrap="square" lIns="0" rIns="0" tIns="0" bIns="0" anchor="ctr">
            <a:spAutoFit/>
          </a:bodyPr>
          <a:lstStyle/>
          <a:p>
            <a:pPr algn="l">
              <a:spcAft>
                <a:spcPts val="0"/>
              </a:spcAft>
            </a:pPr>
            <a:r>
              <a:rPr sz="1600" b="0">
                <a:solidFill>
                  <a:srgbClr val="E9E7E3"/>
                </a:solidFill>
                <a:latin typeface="Arial"/>
              </a:rPr>
              <a:t>untested</a:t>
            </a:r>
          </a:p>
        </p:txBody>
      </p:sp>
      <p:sp>
        <p:nvSpPr>
          <p:cNvPr id="13" name="Rectangle 12"/>
          <p:cNvSpPr/>
          <p:nvPr/>
        </p:nvSpPr>
        <p:spPr>
          <a:xfrm>
            <a:off x="640080" y="2788920"/>
            <a:ext cx="10881360" cy="448056"/>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1" y="2788920"/>
            <a:ext cx="3035808" cy="448056"/>
          </a:xfrm>
          <a:prstGeom prst="rect">
            <a:avLst/>
          </a:prstGeom>
          <a:noFill/>
        </p:spPr>
        <p:txBody>
          <a:bodyPr wrap="square" lIns="0" rIns="0" tIns="0" bIns="0" anchor="ctr">
            <a:spAutoFit/>
          </a:bodyPr>
          <a:lstStyle/>
          <a:p>
            <a:pPr algn="l">
              <a:spcAft>
                <a:spcPts val="0"/>
              </a:spcAft>
            </a:pPr>
            <a:r>
              <a:rPr sz="1600" b="1">
                <a:solidFill>
                  <a:srgbClr val="5FCB7E"/>
                </a:solidFill>
                <a:latin typeface="Arial"/>
              </a:rPr>
              <a:t>DOS 3.3, FP / INT</a:t>
            </a:r>
          </a:p>
        </p:txBody>
      </p:sp>
      <p:sp>
        <p:nvSpPr>
          <p:cNvPr id="15" name="TextBox 14"/>
          <p:cNvSpPr txBox="1"/>
          <p:nvPr/>
        </p:nvSpPr>
        <p:spPr>
          <a:xfrm>
            <a:off x="4069079" y="2788920"/>
            <a:ext cx="5429707" cy="448056"/>
          </a:xfrm>
          <a:prstGeom prst="rect">
            <a:avLst/>
          </a:prstGeom>
          <a:noFill/>
        </p:spPr>
        <p:txBody>
          <a:bodyPr wrap="square" lIns="0" rIns="0" tIns="0" bIns="0" anchor="ctr">
            <a:spAutoFit/>
          </a:bodyPr>
          <a:lstStyle/>
          <a:p>
            <a:pPr algn="l">
              <a:spcAft>
                <a:spcPts val="0"/>
              </a:spcAft>
            </a:pPr>
            <a:r>
              <a:rPr sz="1600" b="0">
                <a:solidFill>
                  <a:srgbClr val="E9E7E3"/>
                </a:solidFill>
                <a:latin typeface="Arial"/>
              </a:rPr>
              <a:t>LC switches flip; patch may silently vanish</a:t>
            </a:r>
          </a:p>
        </p:txBody>
      </p:sp>
      <p:sp>
        <p:nvSpPr>
          <p:cNvPr id="16" name="TextBox 15"/>
          <p:cNvSpPr txBox="1"/>
          <p:nvPr/>
        </p:nvSpPr>
        <p:spPr>
          <a:xfrm>
            <a:off x="9727387" y="2788920"/>
            <a:ext cx="1730044" cy="448056"/>
          </a:xfrm>
          <a:prstGeom prst="rect">
            <a:avLst/>
          </a:prstGeom>
          <a:noFill/>
        </p:spPr>
        <p:txBody>
          <a:bodyPr wrap="square" lIns="0" rIns="0" tIns="0" bIns="0" anchor="ctr">
            <a:spAutoFit/>
          </a:bodyPr>
          <a:lstStyle/>
          <a:p>
            <a:pPr algn="l">
              <a:spcAft>
                <a:spcPts val="0"/>
              </a:spcAft>
            </a:pPr>
            <a:r>
              <a:rPr sz="1600" b="0">
                <a:solidFill>
                  <a:srgbClr val="E9E7E3"/>
                </a:solidFill>
                <a:latin typeface="Arial"/>
              </a:rPr>
              <a:t>untested</a:t>
            </a:r>
          </a:p>
        </p:txBody>
      </p:sp>
      <p:sp>
        <p:nvSpPr>
          <p:cNvPr id="17" name="Rectangle 16"/>
          <p:cNvSpPr/>
          <p:nvPr/>
        </p:nvSpPr>
        <p:spPr>
          <a:xfrm>
            <a:off x="640080" y="3291839"/>
            <a:ext cx="10881360" cy="448056"/>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1" y="3291839"/>
            <a:ext cx="3035808" cy="448056"/>
          </a:xfrm>
          <a:prstGeom prst="rect">
            <a:avLst/>
          </a:prstGeom>
          <a:noFill/>
        </p:spPr>
        <p:txBody>
          <a:bodyPr wrap="square" lIns="0" rIns="0" tIns="0" bIns="0" anchor="ctr">
            <a:spAutoFit/>
          </a:bodyPr>
          <a:lstStyle/>
          <a:p>
            <a:pPr algn="l">
              <a:spcAft>
                <a:spcPts val="0"/>
              </a:spcAft>
            </a:pPr>
            <a:r>
              <a:rPr sz="1600" b="1">
                <a:solidFill>
                  <a:srgbClr val="5FCB7E"/>
                </a:solidFill>
                <a:latin typeface="Arial"/>
              </a:rPr>
              <a:t>Original II, Integer in ROM</a:t>
            </a:r>
          </a:p>
        </p:txBody>
      </p:sp>
      <p:sp>
        <p:nvSpPr>
          <p:cNvPr id="19" name="TextBox 18"/>
          <p:cNvSpPr txBox="1"/>
          <p:nvPr/>
        </p:nvSpPr>
        <p:spPr>
          <a:xfrm>
            <a:off x="4069079" y="3291839"/>
            <a:ext cx="5429707" cy="448056"/>
          </a:xfrm>
          <a:prstGeom prst="rect">
            <a:avLst/>
          </a:prstGeom>
          <a:noFill/>
        </p:spPr>
        <p:txBody>
          <a:bodyPr wrap="square" lIns="0" rIns="0" tIns="0" bIns="0" anchor="ctr">
            <a:spAutoFit/>
          </a:bodyPr>
          <a:lstStyle/>
          <a:p>
            <a:pPr algn="l">
              <a:spcAft>
                <a:spcPts val="0"/>
              </a:spcAft>
            </a:pPr>
            <a:r>
              <a:rPr sz="1600" b="0">
                <a:solidFill>
                  <a:srgbClr val="E9E7E3"/>
                </a:solidFill>
                <a:latin typeface="Arial"/>
              </a:rPr>
              <a:t>Copies Integer BASIC, JMPs into its middle</a:t>
            </a:r>
          </a:p>
        </p:txBody>
      </p:sp>
      <p:sp>
        <p:nvSpPr>
          <p:cNvPr id="20" name="TextBox 19"/>
          <p:cNvSpPr txBox="1"/>
          <p:nvPr/>
        </p:nvSpPr>
        <p:spPr>
          <a:xfrm>
            <a:off x="9727387" y="3291839"/>
            <a:ext cx="1730044" cy="448056"/>
          </a:xfrm>
          <a:prstGeom prst="rect">
            <a:avLst/>
          </a:prstGeom>
          <a:noFill/>
        </p:spPr>
        <p:txBody>
          <a:bodyPr wrap="square" lIns="0" rIns="0" tIns="0" bIns="0" anchor="ctr">
            <a:spAutoFit/>
          </a:bodyPr>
          <a:lstStyle/>
          <a:p>
            <a:pPr algn="l">
              <a:spcAft>
                <a:spcPts val="0"/>
              </a:spcAft>
            </a:pPr>
            <a:r>
              <a:rPr sz="1600" b="0">
                <a:solidFill>
                  <a:srgbClr val="E9E7E3"/>
                </a:solidFill>
                <a:latin typeface="Arial"/>
              </a:rPr>
              <a:t>untested</a:t>
            </a:r>
          </a:p>
        </p:txBody>
      </p:sp>
      <p:sp>
        <p:nvSpPr>
          <p:cNvPr id="21" name="Rectangle 20"/>
          <p:cNvSpPr/>
          <p:nvPr/>
        </p:nvSpPr>
        <p:spPr>
          <a:xfrm>
            <a:off x="640080" y="3794759"/>
            <a:ext cx="10881360" cy="448056"/>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1" y="3794759"/>
            <a:ext cx="3035808" cy="448056"/>
          </a:xfrm>
          <a:prstGeom prst="rect">
            <a:avLst/>
          </a:prstGeom>
          <a:noFill/>
        </p:spPr>
        <p:txBody>
          <a:bodyPr wrap="square" lIns="0" rIns="0" tIns="0" bIns="0" anchor="ctr">
            <a:spAutoFit/>
          </a:bodyPr>
          <a:lstStyle/>
          <a:p>
            <a:pPr algn="l">
              <a:spcAft>
                <a:spcPts val="0"/>
              </a:spcAft>
            </a:pPr>
            <a:r>
              <a:rPr sz="1600" b="1">
                <a:solidFill>
                  <a:srgbClr val="5FCB7E"/>
                </a:solidFill>
                <a:latin typeface="Arial"/>
              </a:rPr>
              <a:t>IIe / IIc, Ctrl-Reset</a:t>
            </a:r>
          </a:p>
        </p:txBody>
      </p:sp>
      <p:sp>
        <p:nvSpPr>
          <p:cNvPr id="23" name="TextBox 22"/>
          <p:cNvSpPr txBox="1"/>
          <p:nvPr/>
        </p:nvSpPr>
        <p:spPr>
          <a:xfrm>
            <a:off x="4069079" y="3794759"/>
            <a:ext cx="5429707" cy="448056"/>
          </a:xfrm>
          <a:prstGeom prst="rect">
            <a:avLst/>
          </a:prstGeom>
          <a:noFill/>
        </p:spPr>
        <p:txBody>
          <a:bodyPr wrap="square" lIns="0" rIns="0" tIns="0" bIns="0" anchor="ctr">
            <a:spAutoFit/>
          </a:bodyPr>
          <a:lstStyle/>
          <a:p>
            <a:pPr algn="l">
              <a:spcAft>
                <a:spcPts val="0"/>
              </a:spcAft>
            </a:pPr>
            <a:r>
              <a:rPr sz="1600" b="0">
                <a:solidFill>
                  <a:srgbClr val="E9E7E3"/>
                </a:solidFill>
                <a:latin typeface="Arial"/>
              </a:rPr>
              <a:t>RESET forces ROM read; patch off</a:t>
            </a:r>
          </a:p>
        </p:txBody>
      </p:sp>
      <p:sp>
        <p:nvSpPr>
          <p:cNvPr id="24" name="TextBox 23"/>
          <p:cNvSpPr txBox="1"/>
          <p:nvPr/>
        </p:nvSpPr>
        <p:spPr>
          <a:xfrm>
            <a:off x="9727387" y="3794759"/>
            <a:ext cx="1730044" cy="448056"/>
          </a:xfrm>
          <a:prstGeom prst="rect">
            <a:avLst/>
          </a:prstGeom>
          <a:noFill/>
        </p:spPr>
        <p:txBody>
          <a:bodyPr wrap="square" lIns="0" rIns="0" tIns="0" bIns="0" anchor="ctr">
            <a:spAutoFit/>
          </a:bodyPr>
          <a:lstStyle/>
          <a:p>
            <a:pPr algn="l">
              <a:spcAft>
                <a:spcPts val="0"/>
              </a:spcAft>
            </a:pPr>
            <a:r>
              <a:rPr sz="1600" b="0">
                <a:solidFill>
                  <a:srgbClr val="E9E7E3"/>
                </a:solidFill>
                <a:latin typeface="Arial"/>
              </a:rPr>
              <a:t>untested</a:t>
            </a:r>
          </a:p>
        </p:txBody>
      </p:sp>
      <p:sp>
        <p:nvSpPr>
          <p:cNvPr id="25" name="Rectangle 24"/>
          <p:cNvSpPr/>
          <p:nvPr/>
        </p:nvSpPr>
        <p:spPr>
          <a:xfrm>
            <a:off x="640080" y="4297679"/>
            <a:ext cx="10881360" cy="448056"/>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671" y="4297679"/>
            <a:ext cx="3035808" cy="448056"/>
          </a:xfrm>
          <a:prstGeom prst="rect">
            <a:avLst/>
          </a:prstGeom>
          <a:noFill/>
        </p:spPr>
        <p:txBody>
          <a:bodyPr wrap="square" lIns="0" rIns="0" tIns="0" bIns="0" anchor="ctr">
            <a:spAutoFit/>
          </a:bodyPr>
          <a:lstStyle/>
          <a:p>
            <a:pPr algn="l">
              <a:spcAft>
                <a:spcPts val="0"/>
              </a:spcAft>
            </a:pPr>
            <a:r>
              <a:rPr sz="1600" b="1">
                <a:solidFill>
                  <a:srgbClr val="5FCB7E"/>
                </a:solidFill>
                <a:latin typeface="Arial"/>
              </a:rPr>
              <a:t>Programs using the LC</a:t>
            </a:r>
          </a:p>
        </p:txBody>
      </p:sp>
      <p:sp>
        <p:nvSpPr>
          <p:cNvPr id="27" name="TextBox 26"/>
          <p:cNvSpPr txBox="1"/>
          <p:nvPr/>
        </p:nvSpPr>
        <p:spPr>
          <a:xfrm>
            <a:off x="4069079" y="4297679"/>
            <a:ext cx="5429707" cy="448056"/>
          </a:xfrm>
          <a:prstGeom prst="rect">
            <a:avLst/>
          </a:prstGeom>
          <a:noFill/>
        </p:spPr>
        <p:txBody>
          <a:bodyPr wrap="square" lIns="0" rIns="0" tIns="0" bIns="0" anchor="ctr">
            <a:spAutoFit/>
          </a:bodyPr>
          <a:lstStyle/>
          <a:p>
            <a:pPr algn="l">
              <a:spcAft>
                <a:spcPts val="0"/>
              </a:spcAft>
            </a:pPr>
            <a:r>
              <a:rPr sz="1600" b="0">
                <a:solidFill>
                  <a:srgbClr val="E9E7E3"/>
                </a:solidFill>
                <a:latin typeface="Arial"/>
              </a:rPr>
              <a:t>Pascal, CP/M, RAM disks, /RAM</a:t>
            </a:r>
          </a:p>
        </p:txBody>
      </p:sp>
      <p:sp>
        <p:nvSpPr>
          <p:cNvPr id="28" name="TextBox 27"/>
          <p:cNvSpPr txBox="1"/>
          <p:nvPr/>
        </p:nvSpPr>
        <p:spPr>
          <a:xfrm>
            <a:off x="9727387" y="4297679"/>
            <a:ext cx="1730044" cy="448056"/>
          </a:xfrm>
          <a:prstGeom prst="rect">
            <a:avLst/>
          </a:prstGeom>
          <a:noFill/>
        </p:spPr>
        <p:txBody>
          <a:bodyPr wrap="square" lIns="0" rIns="0" tIns="0" bIns="0" anchor="ctr">
            <a:spAutoFit/>
          </a:bodyPr>
          <a:lstStyle/>
          <a:p>
            <a:pPr algn="l">
              <a:spcAft>
                <a:spcPts val="0"/>
              </a:spcAft>
            </a:pPr>
            <a:r>
              <a:rPr sz="1600" b="0">
                <a:solidFill>
                  <a:srgbClr val="E9E7E3"/>
                </a:solidFill>
                <a:latin typeface="Arial"/>
              </a:rPr>
              <a:t>untested</a:t>
            </a:r>
          </a:p>
        </p:txBody>
      </p:sp>
      <p:sp>
        <p:nvSpPr>
          <p:cNvPr id="29" name="Rectangle 28"/>
          <p:cNvSpPr/>
          <p:nvPr/>
        </p:nvSpPr>
        <p:spPr>
          <a:xfrm>
            <a:off x="640080" y="4800599"/>
            <a:ext cx="10881360" cy="448056"/>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1" y="4800599"/>
            <a:ext cx="3035808" cy="448056"/>
          </a:xfrm>
          <a:prstGeom prst="rect">
            <a:avLst/>
          </a:prstGeom>
          <a:noFill/>
        </p:spPr>
        <p:txBody>
          <a:bodyPr wrap="square" lIns="0" rIns="0" tIns="0" bIns="0" anchor="ctr">
            <a:spAutoFit/>
          </a:bodyPr>
          <a:lstStyle/>
          <a:p>
            <a:pPr algn="l">
              <a:spcAft>
                <a:spcPts val="0"/>
              </a:spcAft>
            </a:pPr>
            <a:r>
              <a:rPr sz="1600" b="1">
                <a:solidFill>
                  <a:srgbClr val="5FCB7E"/>
                </a:solidFill>
                <a:latin typeface="Arial"/>
              </a:rPr>
              <a:t>//c ROMs, IIc Plus, IIgs</a:t>
            </a:r>
          </a:p>
        </p:txBody>
      </p:sp>
      <p:sp>
        <p:nvSpPr>
          <p:cNvPr id="31" name="TextBox 30"/>
          <p:cNvSpPr txBox="1"/>
          <p:nvPr/>
        </p:nvSpPr>
        <p:spPr>
          <a:xfrm>
            <a:off x="4069079" y="4800599"/>
            <a:ext cx="5429707" cy="448056"/>
          </a:xfrm>
          <a:prstGeom prst="rect">
            <a:avLst/>
          </a:prstGeom>
          <a:noFill/>
        </p:spPr>
        <p:txBody>
          <a:bodyPr wrap="square" lIns="0" rIns="0" tIns="0" bIns="0" anchor="ctr">
            <a:spAutoFit/>
          </a:bodyPr>
          <a:lstStyle/>
          <a:p>
            <a:pPr algn="l">
              <a:spcAft>
                <a:spcPts val="0"/>
              </a:spcAft>
            </a:pPr>
            <a:r>
              <a:rPr sz="1600" b="0">
                <a:solidFill>
                  <a:srgbClr val="E9E7E3"/>
                </a:solidFill>
                <a:latin typeface="Arial"/>
              </a:rPr>
              <a:t>Applesoft bytes not checked</a:t>
            </a:r>
          </a:p>
        </p:txBody>
      </p:sp>
      <p:sp>
        <p:nvSpPr>
          <p:cNvPr id="32" name="TextBox 31"/>
          <p:cNvSpPr txBox="1"/>
          <p:nvPr/>
        </p:nvSpPr>
        <p:spPr>
          <a:xfrm>
            <a:off x="9727387" y="4800599"/>
            <a:ext cx="1730044" cy="448056"/>
          </a:xfrm>
          <a:prstGeom prst="rect">
            <a:avLst/>
          </a:prstGeom>
          <a:noFill/>
        </p:spPr>
        <p:txBody>
          <a:bodyPr wrap="square" lIns="0" rIns="0" tIns="0" bIns="0" anchor="ctr">
            <a:spAutoFit/>
          </a:bodyPr>
          <a:lstStyle/>
          <a:p>
            <a:pPr algn="l">
              <a:spcAft>
                <a:spcPts val="0"/>
              </a:spcAft>
            </a:pPr>
            <a:r>
              <a:rPr sz="1600" b="0">
                <a:solidFill>
                  <a:srgbClr val="E9E7E3"/>
                </a:solidFill>
                <a:latin typeface="Arial"/>
              </a:rPr>
              <a:t>untested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7181A"/>
        </a:solidFill>
        <a:effectLst/>
      </p:bgPr>
    </p:bg>
    <p:spTree>
      <p:nvGrpSpPr>
        <p:cNvPr id="1" name=""/>
        <p:cNvGrpSpPr/>
        <p:nvPr/>
      </p:nvGrpSpPr>
      <p:grpSpPr/>
      <p:sp>
        <p:nvSpPr>
          <p:cNvPr id="2" name="Rectangle 1"/>
          <p:cNvSpPr/>
          <p:nvPr/>
        </p:nvSpPr>
        <p:spPr>
          <a:xfrm>
            <a:off x="10927080" y="384048"/>
            <a:ext cx="566928" cy="566928"/>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27080" y="384048"/>
            <a:ext cx="566928" cy="566928"/>
          </a:xfrm>
          <a:prstGeom prst="rect">
            <a:avLst/>
          </a:prstGeom>
          <a:noFill/>
        </p:spPr>
        <p:txBody>
          <a:bodyPr wrap="square" lIns="0" rIns="0" tIns="0" bIns="0" anchor="ctr">
            <a:spAutoFit/>
          </a:bodyPr>
          <a:lstStyle/>
          <a:p>
            <a:pPr algn="ctr">
              <a:spcAft>
                <a:spcPts val="0"/>
              </a:spcAft>
            </a:pPr>
            <a:r>
              <a:rPr sz="1500" b="1">
                <a:solidFill>
                  <a:srgbClr val="5FCB7E"/>
                </a:solidFill>
                <a:latin typeface="Courier New"/>
              </a:rPr>
              <a:t>B5</a:t>
            </a:r>
          </a:p>
        </p:txBody>
      </p:sp>
      <p:sp>
        <p:nvSpPr>
          <p:cNvPr id="4" name="TextBox 3"/>
          <p:cNvSpPr txBox="1"/>
          <p:nvPr/>
        </p:nvSpPr>
        <p:spPr>
          <a:xfrm>
            <a:off x="640080" y="411480"/>
            <a:ext cx="10058400" cy="685800"/>
          </a:xfrm>
          <a:prstGeom prst="rect">
            <a:avLst/>
          </a:prstGeom>
          <a:noFill/>
        </p:spPr>
        <p:txBody>
          <a:bodyPr wrap="square" lIns="0" rIns="0" tIns="0" bIns="0" anchor="ctr">
            <a:spAutoFit/>
          </a:bodyPr>
          <a:lstStyle/>
          <a:p>
            <a:pPr algn="l">
              <a:spcAft>
                <a:spcPts val="0"/>
              </a:spcAft>
            </a:pPr>
            <a:r>
              <a:rPr sz="3200" b="1">
                <a:solidFill>
                  <a:srgbClr val="E9E7E3"/>
                </a:solidFill>
                <a:latin typeface="Arial"/>
              </a:rPr>
              <a:t>Backup: HFIND and $F5CB</a:t>
            </a:r>
          </a:p>
        </p:txBody>
      </p:sp>
      <p:sp>
        <p:nvSpPr>
          <p:cNvPr id="5" name="TextBox 4"/>
          <p:cNvSpPr txBox="1"/>
          <p:nvPr/>
        </p:nvSpPr>
        <p:spPr>
          <a:xfrm>
            <a:off x="640080" y="6309360"/>
            <a:ext cx="10881360" cy="365760"/>
          </a:xfrm>
          <a:prstGeom prst="rect">
            <a:avLst/>
          </a:prstGeom>
          <a:noFill/>
        </p:spPr>
        <p:txBody>
          <a:bodyPr wrap="square" lIns="0" rIns="0" tIns="0" bIns="0" anchor="t">
            <a:spAutoFit/>
          </a:bodyPr>
          <a:lstStyle/>
          <a:p>
            <a:pPr algn="l">
              <a:spcAft>
                <a:spcPts val="0"/>
              </a:spcAft>
            </a:pPr>
            <a:r>
              <a:rPr sz="1050" b="0">
                <a:solidFill>
                  <a:srgbClr val="9DA39B"/>
                </a:solidFill>
                <a:latin typeface="Arial"/>
              </a:rPr>
              <a:t>S-C DocuMentor; byte search and branch-target search of AppleWin Apple2_Plus.rom</a:t>
            </a:r>
          </a:p>
        </p:txBody>
      </p:sp>
      <p:sp>
        <p:nvSpPr>
          <p:cNvPr id="6" name="TextBox 5"/>
          <p:cNvSpPr txBox="1"/>
          <p:nvPr/>
        </p:nvSpPr>
        <p:spPr>
          <a:xfrm>
            <a:off x="822960" y="1783080"/>
            <a:ext cx="10515600" cy="4297680"/>
          </a:xfrm>
          <a:prstGeom prst="rect">
            <a:avLst/>
          </a:prstGeom>
          <a:noFill/>
        </p:spPr>
        <p:txBody>
          <a:bodyPr wrap="square" lIns="0" rIns="0" tIns="0" bIns="0" anchor="t">
            <a:spAutoFit/>
          </a:bodyPr>
          <a:lstStyle/>
          <a:p>
            <a:pPr algn="l">
              <a:spcAft>
                <a:spcPts val="1400"/>
              </a:spcAft>
            </a:pPr>
            <a:r>
              <a:rPr sz="2000" b="0">
                <a:solidFill>
                  <a:srgbClr val="E9E7E3"/>
                </a:solidFill>
                <a:latin typeface="Arial"/>
              </a:rPr>
              <a:t>▸  HFIND runs $F5CB–$F5FF: 53 bytes. “Not called by any Applesoft routine” (S-C DocuMentor).</a:t>
            </a:r>
          </a:p>
          <a:p>
            <a:pPr algn="l">
              <a:spcAft>
                <a:spcPts val="1400"/>
              </a:spcAft>
            </a:pPr>
            <a:r>
              <a:rPr sz="2000" b="0">
                <a:solidFill>
                  <a:srgbClr val="E9E7E3"/>
                </a:solidFill>
                <a:latin typeface="Arial"/>
              </a:rPr>
              <a:t>▸  No JSR or JMP to $F5CB anywhere in the II Plus ROM (byte search).</a:t>
            </a:r>
          </a:p>
          <a:p>
            <a:pPr algn="l">
              <a:spcAft>
                <a:spcPts val="1400"/>
              </a:spcAft>
            </a:pPr>
            <a:r>
              <a:rPr sz="2000" b="0">
                <a:solidFill>
                  <a:srgbClr val="E9E7E3"/>
                </a:solidFill>
                <a:latin typeface="Arial"/>
              </a:rPr>
              <a:t>▸  $F600 is an RTS that HLIN reaches from BEQ at $F59C. Overwrite it and HPLOT TO breaks.</a:t>
            </a:r>
          </a:p>
          <a:p>
            <a:pPr algn="l">
              <a:spcAft>
                <a:spcPts val="1400"/>
              </a:spcAft>
            </a:pPr>
            <a:r>
              <a:rPr sz="2000" b="0">
                <a:solidFill>
                  <a:srgbClr val="E9E7E3"/>
                </a:solidFill>
                <a:latin typeface="Arial"/>
              </a:rPr>
              <a:t>▸  DRAW starts at $F601.</a:t>
            </a:r>
          </a:p>
          <a:p>
            <a:pPr algn="l">
              <a:spcAft>
                <a:spcPts val="1400"/>
              </a:spcAft>
            </a:pPr>
            <a:r>
              <a:rPr sz="2000" b="0">
                <a:solidFill>
                  <a:srgbClr val="E9E7E3"/>
                </a:solidFill>
                <a:latin typeface="Arial"/>
              </a:rPr>
              <a:t>▸  Residual risk: a program that does CALL 62923 itself.</a:t>
            </a:r>
          </a:p>
          <a:p>
            <a:pPr algn="l">
              <a:spcAft>
                <a:spcPts val="1400"/>
              </a:spcAft>
            </a:pPr>
            <a:r>
              <a:rPr sz="2000" b="0">
                <a:solidFill>
                  <a:srgbClr val="E9E7E3"/>
                </a:solidFill>
                <a:latin typeface="Arial"/>
              </a:rPr>
              <a:t>▸  Regression test after patching: HPLOT … TO, DRAW, XDRAW, SCALE, ROT.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7181A"/>
        </a:solidFill>
        <a:effectLst/>
      </p:bgPr>
    </p:bg>
    <p:spTree>
      <p:nvGrpSpPr>
        <p:cNvPr id="1" name=""/>
        <p:cNvGrpSpPr/>
        <p:nvPr/>
      </p:nvGrpSpPr>
      <p:grpSpPr/>
      <p:sp>
        <p:nvSpPr>
          <p:cNvPr id="2" name="Rectangle 1"/>
          <p:cNvSpPr/>
          <p:nvPr/>
        </p:nvSpPr>
        <p:spPr>
          <a:xfrm>
            <a:off x="10927080" y="384048"/>
            <a:ext cx="566928" cy="566928"/>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27080" y="384048"/>
            <a:ext cx="566928" cy="566928"/>
          </a:xfrm>
          <a:prstGeom prst="rect">
            <a:avLst/>
          </a:prstGeom>
          <a:noFill/>
        </p:spPr>
        <p:txBody>
          <a:bodyPr wrap="square" lIns="0" rIns="0" tIns="0" bIns="0" anchor="ctr">
            <a:spAutoFit/>
          </a:bodyPr>
          <a:lstStyle/>
          <a:p>
            <a:pPr algn="ctr">
              <a:spcAft>
                <a:spcPts val="0"/>
              </a:spcAft>
            </a:pPr>
            <a:r>
              <a:rPr sz="1500" b="1">
                <a:solidFill>
                  <a:srgbClr val="5FCB7E"/>
                </a:solidFill>
                <a:latin typeface="Courier New"/>
              </a:rPr>
              <a:t>B6</a:t>
            </a:r>
          </a:p>
        </p:txBody>
      </p:sp>
      <p:sp>
        <p:nvSpPr>
          <p:cNvPr id="4" name="TextBox 3"/>
          <p:cNvSpPr txBox="1"/>
          <p:nvPr/>
        </p:nvSpPr>
        <p:spPr>
          <a:xfrm>
            <a:off x="640080" y="411480"/>
            <a:ext cx="10058400" cy="685800"/>
          </a:xfrm>
          <a:prstGeom prst="rect">
            <a:avLst/>
          </a:prstGeom>
          <a:noFill/>
        </p:spPr>
        <p:txBody>
          <a:bodyPr wrap="square" lIns="0" rIns="0" tIns="0" bIns="0" anchor="ctr">
            <a:spAutoFit/>
          </a:bodyPr>
          <a:lstStyle/>
          <a:p>
            <a:pPr algn="l">
              <a:spcAft>
                <a:spcPts val="0"/>
              </a:spcAft>
            </a:pPr>
            <a:r>
              <a:rPr sz="2800" b="1">
                <a:solidFill>
                  <a:srgbClr val="E9E7E3"/>
                </a:solidFill>
                <a:latin typeface="Arial"/>
              </a:rPr>
              <a:t>Backup: Commodore, same generator, different integration</a:t>
            </a:r>
          </a:p>
        </p:txBody>
      </p:sp>
      <p:sp>
        <p:nvSpPr>
          <p:cNvPr id="5" name="TextBox 4"/>
          <p:cNvSpPr txBox="1"/>
          <p:nvPr/>
        </p:nvSpPr>
        <p:spPr>
          <a:xfrm>
            <a:off x="640080" y="6309360"/>
            <a:ext cx="10881360" cy="365760"/>
          </a:xfrm>
          <a:prstGeom prst="rect">
            <a:avLst/>
          </a:prstGeom>
          <a:noFill/>
        </p:spPr>
        <p:txBody>
          <a:bodyPr wrap="square" lIns="0" rIns="0" tIns="0" bIns="0" anchor="t">
            <a:spAutoFit/>
          </a:bodyPr>
          <a:lstStyle/>
          <a:p>
            <a:pPr algn="l">
              <a:spcAft>
                <a:spcPts val="0"/>
              </a:spcAft>
            </a:pPr>
            <a:r>
              <a:rPr sz="1050" b="0">
                <a:solidFill>
                  <a:srgbClr val="9DA39B"/>
                </a:solidFill>
                <a:latin typeface="Arial"/>
              </a:rPr>
              <a:t>Microsoft m6502.asm (IFE REALIO-3, TIME==1); Steil, msbasic and c64ref</a:t>
            </a:r>
          </a:p>
        </p:txBody>
      </p:sp>
      <p:sp>
        <p:nvSpPr>
          <p:cNvPr id="6" name="Rectangle 5"/>
          <p:cNvSpPr/>
          <p:nvPr/>
        </p:nvSpPr>
        <p:spPr>
          <a:xfrm>
            <a:off x="640080" y="1783080"/>
            <a:ext cx="5303520" cy="3063240"/>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4754880" cy="2697480"/>
          </a:xfrm>
          <a:prstGeom prst="rect">
            <a:avLst/>
          </a:prstGeom>
          <a:noFill/>
        </p:spPr>
        <p:txBody>
          <a:bodyPr wrap="square" lIns="0" rIns="0" tIns="0" bIns="0" anchor="t">
            <a:spAutoFit/>
          </a:bodyPr>
          <a:lstStyle/>
          <a:p>
            <a:pPr algn="l">
              <a:spcAft>
                <a:spcPts val="1200"/>
              </a:spcAft>
            </a:pPr>
            <a:r>
              <a:rPr sz="1900" b="1">
                <a:solidFill>
                  <a:srgbClr val="5FCB7E"/>
                </a:solidFill>
                <a:latin typeface="Arial"/>
              </a:rPr>
              <a:t>Same</a:t>
            </a:r>
          </a:p>
          <a:p>
            <a:pPr algn="l">
              <a:spcAft>
                <a:spcPts val="800"/>
              </a:spcAft>
            </a:pPr>
            <a:r>
              <a:rPr sz="1700" b="0">
                <a:solidFill>
                  <a:srgbClr val="E9E7E3"/>
                </a:solidFill>
                <a:latin typeface="Arial"/>
              </a:rPr>
              <a:t>Microsoft’s generator and constants</a:t>
            </a:r>
          </a:p>
          <a:p>
            <a:pPr algn="l">
              <a:spcAft>
                <a:spcPts val="800"/>
              </a:spcAft>
            </a:pPr>
            <a:r>
              <a:rPr sz="1700" b="0">
                <a:solidFill>
                  <a:srgbClr val="E9E7E3"/>
                </a:solidFill>
                <a:latin typeface="Arial"/>
              </a:rPr>
              <a:t>Seed-copy bug in every Microsoft 6502 BASIC</a:t>
            </a:r>
          </a:p>
        </p:txBody>
      </p:sp>
      <p:sp>
        <p:nvSpPr>
          <p:cNvPr id="8" name="Rectangle 7"/>
          <p:cNvSpPr/>
          <p:nvPr/>
        </p:nvSpPr>
        <p:spPr>
          <a:xfrm>
            <a:off x="6217920" y="1783080"/>
            <a:ext cx="5303520" cy="3063240"/>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2011680"/>
            <a:ext cx="4754880" cy="2697480"/>
          </a:xfrm>
          <a:prstGeom prst="rect">
            <a:avLst/>
          </a:prstGeom>
          <a:noFill/>
        </p:spPr>
        <p:txBody>
          <a:bodyPr wrap="square" lIns="0" rIns="0" tIns="0" bIns="0" anchor="t">
            <a:spAutoFit/>
          </a:bodyPr>
          <a:lstStyle/>
          <a:p>
            <a:pPr algn="l">
              <a:spcAft>
                <a:spcPts val="1200"/>
              </a:spcAft>
            </a:pPr>
            <a:r>
              <a:rPr sz="1900" b="1">
                <a:solidFill>
                  <a:srgbClr val="5FCB7E"/>
                </a:solidFill>
                <a:latin typeface="Arial"/>
              </a:rPr>
              <a:t>Different</a:t>
            </a:r>
          </a:p>
          <a:p>
            <a:pPr algn="l">
              <a:spcAft>
                <a:spcPts val="800"/>
              </a:spcAft>
            </a:pPr>
            <a:r>
              <a:rPr sz="1700" b="0">
                <a:solidFill>
                  <a:srgbClr val="E9E7E3"/>
                </a:solidFill>
                <a:latin typeface="Arial"/>
              </a:rPr>
              <a:t>Microsoft’s Commodore build: RND(0) reads hardware timers (PET, 1977)</a:t>
            </a:r>
          </a:p>
          <a:p>
            <a:pPr algn="l">
              <a:spcAft>
                <a:spcPts val="800"/>
              </a:spcAft>
            </a:pPr>
            <a:r>
              <a:rPr sz="1700" b="0">
                <a:solidFill>
                  <a:srgbClr val="E9E7E3"/>
                </a:solidFill>
                <a:latin typeface="Arial"/>
              </a:rPr>
              <a:t>A TI clock variable</a:t>
            </a:r>
          </a:p>
          <a:p>
            <a:pPr algn="l">
              <a:spcAft>
                <a:spcPts val="800"/>
              </a:spcAft>
            </a:pPr>
            <a:r>
              <a:rPr sz="1700" b="0">
                <a:solidFill>
                  <a:srgbClr val="E9E7E3"/>
                </a:solidFill>
                <a:latin typeface="Arial"/>
              </a:rPr>
              <a:t>Idiom: `RND(−TI)`</a:t>
            </a:r>
          </a:p>
        </p:txBody>
      </p:sp>
      <p:sp>
        <p:nvSpPr>
          <p:cNvPr id="10" name="Rectangle 9"/>
          <p:cNvSpPr/>
          <p:nvPr/>
        </p:nvSpPr>
        <p:spPr>
          <a:xfrm>
            <a:off x="640080" y="5029200"/>
            <a:ext cx="10881360" cy="960120"/>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5029200"/>
            <a:ext cx="64008" cy="960120"/>
          </a:xfrm>
          <a:prstGeom prst="rect">
            <a:avLst/>
          </a:prstGeom>
          <a:solidFill>
            <a:srgbClr val="E0A7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19" y="5029200"/>
            <a:ext cx="10332720" cy="960120"/>
          </a:xfrm>
          <a:prstGeom prst="rect">
            <a:avLst/>
          </a:prstGeom>
          <a:noFill/>
        </p:spPr>
        <p:txBody>
          <a:bodyPr wrap="square" lIns="0" rIns="0" tIns="0" bIns="0" anchor="ctr">
            <a:spAutoFit/>
          </a:bodyPr>
          <a:lstStyle/>
          <a:p>
            <a:pPr algn="l">
              <a:spcAft>
                <a:spcPts val="400"/>
              </a:spcAft>
            </a:pPr>
            <a:r>
              <a:rPr sz="1900" b="0">
                <a:solidFill>
                  <a:srgbClr val="E9E7E3"/>
                </a:solidFill>
                <a:latin typeface="Arial"/>
              </a:rPr>
              <a:t>Commodore got the platform integration from Microsoft. Apple did its own, and skipped RND.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7181A"/>
        </a:solidFill>
        <a:effectLst/>
      </p:bgPr>
    </p:bg>
    <p:spTree>
      <p:nvGrpSpPr>
        <p:cNvPr id="1" name=""/>
        <p:cNvGrpSpPr/>
        <p:nvPr/>
      </p:nvGrpSpPr>
      <p:grpSpPr/>
      <p:sp>
        <p:nvSpPr>
          <p:cNvPr id="2" name="Rectangle 1"/>
          <p:cNvSpPr/>
          <p:nvPr/>
        </p:nvSpPr>
        <p:spPr>
          <a:xfrm>
            <a:off x="10927080" y="384048"/>
            <a:ext cx="566928" cy="566928"/>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27080" y="384048"/>
            <a:ext cx="566928" cy="566928"/>
          </a:xfrm>
          <a:prstGeom prst="rect">
            <a:avLst/>
          </a:prstGeom>
          <a:noFill/>
        </p:spPr>
        <p:txBody>
          <a:bodyPr wrap="square" lIns="0" rIns="0" tIns="0" bIns="0" anchor="ctr">
            <a:spAutoFit/>
          </a:bodyPr>
          <a:lstStyle/>
          <a:p>
            <a:pPr algn="ctr">
              <a:spcAft>
                <a:spcPts val="0"/>
              </a:spcAft>
            </a:pPr>
            <a:r>
              <a:rPr sz="1500" b="1">
                <a:solidFill>
                  <a:srgbClr val="5FCB7E"/>
                </a:solidFill>
                <a:latin typeface="Courier New"/>
              </a:rPr>
              <a:t>B7</a:t>
            </a:r>
          </a:p>
        </p:txBody>
      </p:sp>
      <p:sp>
        <p:nvSpPr>
          <p:cNvPr id="4" name="TextBox 3"/>
          <p:cNvSpPr txBox="1"/>
          <p:nvPr/>
        </p:nvSpPr>
        <p:spPr>
          <a:xfrm>
            <a:off x="640080" y="411480"/>
            <a:ext cx="10058400" cy="685800"/>
          </a:xfrm>
          <a:prstGeom prst="rect">
            <a:avLst/>
          </a:prstGeom>
          <a:noFill/>
        </p:spPr>
        <p:txBody>
          <a:bodyPr wrap="square" lIns="0" rIns="0" tIns="0" bIns="0" anchor="ctr">
            <a:spAutoFit/>
          </a:bodyPr>
          <a:lstStyle/>
          <a:p>
            <a:pPr algn="l">
              <a:spcAft>
                <a:spcPts val="0"/>
              </a:spcAft>
            </a:pPr>
            <a:r>
              <a:rPr sz="3200" b="1">
                <a:solidFill>
                  <a:srgbClr val="E9E7E3"/>
                </a:solidFill>
                <a:latin typeface="Arial"/>
              </a:rPr>
              <a:t>Backup: sources</a:t>
            </a:r>
          </a:p>
        </p:txBody>
      </p:sp>
      <p:sp>
        <p:nvSpPr>
          <p:cNvPr id="5" name="TextBox 4"/>
          <p:cNvSpPr txBox="1"/>
          <p:nvPr/>
        </p:nvSpPr>
        <p:spPr>
          <a:xfrm>
            <a:off x="822960" y="1783080"/>
            <a:ext cx="10515600" cy="4297680"/>
          </a:xfrm>
          <a:prstGeom prst="rect">
            <a:avLst/>
          </a:prstGeom>
          <a:noFill/>
        </p:spPr>
        <p:txBody>
          <a:bodyPr wrap="square" lIns="0" rIns="0" tIns="0" bIns="0" anchor="t">
            <a:spAutoFit/>
          </a:bodyPr>
          <a:lstStyle/>
          <a:p>
            <a:pPr algn="l">
              <a:spcAft>
                <a:spcPts val="700"/>
              </a:spcAft>
            </a:pPr>
            <a:r>
              <a:rPr sz="1500" b="0">
                <a:solidFill>
                  <a:srgbClr val="E9E7E3"/>
                </a:solidFill>
                <a:latin typeface="Arial"/>
              </a:rPr>
              <a:t>▸  Microsoft, BASIC M6502 8K v1.1 source, github.com/microsoft/BASIC-M6502 (2025)</a:t>
            </a:r>
          </a:p>
          <a:p>
            <a:pPr algn="l">
              <a:spcAft>
                <a:spcPts val="700"/>
              </a:spcAft>
            </a:pPr>
            <a:r>
              <a:rPr sz="1500" b="0">
                <a:solidFill>
                  <a:srgbClr val="E9E7E3"/>
                </a:solidFill>
                <a:latin typeface="Arial"/>
              </a:rPr>
              <a:t>▸  Sander-Cederlof, S-C DocuMentor: Applesoft; McFadden, 6502disassembly.com</a:t>
            </a:r>
          </a:p>
          <a:p>
            <a:pPr algn="l">
              <a:spcAft>
                <a:spcPts val="700"/>
              </a:spcAft>
            </a:pPr>
            <a:r>
              <a:rPr sz="1500" b="0">
                <a:solidFill>
                  <a:srgbClr val="E9E7E3"/>
                </a:solidFill>
                <a:latin typeface="Arial"/>
              </a:rPr>
              <a:t>▸  Kaner &amp; Vokey, “A Better Random Number Generator for Apple’s Floating Point BASIC,” MICRO, June 1984</a:t>
            </a:r>
          </a:p>
          <a:p>
            <a:pPr algn="l">
              <a:spcAft>
                <a:spcPts val="700"/>
              </a:spcAft>
            </a:pPr>
            <a:r>
              <a:rPr sz="1500" b="0">
                <a:solidFill>
                  <a:srgbClr val="E9E7E3"/>
                </a:solidFill>
                <a:latin typeface="Arial"/>
              </a:rPr>
              <a:t>▸  Call-A.P.P.L.E., “RND is Fatally Flawed,” Jan 1983, pp. 29–34</a:t>
            </a:r>
          </a:p>
          <a:p>
            <a:pPr algn="l">
              <a:spcAft>
                <a:spcPts val="700"/>
              </a:spcAft>
            </a:pPr>
            <a:r>
              <a:rPr sz="1500" b="0">
                <a:solidFill>
                  <a:srgbClr val="E9E7E3"/>
                </a:solidFill>
                <a:latin typeface="Arial"/>
              </a:rPr>
              <a:t>▸  Sander-Cederlof, “Random Numbers for Applesoft,” Apple Assembly Line, May 1984</a:t>
            </a:r>
          </a:p>
          <a:p>
            <a:pPr algn="l">
              <a:spcAft>
                <a:spcPts val="700"/>
              </a:spcAft>
            </a:pPr>
            <a:r>
              <a:rPr sz="1500" b="0">
                <a:solidFill>
                  <a:srgbClr val="E9E7E3"/>
                </a:solidFill>
                <a:latin typeface="Arial"/>
              </a:rPr>
              <a:t>▸  Aldridge, “Cautions regarding random number generation on the Apple II,” BRMIC 19(4), 1987</a:t>
            </a:r>
          </a:p>
          <a:p>
            <a:pPr algn="l">
              <a:spcAft>
                <a:spcPts val="700"/>
              </a:spcAft>
            </a:pPr>
            <a:r>
              <a:rPr sz="1500" b="0">
                <a:solidFill>
                  <a:srgbClr val="E9E7E3"/>
                </a:solidFill>
                <a:latin typeface="Arial"/>
              </a:rPr>
              <a:t>▸  Gleason, Collegiate Microcomputer 6(2), 1988 (abstract read)</a:t>
            </a:r>
          </a:p>
          <a:p>
            <a:pPr algn="l">
              <a:spcAft>
                <a:spcPts val="700"/>
              </a:spcAft>
            </a:pPr>
            <a:r>
              <a:rPr sz="1500" b="0">
                <a:solidFill>
                  <a:srgbClr val="E9E7E3"/>
                </a:solidFill>
                <a:latin typeface="Arial"/>
              </a:rPr>
              <a:t>▸  Empson, GS WorldView, Nov 1999 (on Moore, 1989)</a:t>
            </a:r>
          </a:p>
          <a:p>
            <a:pPr algn="l">
              <a:spcAft>
                <a:spcPts val="700"/>
              </a:spcAft>
            </a:pPr>
            <a:r>
              <a:rPr sz="1500" b="0">
                <a:solidFill>
                  <a:srgbClr val="E9E7E3"/>
                </a:solidFill>
                <a:latin typeface="Arial"/>
              </a:rPr>
              <a:t>▸  Apple II Reference Manual (1978); Applesoft II BASIC Programming Reference Manual (1978)</a:t>
            </a:r>
          </a:p>
          <a:p>
            <a:pPr algn="l">
              <a:spcAft>
                <a:spcPts val="700"/>
              </a:spcAft>
            </a:pPr>
            <a:r>
              <a:rPr sz="1500" b="0">
                <a:solidFill>
                  <a:srgbClr val="E9E7E3"/>
                </a:solidFill>
                <a:latin typeface="Arial"/>
              </a:rPr>
              <a:t>▸  Steil, pagetable.com and msbasic; Weyhrich, Apple II History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Applesoft's Loaded Dice (expanded edition)</dc:title>
  <dc:subject>The Truth About Randomness on the Apple II, Then and Now</dc:subject>
  <dc:creator>Draft for Jeff Robison</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