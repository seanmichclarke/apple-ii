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8" r:id="rId3"/>
    <p:sldId id="257" r:id="rId4"/>
    <p:sldId id="258" r:id="rId5"/>
    <p:sldId id="259" r:id="rId6"/>
    <p:sldId id="260" r:id="rId7"/>
    <p:sldId id="269" r:id="rId8"/>
    <p:sldId id="262" r:id="rId9"/>
    <p:sldId id="264"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FCC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72"/>
    <p:restoredTop sz="94659"/>
  </p:normalViewPr>
  <p:slideViewPr>
    <p:cSldViewPr snapToGrid="0" snapToObjects="1">
      <p:cViewPr varScale="1">
        <p:scale>
          <a:sx n="151" d="100"/>
          <a:sy n="151" d="100"/>
        </p:scale>
        <p:origin x="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049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Name and title. Fifteen seconds. No bio slide.</a:t>
            </a:r>
          </a:p>
          <a:p/>
          <a:p>
            <a:r>
              <a:t>Before this slide: POWER-CYCLE the machine (power switch off, wait, on), then PRINT RND(1). Do it three times. Not Ctrl-Reset and not PR#6: a warm restart leaves the last seed byte in RAM and prints a different number (Aldridge 1987; Sander-Cederlof, AAL May 1984). Rehearse on the exact machine you bring.</a:t>
            </a:r>
          </a:p>
          <a:p/>
          <a:p>
            <a:r>
              <a:t>Applesoft is Microsoft's 6502 BASIC, licensed by Apple. Keep that in mind; it matters on slide 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79F98-C012-E888-0FA0-197278B6AA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0ED7CD-8601-33AC-0A84-77F857D8F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620D95-284C-D416-1373-8A5C81B78698}"/>
              </a:ext>
            </a:extLst>
          </p:cNvPr>
          <p:cNvSpPr>
            <a:spLocks noGrp="1"/>
          </p:cNvSpPr>
          <p:nvPr>
            <p:ph type="body" idx="1"/>
          </p:nvPr>
        </p:nvSpPr>
        <p:spPr/>
        <p:txBody>
          <a:bodyPr/>
          <a:lstStyle/>
          <a:p>
            <a:r>
              <a:t>This is the number they just watched three times. Don't explain it yet: "Hold onto that number."</a:t>
            </a:r>
          </a:p>
          <a:p/>
          <a:p>
            <a:r>
              <a:t>Only a power-on repeats. Rerun the program, or reboot DOS, and the numbers look random. That's how this hid for years.</a:t>
            </a:r>
          </a:p>
          <a:p/>
          <a:p>
            <a:r>
              <a:t>If someone says their machine prints a different number: the ROM copies only four of the five seed bytes. The fifth ($CD) is whatever RAM held. $FF or $FE gives .973136996; $00 gives .270011996. Each machine still repeats its own number every power-on. Sources: Sander-Cederlof, AAL May 1984; confirmed by running the ROM code.</a:t>
            </a:r>
          </a:p>
        </p:txBody>
      </p:sp>
      <p:sp>
        <p:nvSpPr>
          <p:cNvPr id="4" name="Slide Number Placeholder 3">
            <a:extLst>
              <a:ext uri="{FF2B5EF4-FFF2-40B4-BE49-F238E27FC236}">
                <a16:creationId xmlns:a16="http://schemas.microsoft.com/office/drawing/2014/main" id="{377AA7C3-2AAC-91DD-74CA-DAC4C814774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225109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Thirty seconds. This room knows what a PRNG is.</a:t>
            </a:r>
          </a:p>
          <a:p/>
          <a:p>
            <a:r>
              <a:t>The bottom box is the part that has to land: the seed decides where the sequence starts, and the formula decides what it looks like. This talk is about the seed. The Integer BASIC slide depends on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out loud that $4E/$4F is not a jiffy clock. That's a Commodore term. The Apple II has no timer doing this.</a:t>
            </a:r>
          </a:p>
          <a:p/>
          <a:p>
            <a:r>
              <a:t>This isn't a toy: a 15-bit maximal shift register, period 32,767, in 50 hand-assembled bytes. Add the 6 bytes in KEYIN and the whole RNG is 56 bytes.</a:t>
            </a:r>
          </a:p>
          <a:p/>
          <a:p>
            <a:r>
              <a:t>The counter at $4E/$4F isn't just read as a seed. It IS the generator's state: RND scrambles it and writes it back, so every key wait stirs it.</a:t>
            </a:r>
          </a:p>
          <a:p/>
          <a:p>
            <a:r>
              <a:t>Don't make the regression argument yet. Just show what worked.</a:t>
            </a:r>
          </a:p>
          <a:p/>
          <a:p>
            <a:r>
              <a:t>If asked "was it actually good?": for games, yes. Not for statistics. RND(X) is the state MOD X, and every program shares the same 32,767-step cycle.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left side first. Point at the bne going back to KEYIN. That's the whole entropy source.</a:t>
            </a:r>
          </a:p>
          <a:p/>
          <a:p>
            <a:r>
              <a:t>The counter gets bumped before the keyboard is read, every pass. It's a loop count, not a keystroke count. The loop is 15 CPU cycles, so about 68,000 counts a second, and the 16-bit counter wraps roughly once a second.</a:t>
            </a:r>
          </a:p>
          <a:p/>
          <a:p>
            <a:r>
              <a:t>Then the right side: Integer BASIC's RND reads $4E/$4F and writes it back.</a:t>
            </a:r>
          </a:p>
          <a:p/>
          <a:p>
            <a:r>
              <a:t>Say the other three listings in one line ("same counter in the Autostart ROM, the IIe and the IIc"). Don't walk each one.</a:t>
            </a:r>
          </a:p>
          <a:p/>
          <a:p>
            <a:r>
              <a:t>If asked: it only moves while a KEYIN-style routine waits for a key. A game that polls $C000 directly never moves it.</a:t>
            </a:r>
          </a:p>
          <a:p/>
          <a:p>
            <a:r>
              <a:t>Sources: 6502disassembly.com/a2-rom/OrigF8ROM.html and IntegerBASIC.html. The monitor listing credits S. Wozniak and A. Baum. Woz wrote Integer BASIC with no assembler, so there is no original source, only hand-written pages in a binder. The Integer BASIC disassembly is Paul Santa-Maria's work, converted by Andy McFadden.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whole thing. Twenty-eight instructions. Microsoft wrote it; Apple shipped it unchanged in every Applesoft ROM through the enhanced IIe.</a:t>
            </a:r>
          </a:p>
          <a:p/>
          <a:p>
            <a:r>
              <a:t>Point at the top: the seed comes from $C9, which got four of its five bytes from ROM at power-on. Point at the bottom: the answer goes back to $C9. Nothing else feeds it.</a:t>
            </a:r>
          </a:p>
          <a:p/>
          <a:p>
            <a:r>
              <a:t>The comments on the listing ("very poor RND algorithm", "this does nothing") are Bob Sander-Cederlof's annotations, not Microsoft's. Say so before someone else does.</a:t>
            </a:r>
          </a:p>
          <a:p/>
          <a:p>
            <a:r>
              <a:t>If asked about the add: the addend is so small it's lost to precision. Running the ROM code, it changed the stored seed in 5 of 57,021 steps. "Effectively nothing", not "nothing".</a:t>
            </a:r>
          </a:p>
          <a:p/>
          <a:p>
            <a:r>
              <a:t>This listing is from the II Plus ROM (1979). The 1978 Applesoft releases loaded into RAM at other addresses.</a:t>
            </a:r>
          </a:p>
          <a:p/>
          <a:p>
            <a:r>
              <a:t>Source: McFadden's SourceGen conversion of S-C DocuMentor, 6502disassembly.com/a2-rom/Applesoft.html. Microsoft's own source (github.com/microsoft/BASIC-M6502) has the same routine.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4C7C1-4FB0-4895-7D2A-C9D953E17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F11C9-1794-700A-93A3-08768418D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6496A-8BC9-7FEF-D071-CDC4B5DF17CC}"/>
              </a:ext>
            </a:extLst>
          </p:cNvPr>
          <p:cNvSpPr>
            <a:spLocks noGrp="1"/>
          </p:cNvSpPr>
          <p:nvPr>
            <p:ph type="body" idx="1"/>
          </p:nvPr>
        </p:nvSpPr>
        <p:spPr/>
        <p:txBody>
          <a:bodyPr/>
          <a:lstStyle/>
          <a:p>
            <a:r>
              <a:t>Read the RND(n) line aloud: "generates a new random number each time it is used." True. It never says the sequence starts in the same place every power-on.</a:t>
            </a:r>
          </a:p>
          <a:p/>
          <a:p>
            <a:r>
              <a:t>RND(-n): Apple documents repeatability as a feature, for debugging.</a:t>
            </a:r>
          </a:p>
          <a:p/>
          <a:p>
            <a:r>
              <a:t>The manual tells you how to get the same sequence on purpose. It never tells you you're getting it by accident.</a:t>
            </a:r>
          </a:p>
          <a:p/>
          <a:p>
            <a:r>
              <a:t>Hold this for the fix slide: when Aldridge's lab called Apple, Apple's advice was X = RND(-1*(PEEK(78)+256*PEEK(79))).</a:t>
            </a:r>
          </a:p>
          <a:p/>
          <a:p>
            <a:r>
              <a:t>[Jeff: confirm which printing these scans come from before putting an edition or part number on screen.]</a:t>
            </a:r>
          </a:p>
        </p:txBody>
      </p:sp>
      <p:sp>
        <p:nvSpPr>
          <p:cNvPr id="4" name="Slide Number Placeholder 3">
            <a:extLst>
              <a:ext uri="{FF2B5EF4-FFF2-40B4-BE49-F238E27FC236}">
                <a16:creationId xmlns:a16="http://schemas.microsoft.com/office/drawing/2014/main" id="{196DE66F-49D1-0447-4F0F-6BA538D122D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70190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decades of people finding the same thing and working around it one program at a time.</a:t>
            </a:r>
          </a:p>
          <a:p/>
          <a:p>
            <a:r>
              <a:t>Lead with Aldridge: a memory experiment gave each day's first subject the same "random" word list, because that subject was tested right after the computer was turned on. That's the damage.</a:t>
            </a:r>
          </a:p>
          <a:p/>
          <a:p>
            <a:r>
              <a:t>202 was measured on real Applesoft by two psychologists who needed randomized experiments. Sander-Cederlof saw repetition at the 37,758th number two years later. Same generator, different uncopied byte: both loops reproduce when you run the ROM code with different values in $CD.</a:t>
            </a:r>
          </a:p>
          <a:p/>
          <a:p>
            <a:r>
              <a:t>Kaner sent you the paper directly. Say that out loud; it doesn't need screen space.</a:t>
            </a:r>
          </a:p>
          <a:p/>
          <a:p>
            <a:r>
              <a:t>The Call-A.P.P.L.E. author is sometimes given as D. Sparks. That name isn't verified, so don't say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Somebody will say just seed it first. Say it yourself before they do, and agree with it for new code. Apple told Aldridge's lab exactly that in 1987.</a:t>
            </a:r>
          </a:p>
          <a:p/>
          <a:p>
            <a:r>
              <a:t>Then: you can't edit software you didn't write, the failure is silent so only people who already know can fix it, and this machine used to do it automatically.</a:t>
            </a:r>
          </a:p>
          <a:p/>
          <a:p>
            <a:r>
              <a:t>HFIND: the S-C DocuMentor listing marks it "not called by any Applesoft routine", and there is no JSR or JMP to $F5CB anywhere in the II Plus ROM. HFIND runs $F5CB-$F5FF, 53 bytes. $F600 is an RTS that HLIN branches to (BEQ at $F59C), so the patch must be 53 bytes or less or HPLOT TO breaks. Know your patch's byte count. The only thing left that can break is a program that does CALL 62923 itself.</a:t>
            </a:r>
          </a:p>
          <a:p/>
          <a:p>
            <a:r>
              <a:t>Expect: "What does RND(1) do twice in a tight loop with no keypress?" and "Does it work under ProDOS?" Have the answers ready.</a:t>
            </a:r>
          </a:p>
          <a:p/>
          <a:p>
            <a:r>
              <a:t>Limits to state plainly if asked: it fixes the seed, not the generator; it needs a language card; it only gets keyboard timing if something waited for a key before the first RND.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Takeaways first, then the link and QR. Leave this up during questions.</a:t>
            </a:r>
          </a:p>
          <a:p/>
          <a:p>
            <a:r>
              <a:t>Questions to expect:</a:t>
            </a:r>
          </a:p>
          <a:p>
            <a:r>
              <a:t>- Does the C64 have this too? Same Microsoft generator, same constants. But Microsoft's own source already made RND(0) read the PET's hardware timers and added TI, in the first PET ROM in 1977; Commodore carried that forward to the C64. On a Commodore the idiom is RND(-TI); on the Apple it's RND(-PEEK(78)-256*PEEK(79)).</a:t>
            </a:r>
          </a:p>
          <a:p>
            <a:r>
              <a:t>- Why not replace the generator? Speed, no space, and RND(-n) has to keep repeating.</a:t>
            </a:r>
          </a:p>
          <a:p>
            <a:r>
              <a:t>- What's at $F5CB? HFIND. Applesoft never calls it. 53 bytes. Answer it straight.</a:t>
            </a:r>
          </a:p>
          <a:p>
            <a:r>
              <a:t>- My machine printed a different number. One seed byte is never set, so your machine repeats its own number.</a:t>
            </a:r>
          </a:p>
          <a:p>
            <a:r>
              <a:t>- Does the patch fix the 202 loop? No. It fixes the seed.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81A"/>
        </a:solidFill>
        <a:effectLst/>
      </p:bgPr>
    </p:bg>
    <p:spTree>
      <p:nvGrpSpPr>
        <p:cNvPr id="1" name=""/>
        <p:cNvGrpSpPr/>
        <p:nvPr/>
      </p:nvGrpSpPr>
      <p:grpSpPr>
        <a:xfrm>
          <a:off x="0" y="0"/>
          <a:ext cx="0" cy="0"/>
          <a:chOff x="0" y="0"/>
          <a:chExt cx="0" cy="0"/>
        </a:xfrm>
      </p:grpSpPr>
      <p:sp>
        <p:nvSpPr>
          <p:cNvPr id="2" name="Text 0"/>
          <p:cNvSpPr txBox="1"/>
          <p:nvPr/>
        </p:nvSpPr>
        <p:spPr>
          <a:xfrm>
            <a:off x="822960" y="2194560"/>
            <a:ext cx="10515600" cy="914400"/>
          </a:xfrm>
          <a:prstGeom prst="rect">
            <a:avLst/>
          </a:prstGeom>
          <a:noFill/>
          <a:ln/>
        </p:spPr>
        <p:txBody>
          <a:bodyPr wrap="square" lIns="0" tIns="0" rIns="0" bIns="0" rtlCol="0" anchor="ctr"/>
          <a:lstStyle/>
          <a:p>
            <a:pPr marL="0" indent="0">
              <a:buNone/>
            </a:pPr>
            <a:r>
              <a:rPr lang="en-US" sz="5200" b="1" dirty="0">
                <a:solidFill>
                  <a:srgbClr val="E9E7E3"/>
                </a:solidFill>
                <a:latin typeface="Arial" pitchFamily="34" charset="0"/>
                <a:ea typeface="Arial" pitchFamily="34" charset="-122"/>
                <a:cs typeface="Arial" pitchFamily="34" charset="-120"/>
              </a:rPr>
              <a:t>Applesoft's Loaded Dice</a:t>
            </a:r>
            <a:endParaRPr lang="en-US" sz="5200" dirty="0"/>
          </a:p>
        </p:txBody>
      </p:sp>
      <p:sp>
        <p:nvSpPr>
          <p:cNvPr id="3" name="Text 1"/>
          <p:cNvSpPr txBox="1"/>
          <p:nvPr/>
        </p:nvSpPr>
        <p:spPr>
          <a:xfrm>
            <a:off x="822960" y="3108960"/>
            <a:ext cx="10515600" cy="457200"/>
          </a:xfrm>
          <a:prstGeom prst="rect">
            <a:avLst/>
          </a:prstGeom>
          <a:noFill/>
          <a:ln/>
        </p:spPr>
        <p:txBody>
          <a:bodyPr wrap="square" lIns="0" tIns="0" rIns="0" bIns="0" rtlCol="0" anchor="ctr"/>
          <a:lstStyle/>
          <a:p>
            <a:pPr marL="0" indent="0">
              <a:buNone/>
            </a:pPr>
            <a:r>
              <a:rPr lang="en-US" sz="2200" dirty="0">
                <a:solidFill>
                  <a:srgbClr val="5FCB7E"/>
                </a:solidFill>
                <a:latin typeface="Arial" pitchFamily="34" charset="0"/>
                <a:ea typeface="Arial" pitchFamily="34" charset="-122"/>
                <a:cs typeface="Arial" pitchFamily="34" charset="-120"/>
              </a:rPr>
              <a:t>The Truth About Randomness on the Apple II, Then and Now</a:t>
            </a:r>
            <a:endParaRPr lang="en-US" sz="2200" dirty="0"/>
          </a:p>
        </p:txBody>
      </p:sp>
      <p:sp>
        <p:nvSpPr>
          <p:cNvPr id="4" name="Shape 2"/>
          <p:cNvSpPr/>
          <p:nvPr/>
        </p:nvSpPr>
        <p:spPr>
          <a:xfrm>
            <a:off x="841248" y="3840480"/>
            <a:ext cx="1463040" cy="27432"/>
          </a:xfrm>
          <a:prstGeom prst="rect">
            <a:avLst/>
          </a:prstGeom>
          <a:solidFill>
            <a:srgbClr val="3A3E42"/>
          </a:solidFill>
          <a:ln/>
        </p:spPr>
        <p:txBody>
          <a:bodyPr/>
          <a:lstStyle/>
          <a:p>
            <a:endParaRPr lang="en-US"/>
          </a:p>
        </p:txBody>
      </p:sp>
      <p:sp>
        <p:nvSpPr>
          <p:cNvPr id="5" name="Text 3"/>
          <p:cNvSpPr txBox="1"/>
          <p:nvPr/>
        </p:nvSpPr>
        <p:spPr>
          <a:xfrm>
            <a:off x="822960" y="4114800"/>
            <a:ext cx="10515600" cy="365760"/>
          </a:xfrm>
          <a:prstGeom prst="rect">
            <a:avLst/>
          </a:prstGeom>
          <a:noFill/>
          <a:ln/>
        </p:spPr>
        <p:txBody>
          <a:bodyPr wrap="square" lIns="0" tIns="0" rIns="0" bIns="0" rtlCol="0" anchor="ctr"/>
          <a:lstStyle/>
          <a:p>
            <a:pPr marL="0" indent="0">
              <a:buNone/>
            </a:pPr>
            <a:r>
              <a:rPr lang="en-US" sz="1600" dirty="0">
                <a:solidFill>
                  <a:srgbClr val="9DA39B"/>
                </a:solidFill>
                <a:latin typeface="Arial" pitchFamily="34" charset="0"/>
                <a:ea typeface="Arial" pitchFamily="34" charset="-122"/>
                <a:cs typeface="Arial" pitchFamily="34" charset="-120"/>
              </a:rPr>
              <a:t>Jeff Robison   ·   VCF Midwest 21 2026</a:t>
            </a:r>
            <a:endParaRPr lang="en-US" sz="1600" dirty="0"/>
          </a:p>
        </p:txBody>
      </p:sp>
      <p:sp>
        <p:nvSpPr>
          <p:cNvPr id="9" name="Shape 0">
            <a:extLst>
              <a:ext uri="{FF2B5EF4-FFF2-40B4-BE49-F238E27FC236}">
                <a16:creationId xmlns:a16="http://schemas.microsoft.com/office/drawing/2014/main" id="{F82E9071-B57E-7DEF-4B2F-E2D7489BEADD}"/>
              </a:ext>
            </a:extLst>
          </p:cNvPr>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10" name="Text 1">
            <a:extLst>
              <a:ext uri="{FF2B5EF4-FFF2-40B4-BE49-F238E27FC236}">
                <a16:creationId xmlns:a16="http://schemas.microsoft.com/office/drawing/2014/main" id="{104F5BFB-E54F-6D3A-1145-A66D5AD7A0DC}"/>
              </a:ext>
            </a:extLst>
          </p:cNvPr>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181A"/>
        </a:solidFill>
        <a:effectLst/>
      </p:bgPr>
    </p:bg>
    <p:spTree>
      <p:nvGrpSpPr>
        <p:cNvPr id="1" name="">
          <a:extLst>
            <a:ext uri="{FF2B5EF4-FFF2-40B4-BE49-F238E27FC236}">
              <a16:creationId xmlns:a16="http://schemas.microsoft.com/office/drawing/2014/main" id="{C341935B-AD13-777C-6917-F19B34B1A4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E8A61C-C838-61CF-6973-FFE0B03DD614}"/>
              </a:ext>
            </a:extLst>
          </p:cNvPr>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a:extLst>
              <a:ext uri="{FF2B5EF4-FFF2-40B4-BE49-F238E27FC236}">
                <a16:creationId xmlns:a16="http://schemas.microsoft.com/office/drawing/2014/main" id="{CB1F8243-BE61-6F5F-8EB8-23063A11FC04}"/>
              </a:ext>
            </a:extLst>
          </p:cNvPr>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1</a:t>
            </a:r>
            <a:endParaRPr lang="en-US" sz="1600" dirty="0"/>
          </a:p>
        </p:txBody>
      </p:sp>
      <p:sp>
        <p:nvSpPr>
          <p:cNvPr id="4" name="Text 2">
            <a:extLst>
              <a:ext uri="{FF2B5EF4-FFF2-40B4-BE49-F238E27FC236}">
                <a16:creationId xmlns:a16="http://schemas.microsoft.com/office/drawing/2014/main" id="{3AC61C20-0928-F186-5741-28C2F0020ADF}"/>
              </a:ext>
            </a:extLst>
          </p:cNvPr>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The Problem</a:t>
            </a:r>
            <a:endParaRPr lang="en-US" sz="3400" dirty="0"/>
          </a:p>
        </p:txBody>
      </p:sp>
      <p:grpSp>
        <p:nvGrpSpPr>
          <p:cNvPr id="15" name="Group 14">
            <a:extLst>
              <a:ext uri="{FF2B5EF4-FFF2-40B4-BE49-F238E27FC236}">
                <a16:creationId xmlns:a16="http://schemas.microsoft.com/office/drawing/2014/main" id="{FE6F6199-B65F-584B-A5E5-D8452BCA38FB}"/>
              </a:ext>
            </a:extLst>
          </p:cNvPr>
          <p:cNvGrpSpPr/>
          <p:nvPr/>
        </p:nvGrpSpPr>
        <p:grpSpPr>
          <a:xfrm>
            <a:off x="4235298" y="2678203"/>
            <a:ext cx="3474720" cy="1280160"/>
            <a:chOff x="4235298" y="2678203"/>
            <a:chExt cx="3474720" cy="1280160"/>
          </a:xfrm>
        </p:grpSpPr>
        <p:sp>
          <p:nvSpPr>
            <p:cNvPr id="13" name="Shape 4">
              <a:extLst>
                <a:ext uri="{FF2B5EF4-FFF2-40B4-BE49-F238E27FC236}">
                  <a16:creationId xmlns:a16="http://schemas.microsoft.com/office/drawing/2014/main" id="{63AE3F3C-6B04-6204-C367-539535763409}"/>
                </a:ext>
              </a:extLst>
            </p:cNvPr>
            <p:cNvSpPr/>
            <p:nvPr/>
          </p:nvSpPr>
          <p:spPr>
            <a:xfrm>
              <a:off x="4235298" y="2678203"/>
              <a:ext cx="3474720" cy="1280160"/>
            </a:xfrm>
            <a:prstGeom prst="roundRect">
              <a:avLst>
                <a:gd name="adj" fmla="val 4286"/>
              </a:avLst>
            </a:prstGeom>
            <a:solidFill>
              <a:srgbClr val="202225"/>
            </a:solidFill>
            <a:ln w="12700">
              <a:solidFill>
                <a:srgbClr val="32363A"/>
              </a:solidFill>
              <a:prstDash val="solid"/>
            </a:ln>
          </p:spPr>
          <p:txBody>
            <a:bodyPr/>
            <a:lstStyle/>
            <a:p>
              <a:endParaRPr lang="en-US"/>
            </a:p>
          </p:txBody>
        </p:sp>
        <p:sp>
          <p:nvSpPr>
            <p:cNvPr id="14" name="Text 5">
              <a:extLst>
                <a:ext uri="{FF2B5EF4-FFF2-40B4-BE49-F238E27FC236}">
                  <a16:creationId xmlns:a16="http://schemas.microsoft.com/office/drawing/2014/main" id="{7095649B-44C7-A87E-E1B2-7E318385B852}"/>
                </a:ext>
              </a:extLst>
            </p:cNvPr>
            <p:cNvSpPr txBox="1"/>
            <p:nvPr/>
          </p:nvSpPr>
          <p:spPr>
            <a:xfrm>
              <a:off x="4463898" y="2861083"/>
              <a:ext cx="3017520" cy="914400"/>
            </a:xfrm>
            <a:prstGeom prst="rect">
              <a:avLst/>
            </a:prstGeom>
            <a:noFill/>
            <a:ln/>
          </p:spPr>
          <p:txBody>
            <a:bodyPr wrap="square" lIns="0" tIns="0" rIns="0" bIns="0" rtlCol="0" anchor="t"/>
            <a:lstStyle/>
            <a:p>
              <a:pPr marL="0" indent="0">
                <a:lnSpc>
                  <a:spcPct val="130000"/>
                </a:lnSpc>
                <a:buNone/>
              </a:pPr>
              <a:r>
                <a:rPr lang="en-US" sz="1700" dirty="0">
                  <a:solidFill>
                    <a:srgbClr val="5FCB7E"/>
                  </a:solidFill>
                  <a:latin typeface="Courier New" pitchFamily="34" charset="0"/>
                  <a:ea typeface="Courier New" pitchFamily="34" charset="-122"/>
                  <a:cs typeface="Courier New" pitchFamily="34" charset="-120"/>
                </a:rPr>
                <a:t>PRINT RND(1)</a:t>
              </a:r>
              <a:endParaRPr lang="en-US" sz="1700" dirty="0"/>
            </a:p>
            <a:p>
              <a:pPr marL="0" indent="0">
                <a:lnSpc>
                  <a:spcPct val="130000"/>
                </a:lnSpc>
                <a:buNone/>
              </a:pPr>
              <a:r>
                <a:rPr lang="en-US" sz="1700" dirty="0">
                  <a:solidFill>
                    <a:srgbClr val="5FCB7E"/>
                  </a:solidFill>
                  <a:latin typeface="Courier New" pitchFamily="34" charset="0"/>
                  <a:ea typeface="Courier New" pitchFamily="34" charset="-122"/>
                  <a:cs typeface="Courier New" pitchFamily="34" charset="-120"/>
                </a:rPr>
                <a:t>.973136996</a:t>
              </a:r>
              <a:endParaRPr lang="en-US" sz="1700" dirty="0"/>
            </a:p>
          </p:txBody>
        </p:sp>
      </p:grpSp>
      <p:sp>
        <p:nvSpPr>
          <p:cNvPr id="16" name="TextBox 15"/>
          <p:cNvSpPr txBox="1"/>
          <p:nvPr/>
        </p:nvSpPr>
        <p:spPr>
          <a:xfrm>
            <a:off x="1097280" y="4343400"/>
            <a:ext cx="9966960" cy="822960"/>
          </a:xfrm>
          <a:prstGeom prst="rect">
            <a:avLst/>
          </a:prstGeom>
          <a:noFill/>
        </p:spPr>
        <p:txBody>
          <a:bodyPr wrap="square">
            <a:spAutoFit/>
          </a:bodyPr>
          <a:lstStyle/>
          <a:p>
            <a:pPr algn="ctr"/>
            <a:r>
              <a:rPr sz="1500" b="0">
                <a:solidFill>
                  <a:srgbClr val="9DA39B"/>
                </a:solidFill>
                <a:latin typeface="Arial"/>
              </a:rPr>
              <a:t>“…exactly the same sequence each time the machine is powered on.”</a:t>
            </a:r>
          </a:p>
          <a:p>
            <a:pPr algn="ctr"/>
            <a:r>
              <a:rPr sz="1500" b="0">
                <a:solidFill>
                  <a:srgbClr val="9DA39B"/>
                </a:solidFill>
                <a:latin typeface="Arial"/>
              </a:rPr>
              <a:t>Aldridge, Behavior Research Methods, Instruments, &amp; Computers, 1987</a:t>
            </a:r>
          </a:p>
        </p:txBody>
      </p:sp>
    </p:spTree>
    <p:extLst>
      <p:ext uri="{BB962C8B-B14F-4D97-AF65-F5344CB8AC3E}">
        <p14:creationId xmlns:p14="http://schemas.microsoft.com/office/powerpoint/2010/main" val="1796803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2</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What a random number generator is</a:t>
            </a:r>
            <a:endParaRPr lang="en-US" sz="3400" dirty="0"/>
          </a:p>
        </p:txBody>
      </p:sp>
      <p:sp>
        <p:nvSpPr>
          <p:cNvPr id="5" name="Shape 3"/>
          <p:cNvSpPr/>
          <p:nvPr/>
        </p:nvSpPr>
        <p:spPr>
          <a:xfrm>
            <a:off x="640080" y="1965960"/>
            <a:ext cx="5394960" cy="2194560"/>
          </a:xfrm>
          <a:prstGeom prst="roundRect">
            <a:avLst>
              <a:gd name="adj" fmla="val 2500"/>
            </a:avLst>
          </a:prstGeom>
          <a:solidFill>
            <a:srgbClr val="202225"/>
          </a:solidFill>
          <a:ln w="12700">
            <a:solidFill>
              <a:srgbClr val="32363A"/>
            </a:solidFill>
            <a:prstDash val="solid"/>
          </a:ln>
        </p:spPr>
        <p:txBody>
          <a:bodyPr/>
          <a:lstStyle/>
          <a:p>
            <a:endParaRPr lang="en-US"/>
          </a:p>
        </p:txBody>
      </p:sp>
      <p:sp>
        <p:nvSpPr>
          <p:cNvPr id="6" name="Text 4"/>
          <p:cNvSpPr txBox="1"/>
          <p:nvPr/>
        </p:nvSpPr>
        <p:spPr>
          <a:xfrm>
            <a:off x="914400" y="2194560"/>
            <a:ext cx="484632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Truly random  </a:t>
            </a:r>
            <a:endParaRPr lang="en-US" sz="1600" dirty="0"/>
          </a:p>
        </p:txBody>
      </p:sp>
      <p:sp>
        <p:nvSpPr>
          <p:cNvPr id="7" name="Text 5"/>
          <p:cNvSpPr txBox="1"/>
          <p:nvPr/>
        </p:nvSpPr>
        <p:spPr>
          <a:xfrm>
            <a:off x="914400" y="2651760"/>
            <a:ext cx="4846320" cy="1280160"/>
          </a:xfrm>
          <a:prstGeom prst="rect">
            <a:avLst/>
          </a:prstGeom>
          <a:noFill/>
          <a:ln/>
        </p:spPr>
        <p:txBody>
          <a:bodyPr wrap="square" lIns="0" tIns="0" rIns="0" bIns="0" rtlCol="0" anchor="t"/>
          <a:lstStyle/>
          <a:p>
            <a:pPr marL="0" indent="0">
              <a:buNone/>
            </a:pPr>
            <a:r>
              <a:rPr lang="en-US" sz="1500" dirty="0">
                <a:solidFill>
                  <a:srgbClr val="E9E7E3"/>
                </a:solidFill>
                <a:latin typeface="Arial" pitchFamily="34" charset="0"/>
                <a:ea typeface="Arial" pitchFamily="34" charset="-122"/>
                <a:cs typeface="Arial" pitchFamily="34" charset="-120"/>
              </a:rPr>
              <a:t>Comes from something physical. A die. Thermal noise. You can't compute it.</a:t>
            </a:r>
            <a:endParaRPr lang="en-US" sz="1500" dirty="0"/>
          </a:p>
        </p:txBody>
      </p:sp>
      <p:sp>
        <p:nvSpPr>
          <p:cNvPr id="8" name="Shape 6"/>
          <p:cNvSpPr/>
          <p:nvPr/>
        </p:nvSpPr>
        <p:spPr>
          <a:xfrm>
            <a:off x="6309360" y="1965960"/>
            <a:ext cx="5212080" cy="2194560"/>
          </a:xfrm>
          <a:prstGeom prst="roundRect">
            <a:avLst>
              <a:gd name="adj" fmla="val 2500"/>
            </a:avLst>
          </a:prstGeom>
          <a:solidFill>
            <a:srgbClr val="202225"/>
          </a:solidFill>
          <a:ln w="25400">
            <a:solidFill>
              <a:srgbClr val="5FCB7E"/>
            </a:solidFill>
            <a:prstDash val="solid"/>
          </a:ln>
        </p:spPr>
        <p:txBody>
          <a:bodyPr/>
          <a:lstStyle/>
          <a:p>
            <a:endParaRPr lang="en-US"/>
          </a:p>
        </p:txBody>
      </p:sp>
      <p:sp>
        <p:nvSpPr>
          <p:cNvPr id="9" name="Text 7"/>
          <p:cNvSpPr txBox="1"/>
          <p:nvPr/>
        </p:nvSpPr>
        <p:spPr>
          <a:xfrm>
            <a:off x="6583680" y="2194560"/>
            <a:ext cx="466344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Pseudo-random</a:t>
            </a:r>
            <a:endParaRPr lang="en-US" sz="1600" dirty="0"/>
          </a:p>
        </p:txBody>
      </p:sp>
      <p:sp>
        <p:nvSpPr>
          <p:cNvPr id="10" name="Text 8"/>
          <p:cNvSpPr txBox="1"/>
          <p:nvPr/>
        </p:nvSpPr>
        <p:spPr>
          <a:xfrm>
            <a:off x="6583680" y="2651760"/>
            <a:ext cx="4663440" cy="1280160"/>
          </a:xfrm>
          <a:prstGeom prst="rect">
            <a:avLst/>
          </a:prstGeom>
          <a:noFill/>
          <a:ln/>
        </p:spPr>
        <p:txBody>
          <a:bodyPr wrap="square" lIns="0" tIns="0" rIns="0" bIns="0" rtlCol="0" anchor="t"/>
          <a:lstStyle/>
          <a:p>
            <a:pPr marL="0" indent="0">
              <a:buNone/>
            </a:pPr>
            <a:r>
              <a:rPr lang="en-US" sz="1500" dirty="0">
                <a:solidFill>
                  <a:srgbClr val="E9E7E3"/>
                </a:solidFill>
                <a:latin typeface="Arial" pitchFamily="34" charset="0"/>
                <a:ea typeface="Arial" pitchFamily="34" charset="-122"/>
                <a:cs typeface="Arial" pitchFamily="34" charset="-120"/>
              </a:rPr>
              <a:t>A formula. You give it a starting number. It does math on that number and hands back an answer. The answer becomes the next starting number.</a:t>
            </a:r>
            <a:endParaRPr lang="en-US" sz="1500" dirty="0"/>
          </a:p>
        </p:txBody>
      </p:sp>
      <p:sp>
        <p:nvSpPr>
          <p:cNvPr id="11" name="Shape 9"/>
          <p:cNvSpPr/>
          <p:nvPr/>
        </p:nvSpPr>
        <p:spPr>
          <a:xfrm>
            <a:off x="640080" y="4343400"/>
            <a:ext cx="10881360" cy="1051560"/>
          </a:xfrm>
          <a:prstGeom prst="roundRect">
            <a:avLst>
              <a:gd name="adj" fmla="val 5217"/>
            </a:avLst>
          </a:prstGeom>
          <a:solidFill>
            <a:srgbClr val="202225"/>
          </a:solidFill>
          <a:ln w="25400">
            <a:solidFill>
              <a:srgbClr val="E0A73E"/>
            </a:solidFill>
            <a:prstDash val="solid"/>
          </a:ln>
        </p:spPr>
        <p:txBody>
          <a:bodyPr/>
          <a:lstStyle/>
          <a:p>
            <a:endParaRPr lang="en-US"/>
          </a:p>
        </p:txBody>
      </p:sp>
      <p:sp>
        <p:nvSpPr>
          <p:cNvPr id="12" name="Text 10"/>
          <p:cNvSpPr txBox="1"/>
          <p:nvPr/>
        </p:nvSpPr>
        <p:spPr>
          <a:xfrm>
            <a:off x="1005840" y="4645152"/>
            <a:ext cx="10149840" cy="548640"/>
          </a:xfrm>
          <a:prstGeom prst="rect">
            <a:avLst/>
          </a:prstGeom>
          <a:noFill/>
          <a:ln/>
        </p:spPr>
        <p:txBody>
          <a:bodyPr wrap="square" lIns="0" tIns="0" rIns="0" bIns="0" rtlCol="0" anchor="ctr"/>
          <a:lstStyle/>
          <a:p>
            <a:pPr marL="0" indent="0">
              <a:buNone/>
            </a:pPr>
            <a:r>
              <a:rPr lang="en-US" sz="1900" dirty="0">
                <a:solidFill>
                  <a:srgbClr val="E9E7E3"/>
                </a:solidFill>
                <a:latin typeface="Arial" pitchFamily="34" charset="0"/>
                <a:ea typeface="Arial" pitchFamily="34" charset="-122"/>
                <a:cs typeface="Arial" pitchFamily="34" charset="-120"/>
              </a:rPr>
              <a:t>Entropy decides where the sequence starts. The formula decides what it looks like.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3</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Integer BASIC, 1977</a:t>
            </a:r>
            <a:endParaRPr lang="en-US" sz="3400" dirty="0"/>
          </a:p>
        </p:txBody>
      </p:sp>
      <p:sp>
        <p:nvSpPr>
          <p:cNvPr id="5" name="Shape 3"/>
          <p:cNvSpPr/>
          <p:nvPr/>
        </p:nvSpPr>
        <p:spPr>
          <a:xfrm>
            <a:off x="640080" y="1965960"/>
            <a:ext cx="5394960" cy="2697480"/>
          </a:xfrm>
          <a:prstGeom prst="roundRect">
            <a:avLst>
              <a:gd name="adj" fmla="val 2034"/>
            </a:avLst>
          </a:prstGeom>
          <a:solidFill>
            <a:srgbClr val="202225"/>
          </a:solidFill>
          <a:ln w="25400">
            <a:solidFill>
              <a:srgbClr val="5FCB7E"/>
            </a:solidFill>
            <a:prstDash val="solid"/>
          </a:ln>
        </p:spPr>
        <p:txBody>
          <a:bodyPr/>
          <a:lstStyle/>
          <a:p>
            <a:endParaRPr lang="en-US"/>
          </a:p>
        </p:txBody>
      </p:sp>
      <p:sp>
        <p:nvSpPr>
          <p:cNvPr id="6" name="Text 4"/>
          <p:cNvSpPr txBox="1"/>
          <p:nvPr/>
        </p:nvSpPr>
        <p:spPr>
          <a:xfrm>
            <a:off x="914400" y="2194560"/>
            <a:ext cx="484632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Woz wrote a generator at $EF4E</a:t>
            </a:r>
            <a:endParaRPr lang="en-US" sz="1600" dirty="0"/>
          </a:p>
        </p:txBody>
      </p:sp>
      <p:sp>
        <p:nvSpPr>
          <p:cNvPr id="7" name="Text 5"/>
          <p:cNvSpPr txBox="1"/>
          <p:nvPr/>
        </p:nvSpPr>
        <p:spPr>
          <a:xfrm>
            <a:off x="914400" y="2697480"/>
            <a:ext cx="4846320" cy="18288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9E7E3"/>
                </a:solidFill>
                <a:latin typeface="Arial" pitchFamily="34" charset="0"/>
                <a:ea typeface="Arial" pitchFamily="34" charset="-122"/>
                <a:cs typeface="Arial" pitchFamily="34" charset="-120"/>
              </a:rPr>
              <a:t>15-bit shift register: repeats every 32,767 calls</a:t>
            </a:r>
          </a:p>
          <a:p>
            <a:pPr marL="342900" indent="-342900">
              <a:spcAft>
                <a:spcPts val="900"/>
              </a:spcAft>
              <a:buSzPct val="100000"/>
              <a:buChar char="•"/>
            </a:pPr>
            <a:r>
              <a:rPr lang="en-US" sz="1500" dirty="0">
                <a:solidFill>
                  <a:srgbClr val="E9E7E3"/>
                </a:solidFill>
                <a:latin typeface="Arial" pitchFamily="34" charset="0"/>
                <a:ea typeface="Arial" pitchFamily="34" charset="-122"/>
                <a:cs typeface="Arial" pitchFamily="34" charset="-120"/>
              </a:rPr>
              <a:t>Integers only: RND(X) is the state MOD X</a:t>
            </a:r>
          </a:p>
          <a:p>
            <a:pPr marL="342900" indent="-342900">
              <a:spcAft>
                <a:spcPts val="900"/>
              </a:spcAft>
              <a:buSzPct val="100000"/>
              <a:buChar char="•"/>
            </a:pPr>
            <a:r>
              <a:rPr lang="en-US" sz="1500" dirty="0">
                <a:solidFill>
                  <a:srgbClr val="E9E7E3"/>
                </a:solidFill>
                <a:latin typeface="Arial" pitchFamily="34" charset="0"/>
                <a:ea typeface="Arial" pitchFamily="34" charset="-122"/>
                <a:cs typeface="Arial" pitchFamily="34" charset="-120"/>
              </a:rPr>
              <a:t>Good enough for games, its stated purpose</a:t>
            </a:r>
          </a:p>
          <a:p>
            <a:pPr marL="342900" indent="-342900">
              <a:spcAft>
                <a:spcPts val="900"/>
              </a:spcAft>
              <a:buSzPct val="100000"/>
              <a:buChar char="•"/>
            </a:pPr>
            <a:r>
              <a:rPr lang="en-US" sz="1500" dirty="0">
                <a:solidFill>
                  <a:srgbClr val="E9E7E3"/>
                </a:solidFill>
                <a:latin typeface="Arial" pitchFamily="34" charset="0"/>
                <a:ea typeface="Arial" pitchFamily="34" charset="-122"/>
                <a:cs typeface="Arial" pitchFamily="34" charset="-120"/>
              </a:rPr>
              <a:t>56 bytes in all: 6 in KEYIN, 50 in RND</a:t>
            </a:r>
          </a:p>
        </p:txBody>
      </p:sp>
      <p:sp>
        <p:nvSpPr>
          <p:cNvPr id="8" name="Shape 6"/>
          <p:cNvSpPr/>
          <p:nvPr/>
        </p:nvSpPr>
        <p:spPr>
          <a:xfrm>
            <a:off x="6309360" y="1965960"/>
            <a:ext cx="5212080" cy="2697480"/>
          </a:xfrm>
          <a:prstGeom prst="roundRect">
            <a:avLst>
              <a:gd name="adj" fmla="val 2034"/>
            </a:avLst>
          </a:prstGeom>
          <a:solidFill>
            <a:srgbClr val="202225"/>
          </a:solidFill>
          <a:ln w="12700">
            <a:solidFill>
              <a:srgbClr val="32363A"/>
            </a:solidFill>
            <a:prstDash val="solid"/>
          </a:ln>
        </p:spPr>
        <p:txBody>
          <a:bodyPr/>
          <a:lstStyle/>
          <a:p>
            <a:endParaRPr lang="en-US"/>
          </a:p>
        </p:txBody>
      </p:sp>
      <p:sp>
        <p:nvSpPr>
          <p:cNvPr id="9" name="Text 7"/>
          <p:cNvSpPr txBox="1"/>
          <p:nvPr/>
        </p:nvSpPr>
        <p:spPr>
          <a:xfrm>
            <a:off x="6583680" y="2194560"/>
            <a:ext cx="4663440" cy="365760"/>
          </a:xfrm>
          <a:prstGeom prst="rect">
            <a:avLst/>
          </a:prstGeom>
          <a:noFill/>
          <a:ln/>
        </p:spPr>
        <p:txBody>
          <a:bodyPr wrap="square" lIns="0" tIns="0" rIns="0" bIns="0" rtlCol="0" anchor="ctr"/>
          <a:lstStyle/>
          <a:p>
            <a:pPr marL="0" indent="0">
              <a:buNone/>
            </a:pPr>
            <a:r>
              <a:rPr lang="en-US" sz="1600" b="1" dirty="0">
                <a:solidFill>
                  <a:srgbClr val="5FCB7E"/>
                </a:solidFill>
                <a:latin typeface="Arial" pitchFamily="34" charset="0"/>
                <a:ea typeface="Arial" pitchFamily="34" charset="-122"/>
                <a:cs typeface="Arial" pitchFamily="34" charset="-120"/>
              </a:rPr>
              <a:t>Seeded by you</a:t>
            </a:r>
          </a:p>
        </p:txBody>
      </p:sp>
      <p:sp>
        <p:nvSpPr>
          <p:cNvPr id="10" name="Text 8"/>
          <p:cNvSpPr txBox="1"/>
          <p:nvPr/>
        </p:nvSpPr>
        <p:spPr>
          <a:xfrm>
            <a:off x="6583680" y="2697480"/>
            <a:ext cx="4663440" cy="1143000"/>
          </a:xfrm>
          <a:prstGeom prst="rect">
            <a:avLst/>
          </a:prstGeom>
          <a:noFill/>
          <a:ln/>
        </p:spPr>
        <p:txBody>
          <a:bodyPr wrap="square" lIns="0" tIns="0" rIns="0" bIns="0" rtlCol="0" anchor="t"/>
          <a:lstStyle/>
          <a:p>
            <a:pPr marL="0" indent="0">
              <a:buNone/>
            </a:pPr>
            <a:r>
              <a:rPr lang="en-US" sz="1500" dirty="0">
                <a:solidFill>
                  <a:srgbClr val="E9E7E3"/>
                </a:solidFill>
                <a:latin typeface="Arial" pitchFamily="34" charset="0"/>
                <a:ea typeface="Arial" pitchFamily="34" charset="-122"/>
                <a:cs typeface="Arial" pitchFamily="34" charset="-120"/>
              </a:rPr>
              <a:t>There's a counter at $4E and $4F that goes up while the monitor sits waiting for a keypress. Integer BASIC's generator is that counter: RND scrambles it and writes it back.</a:t>
            </a:r>
          </a:p>
        </p:txBody>
      </p:sp>
      <p:sp>
        <p:nvSpPr>
          <p:cNvPr id="12" name="Text 10"/>
          <p:cNvSpPr txBox="1"/>
          <p:nvPr/>
        </p:nvSpPr>
        <p:spPr>
          <a:xfrm>
            <a:off x="640080" y="5623560"/>
            <a:ext cx="10881360" cy="457200"/>
          </a:xfrm>
          <a:prstGeom prst="rect">
            <a:avLst/>
          </a:prstGeom>
          <a:noFill/>
          <a:ln/>
        </p:spPr>
        <p:txBody>
          <a:bodyPr wrap="square" lIns="0" tIns="0" rIns="0" bIns="0" rtlCol="0" anchor="ctr"/>
          <a:lstStyle/>
          <a:p>
            <a:pPr marL="0" indent="0">
              <a:buNone/>
            </a:pPr>
            <a:r>
              <a:rPr lang="en-US" sz="1500" dirty="0">
                <a:solidFill>
                  <a:srgbClr val="9DA39B"/>
                </a:solidFill>
                <a:latin typeface="Arial" pitchFamily="34" charset="0"/>
                <a:ea typeface="Arial" pitchFamily="34" charset="-122"/>
                <a:cs typeface="Arial" pitchFamily="34" charset="-120"/>
              </a:rPr>
              <a:t>Sander-Cederlof, Apple Assembly Line, August 1981.</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4</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Built-in Entropy Source</a:t>
            </a:r>
            <a:endParaRPr lang="en-US" sz="3400" dirty="0"/>
          </a:p>
        </p:txBody>
      </p:sp>
      <p:pic>
        <p:nvPicPr>
          <p:cNvPr id="6" name="Image 0" descr="/home/claude/keyin.png"/>
          <p:cNvPicPr>
            <a:picLocks noChangeAspect="1"/>
          </p:cNvPicPr>
          <p:nvPr/>
        </p:nvPicPr>
        <p:blipFill>
          <a:blip r:embed="rId3"/>
          <a:stretch>
            <a:fillRect/>
          </a:stretch>
        </p:blipFill>
        <p:spPr>
          <a:xfrm>
            <a:off x="467085" y="1742604"/>
            <a:ext cx="5029200" cy="1069848"/>
          </a:xfrm>
          <a:prstGeom prst="rect">
            <a:avLst/>
          </a:prstGeom>
        </p:spPr>
      </p:pic>
      <p:sp>
        <p:nvSpPr>
          <p:cNvPr id="7" name="Text 4"/>
          <p:cNvSpPr txBox="1"/>
          <p:nvPr/>
        </p:nvSpPr>
        <p:spPr>
          <a:xfrm>
            <a:off x="211053" y="1468284"/>
            <a:ext cx="5394960" cy="914400"/>
          </a:xfrm>
          <a:prstGeom prst="rect">
            <a:avLst/>
          </a:prstGeom>
          <a:noFill/>
          <a:ln/>
        </p:spPr>
        <p:txBody>
          <a:bodyPr wrap="square" lIns="0" tIns="0" rIns="0" bIns="0" rtlCol="0" anchor="t"/>
          <a:lstStyle/>
          <a:p>
            <a:r>
              <a:rPr lang="en-US" sz="1500" dirty="0">
                <a:solidFill>
                  <a:srgbClr val="5FCC7E"/>
                </a:solidFill>
              </a:rPr>
              <a:t>https://6502disassembly.com/a2-rom/OrigF8ROM.html</a:t>
            </a:r>
          </a:p>
        </p:txBody>
      </p:sp>
      <p:grpSp>
        <p:nvGrpSpPr>
          <p:cNvPr id="32" name="Group 31">
            <a:extLst>
              <a:ext uri="{FF2B5EF4-FFF2-40B4-BE49-F238E27FC236}">
                <a16:creationId xmlns:a16="http://schemas.microsoft.com/office/drawing/2014/main" id="{A8C986C3-6CC0-CA6B-F5EE-16F56CF7BC3F}"/>
              </a:ext>
            </a:extLst>
          </p:cNvPr>
          <p:cNvGrpSpPr/>
          <p:nvPr/>
        </p:nvGrpSpPr>
        <p:grpSpPr>
          <a:xfrm>
            <a:off x="5562064" y="1329430"/>
            <a:ext cx="5771264" cy="3273552"/>
            <a:chOff x="5562064" y="1329430"/>
            <a:chExt cx="5771264" cy="3273552"/>
          </a:xfrm>
        </p:grpSpPr>
        <p:sp>
          <p:nvSpPr>
            <p:cNvPr id="11" name="Text 8"/>
            <p:cNvSpPr txBox="1"/>
            <p:nvPr/>
          </p:nvSpPr>
          <p:spPr>
            <a:xfrm>
              <a:off x="5562064" y="2749433"/>
              <a:ext cx="1005840" cy="320040"/>
            </a:xfrm>
            <a:prstGeom prst="rect">
              <a:avLst/>
            </a:prstGeom>
            <a:noFill/>
            <a:ln/>
          </p:spPr>
          <p:txBody>
            <a:bodyPr wrap="square" lIns="0" tIns="0" rIns="0" bIns="0" rtlCol="0" anchor="ctr"/>
            <a:lstStyle/>
            <a:p>
              <a:pPr marL="0" indent="0" algn="ctr">
                <a:buNone/>
              </a:pPr>
              <a:r>
                <a:rPr lang="en-US" sz="1100" dirty="0">
                  <a:solidFill>
                    <a:srgbClr val="5FCB7E"/>
                  </a:solidFill>
                  <a:latin typeface="Courier New" pitchFamily="34" charset="0"/>
                  <a:ea typeface="Courier New" pitchFamily="34" charset="-122"/>
                  <a:cs typeface="Courier New" pitchFamily="34" charset="-120"/>
                </a:rPr>
                <a:t>$4E/$4F</a:t>
              </a:r>
              <a:endParaRPr lang="en-US" sz="1100" dirty="0"/>
            </a:p>
          </p:txBody>
        </p:sp>
        <p:grpSp>
          <p:nvGrpSpPr>
            <p:cNvPr id="31" name="Group 30">
              <a:extLst>
                <a:ext uri="{FF2B5EF4-FFF2-40B4-BE49-F238E27FC236}">
                  <a16:creationId xmlns:a16="http://schemas.microsoft.com/office/drawing/2014/main" id="{3E3E7FBD-91A0-170C-4244-AE0EEFBBAA58}"/>
                </a:ext>
              </a:extLst>
            </p:cNvPr>
            <p:cNvGrpSpPr/>
            <p:nvPr/>
          </p:nvGrpSpPr>
          <p:grpSpPr>
            <a:xfrm>
              <a:off x="5661247" y="1329430"/>
              <a:ext cx="5672081" cy="3273552"/>
              <a:chOff x="5676364" y="1376844"/>
              <a:chExt cx="5672081" cy="3273552"/>
            </a:xfrm>
          </p:grpSpPr>
          <p:sp>
            <p:nvSpPr>
              <p:cNvPr id="10" name="Shape 7"/>
              <p:cNvSpPr/>
              <p:nvPr/>
            </p:nvSpPr>
            <p:spPr>
              <a:xfrm>
                <a:off x="5676364" y="3404588"/>
                <a:ext cx="777240" cy="0"/>
              </a:xfrm>
              <a:prstGeom prst="line">
                <a:avLst/>
              </a:prstGeom>
              <a:noFill/>
              <a:ln w="19050">
                <a:solidFill>
                  <a:srgbClr val="5FCB7E"/>
                </a:solidFill>
                <a:prstDash val="solid"/>
                <a:tailEnd type="triangle"/>
              </a:ln>
            </p:spPr>
            <p:txBody>
              <a:bodyPr/>
              <a:lstStyle/>
              <a:p>
                <a:endParaRPr lang="en-US"/>
              </a:p>
            </p:txBody>
          </p:sp>
          <p:sp>
            <p:nvSpPr>
              <p:cNvPr id="12" name="Text 9"/>
              <p:cNvSpPr txBox="1"/>
              <p:nvPr/>
            </p:nvSpPr>
            <p:spPr>
              <a:xfrm>
                <a:off x="6639285" y="1376844"/>
                <a:ext cx="4709160" cy="320040"/>
              </a:xfrm>
              <a:prstGeom prst="rect">
                <a:avLst/>
              </a:prstGeom>
              <a:noFill/>
              <a:ln/>
            </p:spPr>
            <p:txBody>
              <a:bodyPr wrap="square" lIns="0" tIns="0" rIns="0" bIns="0" rtlCol="0" anchor="ctr"/>
              <a:lstStyle/>
              <a:p>
                <a:pPr marL="0" indent="0">
                  <a:buNone/>
                </a:pPr>
                <a:r>
                  <a:rPr lang="en-US" sz="1500" b="1" dirty="0">
                    <a:solidFill>
                      <a:srgbClr val="5FCB7E"/>
                    </a:solidFill>
                    <a:latin typeface="Arial" pitchFamily="34" charset="0"/>
                    <a:ea typeface="Arial" pitchFamily="34" charset="-122"/>
                    <a:cs typeface="Arial" pitchFamily="34" charset="-120"/>
                  </a:rPr>
                  <a:t>Integer BASIC, at $EF4E</a:t>
                </a:r>
                <a:endParaRPr lang="en-US" sz="1500" dirty="0"/>
              </a:p>
            </p:txBody>
          </p:sp>
          <p:pic>
            <p:nvPicPr>
              <p:cNvPr id="13" name="Image 1" descr="/home/claude/intbasic_rnd.png"/>
              <p:cNvPicPr>
                <a:picLocks noChangeAspect="1"/>
              </p:cNvPicPr>
              <p:nvPr/>
            </p:nvPicPr>
            <p:blipFill>
              <a:blip r:embed="rId4"/>
              <a:stretch>
                <a:fillRect/>
              </a:stretch>
            </p:blipFill>
            <p:spPr>
              <a:xfrm>
                <a:off x="6639285" y="1742604"/>
                <a:ext cx="4709160" cy="2907792"/>
              </a:xfrm>
              <a:prstGeom prst="rect">
                <a:avLst/>
              </a:prstGeom>
            </p:spPr>
          </p:pic>
        </p:grpSp>
      </p:grpSp>
      <p:sp>
        <p:nvSpPr>
          <p:cNvPr id="15" name="Text 11"/>
          <p:cNvSpPr txBox="1"/>
          <p:nvPr/>
        </p:nvSpPr>
        <p:spPr>
          <a:xfrm>
            <a:off x="266287" y="1030855"/>
            <a:ext cx="5394960" cy="457200"/>
          </a:xfrm>
          <a:prstGeom prst="rect">
            <a:avLst/>
          </a:prstGeom>
          <a:noFill/>
          <a:ln/>
        </p:spPr>
        <p:txBody>
          <a:bodyPr wrap="square" lIns="0" tIns="0" rIns="0" bIns="0" rtlCol="0" anchor="ctr"/>
          <a:lstStyle/>
          <a:p>
            <a:pPr marL="0" indent="0">
              <a:buNone/>
            </a:pPr>
            <a:r>
              <a:rPr lang="en-US" sz="1600" dirty="0">
                <a:solidFill>
                  <a:srgbClr val="5FCB7E"/>
                </a:solidFill>
                <a:latin typeface="Arial" pitchFamily="34" charset="0"/>
                <a:ea typeface="Arial" pitchFamily="34" charset="-122"/>
                <a:cs typeface="Arial" pitchFamily="34" charset="-120"/>
              </a:rPr>
              <a:t>Same counter in the II, II Plus, IIe and IIc ROMs</a:t>
            </a:r>
          </a:p>
        </p:txBody>
      </p:sp>
      <p:pic>
        <p:nvPicPr>
          <p:cNvPr id="18" name="Picture 17">
            <a:extLst>
              <a:ext uri="{FF2B5EF4-FFF2-40B4-BE49-F238E27FC236}">
                <a16:creationId xmlns:a16="http://schemas.microsoft.com/office/drawing/2014/main" id="{F8886198-9BCA-7628-C105-1DC0E737DE2D}"/>
              </a:ext>
            </a:extLst>
          </p:cNvPr>
          <p:cNvPicPr>
            <a:picLocks noChangeAspect="1"/>
          </p:cNvPicPr>
          <p:nvPr/>
        </p:nvPicPr>
        <p:blipFill>
          <a:blip r:embed="rId5"/>
          <a:stretch>
            <a:fillRect/>
          </a:stretch>
        </p:blipFill>
        <p:spPr>
          <a:xfrm>
            <a:off x="491799" y="3297084"/>
            <a:ext cx="4550719" cy="1174379"/>
          </a:xfrm>
          <a:prstGeom prst="rect">
            <a:avLst/>
          </a:prstGeom>
        </p:spPr>
      </p:pic>
      <p:sp>
        <p:nvSpPr>
          <p:cNvPr id="20" name="TextBox 19">
            <a:extLst>
              <a:ext uri="{FF2B5EF4-FFF2-40B4-BE49-F238E27FC236}">
                <a16:creationId xmlns:a16="http://schemas.microsoft.com/office/drawing/2014/main" id="{1D8E2C12-7EA0-26DB-72E8-A881BEBB80A3}"/>
              </a:ext>
            </a:extLst>
          </p:cNvPr>
          <p:cNvSpPr txBox="1"/>
          <p:nvPr/>
        </p:nvSpPr>
        <p:spPr>
          <a:xfrm>
            <a:off x="93292" y="2902106"/>
            <a:ext cx="6098058" cy="369332"/>
          </a:xfrm>
          <a:prstGeom prst="rect">
            <a:avLst/>
          </a:prstGeom>
          <a:noFill/>
        </p:spPr>
        <p:txBody>
          <a:bodyPr wrap="square">
            <a:spAutoFit/>
          </a:bodyPr>
          <a:lstStyle/>
          <a:p>
            <a:r>
              <a:rPr lang="en-US" dirty="0">
                <a:solidFill>
                  <a:srgbClr val="5FCC7E"/>
                </a:solidFill>
              </a:rPr>
              <a:t>https://6502disassembly.com/a2-rom/AutoF8ROM.html</a:t>
            </a:r>
          </a:p>
        </p:txBody>
      </p:sp>
      <p:pic>
        <p:nvPicPr>
          <p:cNvPr id="22" name="Picture 21">
            <a:extLst>
              <a:ext uri="{FF2B5EF4-FFF2-40B4-BE49-F238E27FC236}">
                <a16:creationId xmlns:a16="http://schemas.microsoft.com/office/drawing/2014/main" id="{F1B3D4F5-87FC-5B8C-D9DF-5FBB3A3A3F48}"/>
              </a:ext>
            </a:extLst>
          </p:cNvPr>
          <p:cNvPicPr>
            <a:picLocks noChangeAspect="1"/>
          </p:cNvPicPr>
          <p:nvPr/>
        </p:nvPicPr>
        <p:blipFill>
          <a:blip r:embed="rId6"/>
          <a:stretch>
            <a:fillRect/>
          </a:stretch>
        </p:blipFill>
        <p:spPr>
          <a:xfrm>
            <a:off x="467085" y="4983000"/>
            <a:ext cx="4941714" cy="417204"/>
          </a:xfrm>
          <a:prstGeom prst="rect">
            <a:avLst/>
          </a:prstGeom>
        </p:spPr>
      </p:pic>
      <p:sp>
        <p:nvSpPr>
          <p:cNvPr id="24" name="TextBox 23">
            <a:extLst>
              <a:ext uri="{FF2B5EF4-FFF2-40B4-BE49-F238E27FC236}">
                <a16:creationId xmlns:a16="http://schemas.microsoft.com/office/drawing/2014/main" id="{6A7A2822-511C-51D2-BB81-EC2B63DCA37C}"/>
              </a:ext>
            </a:extLst>
          </p:cNvPr>
          <p:cNvSpPr txBox="1"/>
          <p:nvPr/>
        </p:nvSpPr>
        <p:spPr>
          <a:xfrm>
            <a:off x="211053" y="4542565"/>
            <a:ext cx="6098058" cy="369332"/>
          </a:xfrm>
          <a:prstGeom prst="rect">
            <a:avLst/>
          </a:prstGeom>
          <a:noFill/>
        </p:spPr>
        <p:txBody>
          <a:bodyPr wrap="square">
            <a:spAutoFit/>
          </a:bodyPr>
          <a:lstStyle/>
          <a:p>
            <a:r>
              <a:rPr lang="en-US" dirty="0">
                <a:solidFill>
                  <a:srgbClr val="5FCC7E"/>
                </a:solidFill>
              </a:rPr>
              <a:t>https://6502disassembly.com/a2-rom/IIc_16kb.html</a:t>
            </a:r>
          </a:p>
        </p:txBody>
      </p:sp>
      <p:pic>
        <p:nvPicPr>
          <p:cNvPr id="26" name="Picture 25">
            <a:extLst>
              <a:ext uri="{FF2B5EF4-FFF2-40B4-BE49-F238E27FC236}">
                <a16:creationId xmlns:a16="http://schemas.microsoft.com/office/drawing/2014/main" id="{4E513ED2-6116-D2E0-63C7-41EFC1C01ACA}"/>
              </a:ext>
            </a:extLst>
          </p:cNvPr>
          <p:cNvPicPr>
            <a:picLocks noChangeAspect="1"/>
          </p:cNvPicPr>
          <p:nvPr/>
        </p:nvPicPr>
        <p:blipFill>
          <a:blip r:embed="rId7"/>
          <a:stretch>
            <a:fillRect/>
          </a:stretch>
        </p:blipFill>
        <p:spPr>
          <a:xfrm>
            <a:off x="520829" y="5779364"/>
            <a:ext cx="5021298" cy="895476"/>
          </a:xfrm>
          <a:prstGeom prst="rect">
            <a:avLst/>
          </a:prstGeom>
        </p:spPr>
      </p:pic>
      <p:sp>
        <p:nvSpPr>
          <p:cNvPr id="30" name="TextBox 29">
            <a:extLst>
              <a:ext uri="{FF2B5EF4-FFF2-40B4-BE49-F238E27FC236}">
                <a16:creationId xmlns:a16="http://schemas.microsoft.com/office/drawing/2014/main" id="{FA30E583-A9EF-1930-E2D5-E99E8A1821ED}"/>
              </a:ext>
            </a:extLst>
          </p:cNvPr>
          <p:cNvSpPr txBox="1"/>
          <p:nvPr/>
        </p:nvSpPr>
        <p:spPr>
          <a:xfrm>
            <a:off x="211053" y="5435343"/>
            <a:ext cx="6098058" cy="369332"/>
          </a:xfrm>
          <a:prstGeom prst="rect">
            <a:avLst/>
          </a:prstGeom>
          <a:noFill/>
        </p:spPr>
        <p:txBody>
          <a:bodyPr wrap="square">
            <a:spAutoFit/>
          </a:bodyPr>
          <a:lstStyle/>
          <a:p>
            <a:r>
              <a:rPr lang="en-US" dirty="0">
                <a:solidFill>
                  <a:srgbClr val="5FCC7E"/>
                </a:solidFill>
              </a:rPr>
              <a:t>https://6502disassembly.com/a2-rom/Unenh_IIe_80col.html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5</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Applesoft II: Microsoft's RND</a:t>
            </a:r>
          </a:p>
        </p:txBody>
      </p:sp>
      <p:sp>
        <p:nvSpPr>
          <p:cNvPr id="5" name="Text 3"/>
          <p:cNvSpPr txBox="1"/>
          <p:nvPr/>
        </p:nvSpPr>
        <p:spPr>
          <a:xfrm>
            <a:off x="640080" y="1115568"/>
            <a:ext cx="10058400" cy="365760"/>
          </a:xfrm>
          <a:prstGeom prst="rect">
            <a:avLst/>
          </a:prstGeom>
          <a:noFill/>
          <a:ln/>
        </p:spPr>
        <p:txBody>
          <a:bodyPr wrap="square" lIns="0" tIns="0" rIns="0" bIns="0" rtlCol="0" anchor="ctr"/>
          <a:lstStyle/>
          <a:p>
            <a:r>
              <a:rPr sz="1600">
                <a:solidFill>
                  <a:srgbClr val="9DA39B"/>
                </a:solidFill>
                <a:latin typeface="Arial"/>
              </a:rPr>
              <a:t>Microsoft's 6502 BASIC, licensed by Apple</a:t>
            </a:r>
          </a:p>
        </p:txBody>
      </p:sp>
      <p:pic>
        <p:nvPicPr>
          <p:cNvPr id="6" name="Image 0" descr="Applesoft II RND routine, $EFAE-$EFE7, from the S-C DocuMentor disassembly via 6502disassembly.com"/>
          <p:cNvPicPr>
            <a:picLocks noChangeAspect="1"/>
          </p:cNvPicPr>
          <p:nvPr/>
        </p:nvPicPr>
        <p:blipFill>
          <a:blip r:embed="rId3"/>
          <a:stretch>
            <a:fillRect/>
          </a:stretch>
        </p:blipFill>
        <p:spPr>
          <a:xfrm>
            <a:off x="640080" y="1691640"/>
            <a:ext cx="7772400" cy="4197096"/>
          </a:xfrm>
          <a:prstGeom prst="rect">
            <a:avLst/>
          </a:prstGeom>
        </p:spPr>
      </p:pic>
      <p:sp>
        <p:nvSpPr>
          <p:cNvPr id="7" name="Shape 4"/>
          <p:cNvSpPr/>
          <p:nvPr/>
        </p:nvSpPr>
        <p:spPr>
          <a:xfrm>
            <a:off x="8641080" y="1691640"/>
            <a:ext cx="2880360" cy="1965960"/>
          </a:xfrm>
          <a:prstGeom prst="roundRect">
            <a:avLst>
              <a:gd name="adj" fmla="val 2791"/>
            </a:avLst>
          </a:prstGeom>
          <a:solidFill>
            <a:srgbClr val="202225"/>
          </a:solidFill>
          <a:ln w="25400">
            <a:solidFill>
              <a:srgbClr val="D9564A"/>
            </a:solidFill>
            <a:prstDash val="solid"/>
          </a:ln>
        </p:spPr>
        <p:txBody>
          <a:bodyPr/>
          <a:lstStyle/>
          <a:p>
            <a:endParaRPr lang="en-US"/>
          </a:p>
        </p:txBody>
      </p:sp>
      <p:sp>
        <p:nvSpPr>
          <p:cNvPr id="8" name="Text 5"/>
          <p:cNvSpPr txBox="1"/>
          <p:nvPr/>
        </p:nvSpPr>
        <p:spPr>
          <a:xfrm>
            <a:off x="8869680" y="1874520"/>
            <a:ext cx="2624328" cy="320040"/>
          </a:xfrm>
          <a:prstGeom prst="rect">
            <a:avLst/>
          </a:prstGeom>
          <a:noFill/>
          <a:ln/>
        </p:spPr>
        <p:txBody>
          <a:bodyPr wrap="square" lIns="0" tIns="0" rIns="0" bIns="0" rtlCol="0" anchor="ctr"/>
          <a:lstStyle/>
          <a:p>
            <a:pPr marL="0" indent="0">
              <a:buNone/>
            </a:pPr>
            <a:r>
              <a:rPr lang="en-US" sz="1400" b="1" dirty="0">
                <a:solidFill>
                  <a:srgbClr val="D9564A"/>
                </a:solidFill>
                <a:latin typeface="Arial" pitchFamily="34" charset="0"/>
                <a:ea typeface="Arial" pitchFamily="34" charset="-122"/>
                <a:cs typeface="Arial" pitchFamily="34" charset="-120"/>
              </a:rPr>
              <a:t>Seed at $C9, from ROM</a:t>
            </a:r>
          </a:p>
        </p:txBody>
      </p:sp>
      <p:sp>
        <p:nvSpPr>
          <p:cNvPr id="9" name="Text 6"/>
          <p:cNvSpPr txBox="1"/>
          <p:nvPr/>
        </p:nvSpPr>
        <p:spPr>
          <a:xfrm>
            <a:off x="8869680" y="2267712"/>
            <a:ext cx="2468880" cy="1188720"/>
          </a:xfrm>
          <a:prstGeom prst="rect">
            <a:avLst/>
          </a:prstGeom>
          <a:noFill/>
          <a:ln/>
        </p:spPr>
        <p:txBody>
          <a:bodyPr wrap="square" lIns="0" tIns="0" rIns="0" bIns="0" rtlCol="0" anchor="t"/>
          <a:lstStyle/>
          <a:p>
            <a:pPr marL="0" indent="0">
              <a:buNone/>
            </a:pPr>
            <a:r>
              <a:rPr lang="en-US" sz="1300" dirty="0">
                <a:solidFill>
                  <a:schemeClr val="bg1">
                    <a:lumMod val="95000"/>
                  </a:schemeClr>
                </a:solidFill>
              </a:rPr>
              <a:t>$4E/$4F still counts. Applesoft never reads it.</a:t>
            </a:r>
          </a:p>
        </p:txBody>
      </p:sp>
      <p:sp>
        <p:nvSpPr>
          <p:cNvPr id="10" name="Shape 7"/>
          <p:cNvSpPr/>
          <p:nvPr/>
        </p:nvSpPr>
        <p:spPr>
          <a:xfrm>
            <a:off x="8641080" y="3840480"/>
            <a:ext cx="2880360" cy="2057400"/>
          </a:xfrm>
          <a:prstGeom prst="roundRect">
            <a:avLst>
              <a:gd name="adj" fmla="val 2667"/>
            </a:avLst>
          </a:prstGeom>
          <a:solidFill>
            <a:srgbClr val="202225"/>
          </a:solidFill>
          <a:ln w="12700">
            <a:solidFill>
              <a:srgbClr val="32363A"/>
            </a:solidFill>
            <a:prstDash val="solid"/>
          </a:ln>
        </p:spPr>
        <p:txBody>
          <a:bodyPr/>
          <a:lstStyle/>
          <a:p>
            <a:endParaRPr lang="en-US"/>
          </a:p>
        </p:txBody>
      </p:sp>
      <p:sp>
        <p:nvSpPr>
          <p:cNvPr id="11" name="Text 8"/>
          <p:cNvSpPr txBox="1"/>
          <p:nvPr/>
        </p:nvSpPr>
        <p:spPr>
          <a:xfrm>
            <a:off x="8869680" y="4023360"/>
            <a:ext cx="2468880" cy="32004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What it does</a:t>
            </a:r>
            <a:endParaRPr lang="en-US" sz="1400" dirty="0"/>
          </a:p>
        </p:txBody>
      </p:sp>
      <p:sp>
        <p:nvSpPr>
          <p:cNvPr id="12" name="Text 9"/>
          <p:cNvSpPr txBox="1"/>
          <p:nvPr/>
        </p:nvSpPr>
        <p:spPr>
          <a:xfrm>
            <a:off x="8869680" y="4416552"/>
            <a:ext cx="2468880" cy="1371600"/>
          </a:xfrm>
          <a:prstGeom prst="rect">
            <a:avLst/>
          </a:prstGeom>
          <a:noFill/>
          <a:ln/>
        </p:spPr>
        <p:txBody>
          <a:bodyPr wrap="square" lIns="0" tIns="0" rIns="0" bIns="0" rtlCol="0" anchor="t"/>
          <a:lstStyle/>
          <a:p>
            <a:pPr marL="0" indent="0">
              <a:buNone/>
            </a:pPr>
            <a:r>
              <a:rPr lang="en-US" sz="1300" dirty="0">
                <a:solidFill>
                  <a:srgbClr val="E9E7E3"/>
                </a:solidFill>
                <a:latin typeface="Arial" pitchFamily="34" charset="0"/>
                <a:ea typeface="Arial" pitchFamily="34" charset="-122"/>
                <a:cs typeface="Arial" pitchFamily="34" charset="-120"/>
              </a:rPr>
              <a:t>Takes the seed at $C9, multiplies, adds a constant too small to matter, swaps the top and bottom bytes, forces the result under 1, writes it back to $C9.</a:t>
            </a:r>
          </a:p>
        </p:txBody>
      </p:sp>
      <p:sp>
        <p:nvSpPr>
          <p:cNvPr id="13" name="TextBox 12"/>
          <p:cNvSpPr txBox="1"/>
          <p:nvPr/>
        </p:nvSpPr>
        <p:spPr>
          <a:xfrm>
            <a:off x="640080" y="5916168"/>
            <a:ext cx="10881360" cy="411480"/>
          </a:xfrm>
          <a:prstGeom prst="rect">
            <a:avLst/>
          </a:prstGeom>
          <a:noFill/>
        </p:spPr>
        <p:txBody>
          <a:bodyPr wrap="square">
            <a:spAutoFit/>
          </a:bodyPr>
          <a:lstStyle/>
          <a:p>
            <a:r>
              <a:rPr sz="1100" b="0">
                <a:solidFill>
                  <a:srgbClr val="9DA39B"/>
                </a:solidFill>
                <a:latin typeface="Arial"/>
              </a:rPr>
              <a:t>II Plus ROM. Comments: Bob Sander-Cederlof (S-C DocuMentor), via Andy McFadden, 6502disassembly.com. Code: Microsoft BASIC M6502.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181A"/>
        </a:solidFill>
        <a:effectLst/>
      </p:bgPr>
    </p:bg>
    <p:spTree>
      <p:nvGrpSpPr>
        <p:cNvPr id="1" name="">
          <a:extLst>
            <a:ext uri="{FF2B5EF4-FFF2-40B4-BE49-F238E27FC236}">
              <a16:creationId xmlns:a16="http://schemas.microsoft.com/office/drawing/2014/main" id="{CC1F5726-C349-6768-6410-497A76FE1D2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1C15018-2CFA-75D3-5FDF-9E3150F93F93}"/>
              </a:ext>
            </a:extLst>
          </p:cNvPr>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a:extLst>
              <a:ext uri="{FF2B5EF4-FFF2-40B4-BE49-F238E27FC236}">
                <a16:creationId xmlns:a16="http://schemas.microsoft.com/office/drawing/2014/main" id="{F46158A9-6D95-E04F-35CC-08070C1AC4EA}"/>
              </a:ext>
            </a:extLst>
          </p:cNvPr>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6</a:t>
            </a:r>
          </a:p>
        </p:txBody>
      </p:sp>
      <p:sp>
        <p:nvSpPr>
          <p:cNvPr id="4" name="Text 2">
            <a:extLst>
              <a:ext uri="{FF2B5EF4-FFF2-40B4-BE49-F238E27FC236}">
                <a16:creationId xmlns:a16="http://schemas.microsoft.com/office/drawing/2014/main" id="{E8D59CB5-8EEC-411E-6243-F8BBD3C1AB25}"/>
              </a:ext>
            </a:extLst>
          </p:cNvPr>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The Applesoft Manual</a:t>
            </a:r>
          </a:p>
        </p:txBody>
      </p:sp>
      <p:sp>
        <p:nvSpPr>
          <p:cNvPr id="5" name="Text 3">
            <a:extLst>
              <a:ext uri="{FF2B5EF4-FFF2-40B4-BE49-F238E27FC236}">
                <a16:creationId xmlns:a16="http://schemas.microsoft.com/office/drawing/2014/main" id="{7F2DCEE7-5C6C-80B2-F13F-61AD06F13FE6}"/>
              </a:ext>
            </a:extLst>
          </p:cNvPr>
          <p:cNvSpPr txBox="1"/>
          <p:nvPr/>
        </p:nvSpPr>
        <p:spPr>
          <a:xfrm>
            <a:off x="640080" y="1115568"/>
            <a:ext cx="10058400" cy="365760"/>
          </a:xfrm>
          <a:prstGeom prst="rect">
            <a:avLst/>
          </a:prstGeom>
          <a:noFill/>
          <a:ln/>
        </p:spPr>
        <p:txBody>
          <a:bodyPr wrap="square" lIns="0" tIns="0" rIns="0" bIns="0" rtlCol="0" anchor="ctr"/>
          <a:lstStyle/>
          <a:p>
            <a:pPr marL="0" indent="0">
              <a:buNone/>
            </a:pPr>
            <a:endParaRPr lang="en-US" sz="1600" dirty="0"/>
          </a:p>
        </p:txBody>
      </p:sp>
      <p:pic>
        <p:nvPicPr>
          <p:cNvPr id="14" name="Picture 13">
            <a:extLst>
              <a:ext uri="{FF2B5EF4-FFF2-40B4-BE49-F238E27FC236}">
                <a16:creationId xmlns:a16="http://schemas.microsoft.com/office/drawing/2014/main" id="{0CDF9C1A-9E16-66DD-4AE2-956690AEF5E8}"/>
              </a:ext>
            </a:extLst>
          </p:cNvPr>
          <p:cNvPicPr>
            <a:picLocks noChangeAspect="1"/>
          </p:cNvPicPr>
          <p:nvPr/>
        </p:nvPicPr>
        <p:blipFill>
          <a:blip r:embed="rId3"/>
          <a:stretch>
            <a:fillRect/>
          </a:stretch>
        </p:blipFill>
        <p:spPr>
          <a:xfrm>
            <a:off x="571124" y="1132648"/>
            <a:ext cx="7561569" cy="669165"/>
          </a:xfrm>
          <a:prstGeom prst="rect">
            <a:avLst/>
          </a:prstGeom>
        </p:spPr>
      </p:pic>
      <p:pic>
        <p:nvPicPr>
          <p:cNvPr id="16" name="Picture 15">
            <a:extLst>
              <a:ext uri="{FF2B5EF4-FFF2-40B4-BE49-F238E27FC236}">
                <a16:creationId xmlns:a16="http://schemas.microsoft.com/office/drawing/2014/main" id="{FEDA7149-B6AA-1D1D-55D2-A9A0583932D7}"/>
              </a:ext>
            </a:extLst>
          </p:cNvPr>
          <p:cNvPicPr>
            <a:picLocks noChangeAspect="1"/>
          </p:cNvPicPr>
          <p:nvPr/>
        </p:nvPicPr>
        <p:blipFill>
          <a:blip r:embed="rId4"/>
          <a:stretch>
            <a:fillRect/>
          </a:stretch>
        </p:blipFill>
        <p:spPr>
          <a:xfrm>
            <a:off x="548582" y="2224781"/>
            <a:ext cx="7645962" cy="580274"/>
          </a:xfrm>
          <a:prstGeom prst="rect">
            <a:avLst/>
          </a:prstGeom>
        </p:spPr>
      </p:pic>
      <p:sp>
        <p:nvSpPr>
          <p:cNvPr id="17" name="Text 2">
            <a:extLst>
              <a:ext uri="{FF2B5EF4-FFF2-40B4-BE49-F238E27FC236}">
                <a16:creationId xmlns:a16="http://schemas.microsoft.com/office/drawing/2014/main" id="{50222E10-53A8-81B4-3915-21D2A28F82C3}"/>
              </a:ext>
            </a:extLst>
          </p:cNvPr>
          <p:cNvSpPr txBox="1"/>
          <p:nvPr/>
        </p:nvSpPr>
        <p:spPr>
          <a:xfrm>
            <a:off x="244548" y="1736915"/>
            <a:ext cx="10058400" cy="685800"/>
          </a:xfrm>
          <a:prstGeom prst="rect">
            <a:avLst/>
          </a:prstGeom>
          <a:noFill/>
          <a:ln/>
        </p:spPr>
        <p:txBody>
          <a:bodyPr wrap="square" lIns="0" tIns="0" rIns="0" bIns="0" rtlCol="0" anchor="ctr"/>
          <a:lstStyle/>
          <a:p>
            <a:pPr marL="0" indent="0">
              <a:buNone/>
            </a:pPr>
            <a:r>
              <a:rPr lang="en-US" sz="1600" b="1" dirty="0">
                <a:solidFill>
                  <a:srgbClr val="E9E7E3"/>
                </a:solidFill>
                <a:latin typeface="Arial" pitchFamily="34" charset="0"/>
                <a:ea typeface="Arial" pitchFamily="34" charset="-122"/>
                <a:cs typeface="Arial" pitchFamily="34" charset="-120"/>
              </a:rPr>
              <a:t>RND(n)</a:t>
            </a:r>
            <a:endParaRPr lang="en-US" sz="1600" dirty="0"/>
          </a:p>
        </p:txBody>
      </p:sp>
      <p:sp>
        <p:nvSpPr>
          <p:cNvPr id="18" name="Text 2">
            <a:extLst>
              <a:ext uri="{FF2B5EF4-FFF2-40B4-BE49-F238E27FC236}">
                <a16:creationId xmlns:a16="http://schemas.microsoft.com/office/drawing/2014/main" id="{4CFF5371-2777-FC7B-B899-7E943AC9F3F0}"/>
              </a:ext>
            </a:extLst>
          </p:cNvPr>
          <p:cNvSpPr txBox="1"/>
          <p:nvPr/>
        </p:nvSpPr>
        <p:spPr>
          <a:xfrm>
            <a:off x="244548" y="2743200"/>
            <a:ext cx="10058400" cy="685800"/>
          </a:xfrm>
          <a:prstGeom prst="rect">
            <a:avLst/>
          </a:prstGeom>
          <a:noFill/>
          <a:ln/>
        </p:spPr>
        <p:txBody>
          <a:bodyPr wrap="square" lIns="0" tIns="0" rIns="0" bIns="0" rtlCol="0" anchor="ctr"/>
          <a:lstStyle/>
          <a:p>
            <a:pPr marL="0" indent="0">
              <a:buNone/>
            </a:pPr>
            <a:r>
              <a:rPr lang="en-US" sz="1600" b="1" dirty="0">
                <a:solidFill>
                  <a:srgbClr val="E9E7E3"/>
                </a:solidFill>
                <a:latin typeface="Arial" pitchFamily="34" charset="0"/>
                <a:ea typeface="Arial" pitchFamily="34" charset="-122"/>
                <a:cs typeface="Arial" pitchFamily="34" charset="-120"/>
              </a:rPr>
              <a:t>RND(-n)</a:t>
            </a:r>
            <a:endParaRPr lang="en-US" sz="1600" dirty="0"/>
          </a:p>
        </p:txBody>
      </p:sp>
      <p:pic>
        <p:nvPicPr>
          <p:cNvPr id="24" name="Picture 23">
            <a:extLst>
              <a:ext uri="{FF2B5EF4-FFF2-40B4-BE49-F238E27FC236}">
                <a16:creationId xmlns:a16="http://schemas.microsoft.com/office/drawing/2014/main" id="{64AF6307-19BD-2FFB-E368-69788C55C266}"/>
              </a:ext>
            </a:extLst>
          </p:cNvPr>
          <p:cNvPicPr>
            <a:picLocks noChangeAspect="1"/>
          </p:cNvPicPr>
          <p:nvPr/>
        </p:nvPicPr>
        <p:blipFill>
          <a:blip r:embed="rId5"/>
          <a:stretch>
            <a:fillRect/>
          </a:stretch>
        </p:blipFill>
        <p:spPr>
          <a:xfrm>
            <a:off x="548580" y="3359351"/>
            <a:ext cx="7645963" cy="1866467"/>
          </a:xfrm>
          <a:prstGeom prst="rect">
            <a:avLst/>
          </a:prstGeom>
        </p:spPr>
      </p:pic>
      <p:sp>
        <p:nvSpPr>
          <p:cNvPr id="25" name="Text 2">
            <a:extLst>
              <a:ext uri="{FF2B5EF4-FFF2-40B4-BE49-F238E27FC236}">
                <a16:creationId xmlns:a16="http://schemas.microsoft.com/office/drawing/2014/main" id="{6B0FCE1F-78B1-0FA7-A06A-9AED4B76CC6D}"/>
              </a:ext>
            </a:extLst>
          </p:cNvPr>
          <p:cNvSpPr txBox="1"/>
          <p:nvPr/>
        </p:nvSpPr>
        <p:spPr>
          <a:xfrm>
            <a:off x="244548" y="5156169"/>
            <a:ext cx="10058400" cy="685800"/>
          </a:xfrm>
          <a:prstGeom prst="rect">
            <a:avLst/>
          </a:prstGeom>
          <a:noFill/>
          <a:ln/>
        </p:spPr>
        <p:txBody>
          <a:bodyPr wrap="square" lIns="0" tIns="0" rIns="0" bIns="0" rtlCol="0" anchor="ctr"/>
          <a:lstStyle/>
          <a:p>
            <a:pPr marL="0" indent="0">
              <a:buNone/>
            </a:pPr>
            <a:r>
              <a:rPr lang="en-US" sz="1600" b="1" dirty="0">
                <a:solidFill>
                  <a:srgbClr val="E9E7E3"/>
                </a:solidFill>
                <a:latin typeface="Arial" pitchFamily="34" charset="0"/>
                <a:ea typeface="Arial" pitchFamily="34" charset="-122"/>
                <a:cs typeface="Arial" pitchFamily="34" charset="-120"/>
              </a:rPr>
              <a:t>RND(0)</a:t>
            </a:r>
            <a:endParaRPr lang="en-US" sz="1600" dirty="0"/>
          </a:p>
        </p:txBody>
      </p:sp>
      <p:pic>
        <p:nvPicPr>
          <p:cNvPr id="27" name="Picture 26">
            <a:extLst>
              <a:ext uri="{FF2B5EF4-FFF2-40B4-BE49-F238E27FC236}">
                <a16:creationId xmlns:a16="http://schemas.microsoft.com/office/drawing/2014/main" id="{0D35BECF-8176-D8D4-940E-F68E11F7E6F4}"/>
              </a:ext>
            </a:extLst>
          </p:cNvPr>
          <p:cNvPicPr>
            <a:picLocks noChangeAspect="1"/>
          </p:cNvPicPr>
          <p:nvPr/>
        </p:nvPicPr>
        <p:blipFill>
          <a:blip r:embed="rId6"/>
          <a:stretch>
            <a:fillRect/>
          </a:stretch>
        </p:blipFill>
        <p:spPr>
          <a:xfrm>
            <a:off x="548580" y="5725352"/>
            <a:ext cx="7645963" cy="925816"/>
          </a:xfrm>
          <a:prstGeom prst="rect">
            <a:avLst/>
          </a:prstGeom>
        </p:spPr>
      </p:pic>
      <p:pic>
        <p:nvPicPr>
          <p:cNvPr id="29" name="Picture 28">
            <a:extLst>
              <a:ext uri="{FF2B5EF4-FFF2-40B4-BE49-F238E27FC236}">
                <a16:creationId xmlns:a16="http://schemas.microsoft.com/office/drawing/2014/main" id="{8FE12990-0DD9-EFA3-EC44-5EF1BF538716}"/>
              </a:ext>
            </a:extLst>
          </p:cNvPr>
          <p:cNvPicPr>
            <a:picLocks noChangeAspect="1"/>
          </p:cNvPicPr>
          <p:nvPr/>
        </p:nvPicPr>
        <p:blipFill>
          <a:blip r:embed="rId7"/>
          <a:stretch>
            <a:fillRect/>
          </a:stretch>
        </p:blipFill>
        <p:spPr>
          <a:xfrm>
            <a:off x="8633518" y="2273618"/>
            <a:ext cx="3009900" cy="482600"/>
          </a:xfrm>
          <a:prstGeom prst="rect">
            <a:avLst/>
          </a:prstGeom>
        </p:spPr>
      </p:pic>
      <p:sp>
        <p:nvSpPr>
          <p:cNvPr id="30" name="TextBox 29"/>
          <p:cNvSpPr txBox="1"/>
          <p:nvPr/>
        </p:nvSpPr>
        <p:spPr>
          <a:xfrm>
            <a:off x="8631936" y="2788920"/>
            <a:ext cx="3108960" cy="365760"/>
          </a:xfrm>
          <a:prstGeom prst="rect">
            <a:avLst/>
          </a:prstGeom>
          <a:noFill/>
        </p:spPr>
        <p:txBody>
          <a:bodyPr wrap="square">
            <a:spAutoFit/>
          </a:bodyPr>
          <a:lstStyle/>
          <a:p>
            <a:r>
              <a:rPr sz="1300" b="0">
                <a:solidFill>
                  <a:srgbClr val="5FCB7E"/>
                </a:solidFill>
                <a:latin typeface="Arial"/>
              </a:rPr>
              <a:t>…starting here, every power-on.</a:t>
            </a:r>
          </a:p>
        </p:txBody>
      </p:sp>
      <p:sp>
        <p:nvSpPr>
          <p:cNvPr id="31" name="Rectangle 30"/>
          <p:cNvSpPr/>
          <p:nvPr/>
        </p:nvSpPr>
        <p:spPr>
          <a:xfrm>
            <a:off x="8631936" y="3566160"/>
            <a:ext cx="3017520" cy="1600200"/>
          </a:xfrm>
          <a:prstGeom prst="rect">
            <a:avLst/>
          </a:prstGeom>
          <a:solidFill>
            <a:srgbClr val="2022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78240" y="3657600"/>
            <a:ext cx="2743200" cy="1417320"/>
          </a:xfrm>
          <a:prstGeom prst="rect">
            <a:avLst/>
          </a:prstGeom>
          <a:noFill/>
        </p:spPr>
        <p:txBody>
          <a:bodyPr wrap="square" anchor="ctr">
            <a:spAutoFit/>
          </a:bodyPr>
          <a:lstStyle/>
          <a:p>
            <a:r>
              <a:rPr sz="1500" b="1">
                <a:solidFill>
                  <a:srgbClr val="E9E7E3"/>
                </a:solidFill>
                <a:latin typeface="Arial"/>
              </a:rPr>
              <a:t>Repeatable on purpose: documented.</a:t>
            </a:r>
          </a:p>
          <a:p>
            <a:r>
              <a:rPr sz="1500" b="1">
                <a:solidFill>
                  <a:srgbClr val="E9E7E3"/>
                </a:solidFill>
                <a:latin typeface="Arial"/>
              </a:rPr>
              <a:t>Repeatable by accident: not.</a:t>
            </a:r>
          </a:p>
        </p:txBody>
      </p:sp>
    </p:spTree>
    <p:extLst>
      <p:ext uri="{BB962C8B-B14F-4D97-AF65-F5344CB8AC3E}">
        <p14:creationId xmlns:p14="http://schemas.microsoft.com/office/powerpoint/2010/main" val="344743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7</a:t>
            </a:r>
            <a:endParaRPr lang="en-US" sz="1600" dirty="0"/>
          </a:p>
        </p:txBody>
      </p:sp>
      <p:sp>
        <p:nvSpPr>
          <p:cNvPr id="4" name="Text 2"/>
          <p:cNvSpPr txBox="1"/>
          <p:nvPr/>
        </p:nvSpPr>
        <p:spPr>
          <a:xfrm>
            <a:off x="640080" y="411480"/>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Found, reported, worked around</a:t>
            </a:r>
          </a:p>
        </p:txBody>
      </p:sp>
      <p:sp>
        <p:nvSpPr>
          <p:cNvPr id="5" name="Text 3"/>
          <p:cNvSpPr txBox="1"/>
          <p:nvPr/>
        </p:nvSpPr>
        <p:spPr>
          <a:xfrm>
            <a:off x="731520" y="1920240"/>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Kaner &amp; Vokey, MICRO 1984</a:t>
            </a:r>
          </a:p>
        </p:txBody>
      </p:sp>
      <p:sp>
        <p:nvSpPr>
          <p:cNvPr id="6" name="Text 4"/>
          <p:cNvSpPr txBox="1"/>
          <p:nvPr/>
        </p:nvSpPr>
        <p:spPr>
          <a:xfrm>
            <a:off x="4754880" y="1920240"/>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Written 1982. RND fell into an endless loop of 202 numbers.</a:t>
            </a:r>
          </a:p>
        </p:txBody>
      </p:sp>
      <p:sp>
        <p:nvSpPr>
          <p:cNvPr id="7" name="Text 5"/>
          <p:cNvSpPr txBox="1"/>
          <p:nvPr/>
        </p:nvSpPr>
        <p:spPr>
          <a:xfrm>
            <a:off x="731520" y="2578608"/>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Call-A.P.P.L.E., Jan 1983</a:t>
            </a:r>
          </a:p>
        </p:txBody>
      </p:sp>
      <p:sp>
        <p:nvSpPr>
          <p:cNvPr id="8" name="Text 6"/>
          <p:cNvSpPr txBox="1"/>
          <p:nvPr/>
        </p:nvSpPr>
        <p:spPr>
          <a:xfrm>
            <a:off x="4754880" y="2578608"/>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“RND is Fatally Flawed,” pp. 29–34.</a:t>
            </a:r>
          </a:p>
        </p:txBody>
      </p:sp>
      <p:sp>
        <p:nvSpPr>
          <p:cNvPr id="9" name="Text 7"/>
          <p:cNvSpPr txBox="1"/>
          <p:nvPr/>
        </p:nvSpPr>
        <p:spPr>
          <a:xfrm>
            <a:off x="731520" y="3236976"/>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Sander-Cederlof, AAL May 1984</a:t>
            </a:r>
          </a:p>
        </p:txBody>
      </p:sp>
      <p:sp>
        <p:nvSpPr>
          <p:cNvPr id="10" name="Text 8"/>
          <p:cNvSpPr txBox="1"/>
          <p:nvPr/>
        </p:nvSpPr>
        <p:spPr>
          <a:xfrm>
            <a:off x="4754880" y="3236976"/>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Seed setup copies 4 of 5 bytes (fix: $F151 $1C→$1D). Repetition starts at the 37,758th number.</a:t>
            </a:r>
          </a:p>
        </p:txBody>
      </p:sp>
      <p:sp>
        <p:nvSpPr>
          <p:cNvPr id="11" name="Text 9"/>
          <p:cNvSpPr txBox="1"/>
          <p:nvPr/>
        </p:nvSpPr>
        <p:spPr>
          <a:xfrm>
            <a:off x="731520" y="3895344"/>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Aldridge, BRMIC 1987</a:t>
            </a:r>
          </a:p>
        </p:txBody>
      </p:sp>
      <p:sp>
        <p:nvSpPr>
          <p:cNvPr id="12" name="Text 10"/>
          <p:cNvSpPr txBox="1"/>
          <p:nvPr/>
        </p:nvSpPr>
        <p:spPr>
          <a:xfrm>
            <a:off x="4754880" y="3895344"/>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A memory experiment gave each day’s first subject the same “random” word list.</a:t>
            </a:r>
          </a:p>
        </p:txBody>
      </p:sp>
      <p:sp>
        <p:nvSpPr>
          <p:cNvPr id="13" name="Text 11"/>
          <p:cNvSpPr txBox="1"/>
          <p:nvPr/>
        </p:nvSpPr>
        <p:spPr>
          <a:xfrm>
            <a:off x="731520" y="4553712"/>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Gleason, 1988</a:t>
            </a:r>
          </a:p>
        </p:txBody>
      </p:sp>
      <p:sp>
        <p:nvSpPr>
          <p:cNvPr id="14" name="Text 12"/>
          <p:cNvSpPr txBox="1"/>
          <p:nvPr/>
        </p:nvSpPr>
        <p:spPr>
          <a:xfrm>
            <a:off x="4754880" y="4553712"/>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Collegiate Microcomputer. Tested Apple IIe RND; suggested seeds that pass.</a:t>
            </a:r>
          </a:p>
        </p:txBody>
      </p:sp>
      <p:sp>
        <p:nvSpPr>
          <p:cNvPr id="15" name="Text 11"/>
          <p:cNvSpPr txBox="1"/>
          <p:nvPr/>
        </p:nvSpPr>
        <p:spPr>
          <a:xfrm>
            <a:off x="731520" y="5212080"/>
            <a:ext cx="3931920" cy="365760"/>
          </a:xfrm>
          <a:prstGeom prst="rect">
            <a:avLst/>
          </a:prstGeom>
          <a:noFill/>
          <a:ln/>
        </p:spPr>
        <p:txBody>
          <a:bodyPr wrap="square" lIns="0" tIns="0" rIns="0" bIns="0" rtlCol="0" anchor="ctr"/>
          <a:lstStyle/>
          <a:p>
            <a:pPr marL="0" indent="0">
              <a:buNone/>
            </a:pPr>
            <a:r>
              <a:rPr lang="en-US" sz="1400" b="1" dirty="0">
                <a:solidFill>
                  <a:srgbClr val="5FCB7E"/>
                </a:solidFill>
                <a:latin typeface="Arial" pitchFamily="34" charset="0"/>
                <a:ea typeface="Arial" pitchFamily="34" charset="-122"/>
                <a:cs typeface="Arial" pitchFamily="34" charset="-120"/>
              </a:rPr>
              <a:t>Empson, GS WorldView 1999</a:t>
            </a:r>
          </a:p>
        </p:txBody>
      </p:sp>
      <p:sp>
        <p:nvSpPr>
          <p:cNvPr id="16" name="Text 12"/>
          <p:cNvSpPr txBox="1"/>
          <p:nvPr/>
        </p:nvSpPr>
        <p:spPr>
          <a:xfrm>
            <a:off x="4754880" y="5212080"/>
            <a:ext cx="6766560" cy="411480"/>
          </a:xfrm>
          <a:prstGeom prst="rect">
            <a:avLst/>
          </a:prstGeom>
          <a:noFill/>
          <a:ln/>
        </p:spPr>
        <p:txBody>
          <a:bodyPr wrap="square" lIns="0" tIns="0" rIns="0" bIns="0" rtlCol="0" anchor="t"/>
          <a:lstStyle/>
          <a:p>
            <a:pPr marL="0" indent="0">
              <a:buNone/>
            </a:pPr>
            <a:r>
              <a:rPr lang="en-US" sz="1400" dirty="0">
                <a:solidFill>
                  <a:srgbClr val="9DA39B"/>
                </a:solidFill>
                <a:latin typeface="Arial" pitchFamily="34" charset="0"/>
                <a:ea typeface="Arial" pitchFamily="34" charset="-122"/>
                <a:cs typeface="Arial" pitchFamily="34" charset="-120"/>
              </a:rPr>
              <a:t>Write-up of Robert Moore's 1989 shift-register generator, seeded from $4E/$4F.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81A"/>
        </a:solidFill>
        <a:effectLst/>
      </p:bgPr>
    </p:bg>
    <p:spTree>
      <p:nvGrpSpPr>
        <p:cNvPr id="1" name=""/>
        <p:cNvGrpSpPr/>
        <p:nvPr/>
      </p:nvGrpSpPr>
      <p:grpSpPr>
        <a:xfrm>
          <a:off x="0" y="0"/>
          <a:ext cx="0" cy="0"/>
          <a:chOff x="0" y="0"/>
          <a:chExt cx="0" cy="0"/>
        </a:xfrm>
      </p:grpSpPr>
      <p:sp>
        <p:nvSpPr>
          <p:cNvPr id="2"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3"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8</a:t>
            </a:r>
          </a:p>
        </p:txBody>
      </p:sp>
      <p:sp>
        <p:nvSpPr>
          <p:cNvPr id="4" name="Text 2"/>
          <p:cNvSpPr txBox="1"/>
          <p:nvPr/>
        </p:nvSpPr>
        <p:spPr>
          <a:xfrm>
            <a:off x="474134" y="384048"/>
            <a:ext cx="10058400" cy="685800"/>
          </a:xfrm>
          <a:prstGeom prst="rect">
            <a:avLst/>
          </a:prstGeom>
          <a:noFill/>
          <a:ln/>
        </p:spPr>
        <p:txBody>
          <a:bodyPr wrap="square" lIns="0" tIns="0" rIns="0" bIns="0" rtlCol="0" anchor="ctr"/>
          <a:lstStyle/>
          <a:p>
            <a:pPr marL="0" indent="0">
              <a:buNone/>
            </a:pPr>
            <a:r>
              <a:rPr lang="en-US" sz="3400" b="1" dirty="0">
                <a:solidFill>
                  <a:srgbClr val="E9E7E3"/>
                </a:solidFill>
                <a:latin typeface="Arial" pitchFamily="34" charset="0"/>
                <a:ea typeface="Arial" pitchFamily="34" charset="-122"/>
                <a:cs typeface="Arial" pitchFamily="34" charset="-120"/>
              </a:rPr>
              <a:t>The Fix: Put the Counter Back</a:t>
            </a:r>
          </a:p>
        </p:txBody>
      </p:sp>
      <p:sp>
        <p:nvSpPr>
          <p:cNvPr id="19" name="TextBox 18">
            <a:extLst>
              <a:ext uri="{FF2B5EF4-FFF2-40B4-BE49-F238E27FC236}">
                <a16:creationId xmlns:a16="http://schemas.microsoft.com/office/drawing/2014/main" id="{8462916D-E1EA-BBD6-2BC9-975C565E3736}"/>
              </a:ext>
            </a:extLst>
          </p:cNvPr>
          <p:cNvSpPr txBox="1"/>
          <p:nvPr/>
        </p:nvSpPr>
        <p:spPr>
          <a:xfrm>
            <a:off x="550334" y="1670728"/>
            <a:ext cx="6096000" cy="2923877"/>
          </a:xfrm>
          <a:prstGeom prst="rect">
            <a:avLst/>
          </a:prstGeom>
          <a:noFill/>
        </p:spPr>
        <p:txBody>
          <a:bodyPr wrap="square">
            <a:spAutoFit/>
          </a:bodyPr>
          <a:lstStyle/>
          <a:p>
            <a:pPr marL="342900" lvl="0" indent="-342900" algn="l">
              <a:spcAft>
                <a:spcPts val="1200"/>
              </a:spcAft>
              <a:buFont typeface="+mj-lt"/>
              <a:buAutoNum type="arabicPeriod"/>
            </a:pPr>
            <a:r>
              <a:rPr lang="en-US" sz="1800" b="0" i="0" dirty="0">
                <a:solidFill>
                  <a:schemeClr val="bg1">
                    <a:lumMod val="95000"/>
                  </a:schemeClr>
                </a:solidFill>
                <a:effectLst/>
                <a:latin typeface="+mn-lt"/>
              </a:rPr>
              <a:t>Enables language card write mode while keeping ROM readable</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Copies $D000-$FFFF (all of Applesoft and the monitor ROM) from ROM to LC RAM</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Writes the patch code into the LC at $F5CB, over HFIND (53 bytes), which no Applesoft routine calls.</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Writes JMP $F5CB at $EFAE in the LC copy</a:t>
            </a:r>
          </a:p>
          <a:p>
            <a:pPr marL="342900" lvl="0" indent="-342900" algn="l">
              <a:spcAft>
                <a:spcPts val="1200"/>
              </a:spcAft>
              <a:buFont typeface="+mj-lt"/>
              <a:buAutoNum type="arabicPeriod"/>
            </a:pPr>
            <a:r>
              <a:rPr lang="en-US" sz="1800" b="0" i="0" dirty="0">
                <a:solidFill>
                  <a:schemeClr val="bg1">
                    <a:lumMod val="95000"/>
                  </a:schemeClr>
                </a:solidFill>
                <a:effectLst/>
                <a:latin typeface="+mn-lt"/>
              </a:rPr>
              <a:t>Switches the language card to read mode</a:t>
            </a:r>
            <a:endParaRPr lang="en-US" sz="1800" b="0" i="0" dirty="0">
              <a:solidFill>
                <a:schemeClr val="bg1">
                  <a:lumMod val="95000"/>
                </a:schemeClr>
              </a:solidFill>
              <a:effectLst/>
              <a:latin typeface="-apple-system"/>
            </a:endParaRPr>
          </a:p>
        </p:txBody>
      </p:sp>
      <p:sp>
        <p:nvSpPr>
          <p:cNvPr id="20" name="TextBox 19">
            <a:extLst>
              <a:ext uri="{FF2B5EF4-FFF2-40B4-BE49-F238E27FC236}">
                <a16:creationId xmlns:a16="http://schemas.microsoft.com/office/drawing/2014/main" id="{47DE3E91-E1F4-1BB1-C9E1-DE19C1DF1B89}"/>
              </a:ext>
            </a:extLst>
          </p:cNvPr>
          <p:cNvSpPr txBox="1"/>
          <p:nvPr/>
        </p:nvSpPr>
        <p:spPr>
          <a:xfrm>
            <a:off x="474134" y="1199338"/>
            <a:ext cx="6096000" cy="369332"/>
          </a:xfrm>
          <a:prstGeom prst="rect">
            <a:avLst/>
          </a:prstGeom>
          <a:noFill/>
        </p:spPr>
        <p:txBody>
          <a:bodyPr wrap="square">
            <a:spAutoFit/>
          </a:bodyPr>
          <a:lstStyle/>
          <a:p>
            <a:pPr lvl="0" algn="l">
              <a:spcAft>
                <a:spcPts val="1200"/>
              </a:spcAft>
            </a:pPr>
            <a:r>
              <a:rPr lang="en-US" u="sng" dirty="0" err="1">
                <a:solidFill>
                  <a:schemeClr val="bg1">
                    <a:lumMod val="95000"/>
                  </a:schemeClr>
                </a:solidFill>
              </a:rPr>
              <a:t>LC_Loader.bin</a:t>
            </a:r>
            <a:endParaRPr lang="en-US" sz="1800" b="0" i="0" u="sng" dirty="0">
              <a:solidFill>
                <a:schemeClr val="bg1">
                  <a:lumMod val="95000"/>
                </a:schemeClr>
              </a:solidFill>
              <a:effectLst/>
              <a:latin typeface="-apple-system"/>
            </a:endParaRPr>
          </a:p>
        </p:txBody>
      </p:sp>
      <p:sp>
        <p:nvSpPr>
          <p:cNvPr id="21" name="TextBox 20">
            <a:extLst>
              <a:ext uri="{FF2B5EF4-FFF2-40B4-BE49-F238E27FC236}">
                <a16:creationId xmlns:a16="http://schemas.microsoft.com/office/drawing/2014/main" id="{F7C4D2C5-364A-3040-A75E-4943A29F9D4B}"/>
              </a:ext>
            </a:extLst>
          </p:cNvPr>
          <p:cNvSpPr txBox="1"/>
          <p:nvPr/>
        </p:nvSpPr>
        <p:spPr>
          <a:xfrm>
            <a:off x="474134" y="4734467"/>
            <a:ext cx="6096000" cy="369332"/>
          </a:xfrm>
          <a:prstGeom prst="rect">
            <a:avLst/>
          </a:prstGeom>
          <a:noFill/>
        </p:spPr>
        <p:txBody>
          <a:bodyPr wrap="square">
            <a:spAutoFit/>
          </a:bodyPr>
          <a:lstStyle/>
          <a:p>
            <a:pPr lvl="0" algn="l">
              <a:spcAft>
                <a:spcPts val="1200"/>
              </a:spcAft>
            </a:pPr>
            <a:r>
              <a:rPr lang="en-US" u="sng" dirty="0" err="1">
                <a:solidFill>
                  <a:schemeClr val="bg1">
                    <a:lumMod val="95000"/>
                  </a:schemeClr>
                </a:solidFill>
              </a:rPr>
              <a:t>Patch_lc.bin</a:t>
            </a:r>
            <a:endParaRPr lang="en-US" u="sng" dirty="0">
              <a:solidFill>
                <a:schemeClr val="bg1">
                  <a:lumMod val="95000"/>
                </a:schemeClr>
              </a:solidFill>
            </a:endParaRPr>
          </a:p>
        </p:txBody>
      </p:sp>
      <p:sp>
        <p:nvSpPr>
          <p:cNvPr id="24" name="TextBox 23">
            <a:extLst>
              <a:ext uri="{FF2B5EF4-FFF2-40B4-BE49-F238E27FC236}">
                <a16:creationId xmlns:a16="http://schemas.microsoft.com/office/drawing/2014/main" id="{661F91C8-80F1-851F-01AA-8E6CC3C15F25}"/>
              </a:ext>
            </a:extLst>
          </p:cNvPr>
          <p:cNvSpPr txBox="1"/>
          <p:nvPr/>
        </p:nvSpPr>
        <p:spPr>
          <a:xfrm>
            <a:off x="474134" y="5137665"/>
            <a:ext cx="6096000" cy="646331"/>
          </a:xfrm>
          <a:prstGeom prst="rect">
            <a:avLst/>
          </a:prstGeom>
          <a:noFill/>
        </p:spPr>
        <p:txBody>
          <a:bodyPr wrap="square">
            <a:spAutoFit/>
          </a:bodyPr>
          <a:lstStyle/>
          <a:p>
            <a:pPr lvl="0" algn="l">
              <a:spcAft>
                <a:spcPts val="1200"/>
              </a:spcAft>
            </a:pPr>
            <a:r>
              <a:rPr lang="en-US" dirty="0">
                <a:solidFill>
                  <a:schemeClr val="bg1">
                    <a:lumMod val="95000"/>
                  </a:schemeClr>
                </a:solidFill>
              </a:rPr>
              <a:t>Keeps RND(−n) and RND(0) working as documented; positive arguments draw on the KEYIN counter.</a:t>
            </a:r>
          </a:p>
          <a:p>
            <a:pPr lvl="0" algn="l">
              <a:spcAft>
                <a:spcPts val="1200"/>
              </a:spcAft>
            </a:pPr>
            <a:r>
              <a:rPr lang="en-US" dirty="0">
                <a:solidFill>
                  <a:schemeClr val="bg1">
                    <a:lumMod val="95000"/>
                  </a:schemeClr>
                </a:solidFill>
              </a:rPr>
              <a:t>Fixes the seed, not the generator. Needs a language card.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7181A"/>
        </a:solidFill>
        <a:effectLst/>
      </p:bgPr>
    </p:bg>
    <p:spTree>
      <p:nvGrpSpPr>
        <p:cNvPr id="1" name=""/>
        <p:cNvGrpSpPr/>
        <p:nvPr/>
      </p:nvGrpSpPr>
      <p:grpSpPr>
        <a:xfrm>
          <a:off x="0" y="0"/>
          <a:ext cx="0" cy="0"/>
          <a:chOff x="0" y="0"/>
          <a:chExt cx="0" cy="0"/>
        </a:xfrm>
      </p:grpSpPr>
      <p:sp>
        <p:nvSpPr>
          <p:cNvPr id="2" name="Text 0"/>
          <p:cNvSpPr txBox="1"/>
          <p:nvPr/>
        </p:nvSpPr>
        <p:spPr>
          <a:xfrm>
            <a:off x="822960" y="2286000"/>
            <a:ext cx="10515600" cy="731520"/>
          </a:xfrm>
          <a:prstGeom prst="rect">
            <a:avLst/>
          </a:prstGeom>
          <a:noFill/>
          <a:ln/>
        </p:spPr>
        <p:txBody>
          <a:bodyPr wrap="square" lIns="0" tIns="0" rIns="0" bIns="0" rtlCol="0" anchor="ctr"/>
          <a:lstStyle/>
          <a:p>
            <a:pPr marL="0" indent="0">
              <a:buNone/>
            </a:pPr>
            <a:r>
              <a:rPr lang="en-US" sz="4400" b="1" dirty="0">
                <a:solidFill>
                  <a:srgbClr val="E9E7E3"/>
                </a:solidFill>
                <a:latin typeface="Arial" pitchFamily="34" charset="0"/>
                <a:ea typeface="Arial" pitchFamily="34" charset="-122"/>
                <a:cs typeface="Arial" pitchFamily="34" charset="-120"/>
              </a:rPr>
              <a:t>Try it yourself</a:t>
            </a:r>
            <a:endParaRPr lang="en-US" sz="4400" dirty="0"/>
          </a:p>
        </p:txBody>
      </p:sp>
      <p:sp>
        <p:nvSpPr>
          <p:cNvPr id="3" name="Shape 1"/>
          <p:cNvSpPr/>
          <p:nvPr/>
        </p:nvSpPr>
        <p:spPr>
          <a:xfrm>
            <a:off x="841248" y="3200400"/>
            <a:ext cx="1463040" cy="27432"/>
          </a:xfrm>
          <a:prstGeom prst="rect">
            <a:avLst/>
          </a:prstGeom>
          <a:solidFill>
            <a:srgbClr val="5FCB7E"/>
          </a:solidFill>
          <a:ln/>
        </p:spPr>
        <p:txBody>
          <a:bodyPr/>
          <a:lstStyle/>
          <a:p>
            <a:endParaRPr lang="en-US"/>
          </a:p>
        </p:txBody>
      </p:sp>
      <p:sp>
        <p:nvSpPr>
          <p:cNvPr id="5" name="Text 3"/>
          <p:cNvSpPr txBox="1"/>
          <p:nvPr/>
        </p:nvSpPr>
        <p:spPr>
          <a:xfrm>
            <a:off x="822960" y="5394960"/>
            <a:ext cx="10515600" cy="365760"/>
          </a:xfrm>
          <a:prstGeom prst="rect">
            <a:avLst/>
          </a:prstGeom>
          <a:noFill/>
          <a:ln/>
        </p:spPr>
        <p:txBody>
          <a:bodyPr wrap="square" lIns="0" tIns="0" rIns="0" bIns="0" rtlCol="0" anchor="ctr"/>
          <a:lstStyle/>
          <a:p>
            <a:pPr marL="0" indent="0">
              <a:buNone/>
            </a:pPr>
            <a:r>
              <a:rPr lang="en-US" sz="1500" dirty="0">
                <a:solidFill>
                  <a:srgbClr val="9DA39B"/>
                </a:solidFill>
                <a:latin typeface="Arial" pitchFamily="34" charset="0"/>
                <a:ea typeface="Arial" pitchFamily="34" charset="-122"/>
                <a:cs typeface="Arial" pitchFamily="34" charset="-120"/>
              </a:rPr>
              <a:t>Jeff Robison   ·   VCF Midwest 21 2026</a:t>
            </a:r>
            <a:endParaRPr lang="en-US" sz="1500" dirty="0"/>
          </a:p>
        </p:txBody>
      </p:sp>
      <p:sp>
        <p:nvSpPr>
          <p:cNvPr id="6" name="Shape 0"/>
          <p:cNvSpPr/>
          <p:nvPr/>
        </p:nvSpPr>
        <p:spPr>
          <a:xfrm>
            <a:off x="10927080" y="384048"/>
            <a:ext cx="566928" cy="566928"/>
          </a:xfrm>
          <a:prstGeom prst="ellipse">
            <a:avLst/>
          </a:prstGeom>
          <a:solidFill>
            <a:srgbClr val="202225"/>
          </a:solidFill>
          <a:ln w="12700">
            <a:solidFill>
              <a:srgbClr val="5FCB7E"/>
            </a:solidFill>
            <a:prstDash val="solid"/>
          </a:ln>
        </p:spPr>
        <p:txBody>
          <a:bodyPr/>
          <a:lstStyle/>
          <a:p>
            <a:endParaRPr lang="en-US"/>
          </a:p>
        </p:txBody>
      </p:sp>
      <p:sp>
        <p:nvSpPr>
          <p:cNvPr id="7" name="Text 1"/>
          <p:cNvSpPr txBox="1"/>
          <p:nvPr/>
        </p:nvSpPr>
        <p:spPr>
          <a:xfrm>
            <a:off x="10927080" y="384048"/>
            <a:ext cx="566928" cy="566928"/>
          </a:xfrm>
          <a:prstGeom prst="rect">
            <a:avLst/>
          </a:prstGeom>
          <a:noFill/>
          <a:ln/>
        </p:spPr>
        <p:txBody>
          <a:bodyPr wrap="square" lIns="0" tIns="0" rIns="0" bIns="0" rtlCol="0" anchor="ctr"/>
          <a:lstStyle/>
          <a:p>
            <a:pPr marL="0" indent="0" algn="ctr">
              <a:buNone/>
            </a:pPr>
            <a:r>
              <a:rPr lang="en-US" sz="1600" b="1" dirty="0">
                <a:solidFill>
                  <a:srgbClr val="5FCB7E"/>
                </a:solidFill>
                <a:latin typeface="Courier New" pitchFamily="34" charset="0"/>
                <a:ea typeface="Courier New" pitchFamily="34" charset="-122"/>
                <a:cs typeface="Courier New" pitchFamily="34" charset="-120"/>
              </a:rPr>
              <a:t>9</a:t>
            </a:r>
          </a:p>
        </p:txBody>
      </p:sp>
      <p:sp>
        <p:nvSpPr>
          <p:cNvPr id="8" name="TextBox 7"/>
          <p:cNvSpPr txBox="1"/>
          <p:nvPr/>
        </p:nvSpPr>
        <p:spPr>
          <a:xfrm>
            <a:off x="822960" y="685800"/>
            <a:ext cx="9692640" cy="1417320"/>
          </a:xfrm>
          <a:prstGeom prst="rect">
            <a:avLst/>
          </a:prstGeom>
          <a:noFill/>
        </p:spPr>
        <p:txBody>
          <a:bodyPr wrap="square">
            <a:spAutoFit/>
          </a:bodyPr>
          <a:lstStyle/>
          <a:p>
            <a:r>
              <a:rPr sz="1800" b="0">
                <a:solidFill>
                  <a:srgbClr val="E9E7E3"/>
                </a:solidFill>
                <a:latin typeface="Arial"/>
              </a:rPr>
              <a:t>1977: Integer BASIC seeded RND from you. Then Applesoft seeded it from ROM.</a:t>
            </a:r>
          </a:p>
          <a:p>
            <a:r>
              <a:rPr sz="1800" b="0">
                <a:solidFill>
                  <a:srgbClr val="E9E7E3"/>
                </a:solidFill>
                <a:latin typeface="Arial"/>
              </a:rPr>
              <a:t>It hid for years: rerun looked random; only power-on repeated.</a:t>
            </a:r>
          </a:p>
          <a:p>
            <a:r>
              <a:rPr sz="1800" b="0">
                <a:solidFill>
                  <a:srgbClr val="E9E7E3"/>
                </a:solidFill>
                <a:latin typeface="Arial"/>
              </a:rPr>
              <a:t>The fix puts the counter back without changing a single program.</a:t>
            </a:r>
          </a:p>
        </p:txBody>
      </p:sp>
      <p:sp>
        <p:nvSpPr>
          <p:cNvPr id="9" name="TextBox 8"/>
          <p:cNvSpPr txBox="1"/>
          <p:nvPr/>
        </p:nvSpPr>
        <p:spPr>
          <a:xfrm>
            <a:off x="822960" y="3474720"/>
            <a:ext cx="7863840" cy="457200"/>
          </a:xfrm>
          <a:prstGeom prst="rect">
            <a:avLst/>
          </a:prstGeom>
          <a:noFill/>
        </p:spPr>
        <p:txBody>
          <a:bodyPr wrap="square">
            <a:spAutoFit/>
          </a:bodyPr>
          <a:lstStyle/>
          <a:p>
            <a:r>
              <a:rPr sz="2000" b="0">
                <a:solidFill>
                  <a:srgbClr val="E0A73E"/>
                </a:solidFill>
                <a:latin typeface="Courier New"/>
              </a:rPr>
              <a:t>[ URL: Jeff to supply ]</a:t>
            </a:r>
          </a:p>
        </p:txBody>
      </p:sp>
      <p:sp>
        <p:nvSpPr>
          <p:cNvPr id="10" name="Rectangle 9"/>
          <p:cNvSpPr/>
          <p:nvPr/>
        </p:nvSpPr>
        <p:spPr>
          <a:xfrm>
            <a:off x="9418320" y="3291840"/>
            <a:ext cx="1828800" cy="1828800"/>
          </a:xfrm>
          <a:prstGeom prst="rect">
            <a:avLst/>
          </a:prstGeom>
          <a:solidFill>
            <a:srgbClr val="202225"/>
          </a:solidFill>
          <a:ln w="19050">
            <a:solidFill>
              <a:srgbClr val="E0A7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0" y="3291840"/>
            <a:ext cx="1828800" cy="1828800"/>
          </a:xfrm>
          <a:prstGeom prst="rect">
            <a:avLst/>
          </a:prstGeom>
          <a:noFill/>
        </p:spPr>
        <p:txBody>
          <a:bodyPr wrap="square" anchor="ctr">
            <a:spAutoFit/>
          </a:bodyPr>
          <a:lstStyle/>
          <a:p>
            <a:pPr algn="ctr"/>
            <a:r>
              <a:rPr sz="1300" b="0">
                <a:solidFill>
                  <a:srgbClr val="E0A73E"/>
                </a:solidFill>
                <a:latin typeface="Arial"/>
              </a:rPr>
              <a:t>QR</a:t>
            </a:r>
          </a:p>
          <a:p>
            <a:pPr algn="ctr"/>
            <a:r>
              <a:rPr sz="1300" b="0">
                <a:solidFill>
                  <a:srgbClr val="E0A73E"/>
                </a:solidFill>
                <a:latin typeface="Arial"/>
              </a:rPr>
              <a:t>Jeff to supply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TotalTime>
  <Words>1104</Words>
  <Application>Microsoft Macintosh PowerPoint</Application>
  <PresentationFormat>Widescreen</PresentationFormat>
  <Paragraphs>88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-apple-system</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Applesoft's Loaded Dice</dc:title>
  <dc:subject>The Truth About Randomness on the Apple II, Then and Now</dc:subject>
  <dc:creator>PptxGenJS</dc:creator>
  <cp:lastModifiedBy>Jeff Robison</cp:lastModifiedBy>
  <cp:revision>2</cp:revision>
  <dcterms:created xsi:type="dcterms:W3CDTF">2026-09-12T23:48:10Z</dcterms:created>
  <dcterms:modified xsi:type="dcterms:W3CDTF">2026-09-13T03:24:31Z</dcterms:modified>
  <dc:description>Proposed edits for Jeff Robison to review. See EDIT_LOG.md.</dc:description>
</cp:coreProperties>
</file>