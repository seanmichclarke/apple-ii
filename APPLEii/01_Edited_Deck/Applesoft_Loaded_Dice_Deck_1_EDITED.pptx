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8" r:id="rId3"/>
    <p:sldId id="257" r:id="rId4"/>
    <p:sldId id="258" r:id="rId5"/>
    <p:sldId id="259" r:id="rId6"/>
    <p:sldId id="260" r:id="rId7"/>
    <p:sldId id="269" r:id="rId8"/>
    <p:sldId id="262" r:id="rId9"/>
    <p:sldId id="264"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CC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4659"/>
  </p:normalViewPr>
  <p:slideViewPr>
    <p:cSldViewPr snapToGrid="0" snapToObjects="1">
      <p:cViewPr varScale="1">
        <p:scale>
          <a:sx n="151" d="100"/>
          <a:sy n="151"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04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Name and title. Fifteen seconds. No bio slide.</a:t>
            </a:r>
          </a:p>
          <a:p/>
          <a:p>
            <a:r>
              <a:t>BEFORE THIS SLIDE: power-cycle the machine (power switch off, wait, power on), then PRINT RND(1). Do it three times. Do NOT use Ctrl-RESET or PR#6: they keep the fifth seed byte from the last run, so the number changes (Aldridge 1987; Sander-Cederlof, AAL May 1984).</a:t>
            </a:r>
          </a:p>
          <a:p/>
          <a:p>
            <a:r>
              <a:t>Rehearse on the exact machine you are bringing. Your machine may not print .973136996. What matters is that it prints the same number every power-on.</a:t>
            </a:r>
          </a:p>
          <a:p/>
          <a:p>
            <a:r>
              <a:t>Applesoft is Microsoft's 6502 BASIC, licensed by Apple. Keep that in mind; it matters on slide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9F98-C012-E888-0FA0-197278B6A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ED7CD-8601-33AC-0A84-77F857D8F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20D95-284C-D416-1373-8A5C81B78698}"/>
              </a:ext>
            </a:extLst>
          </p:cNvPr>
          <p:cNvSpPr>
            <a:spLocks noGrp="1"/>
          </p:cNvSpPr>
          <p:nvPr>
            <p:ph type="body" idx="1"/>
          </p:nvPr>
        </p:nvSpPr>
        <p:spPr/>
        <p:txBody>
          <a:bodyPr/>
          <a:lstStyle/>
          <a:p>
            <a:r>
              <a:t>This is the number they just watched three times. Don't explain it yet. "Hold onto that number. By slide 5 you'll know exactly where it lives."</a:t>
            </a:r>
          </a:p>
          <a:p/>
          <a:p>
            <a:r>
              <a:t>Why it hid for years: rerunning a program, or even rebooting DOS, gives different numbers. Only a power cycle repeats. A programmer at a desk never sees it; the first user of the day does.</a:t>
            </a:r>
          </a:p>
          <a:p/>
          <a:p>
            <a:r>
              <a:t>If someone says their machine gives a different number: one of the five seed bytes is never initialized (Sander-Cederlof, AAL May 1984), so the exact value can vary by machine. It is still the same on every power-on of that machine.</a:t>
            </a:r>
          </a:p>
        </p:txBody>
      </p:sp>
      <p:sp>
        <p:nvSpPr>
          <p:cNvPr id="4" name="Slide Number Placeholder 3">
            <a:extLst>
              <a:ext uri="{FF2B5EF4-FFF2-40B4-BE49-F238E27FC236}">
                <a16:creationId xmlns:a16="http://schemas.microsoft.com/office/drawing/2014/main" id="{377AA7C3-2AAC-91DD-74CA-DAC4C814774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25109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Thirty seconds. This room knows what a PRNG is.</a:t>
            </a:r>
          </a:p>
          <a:p/>
          <a:p>
            <a:r>
              <a:t>The only line that matters is the amber one: same starting number, same numbers. Integer BASIC (next slide) depends on it.</a:t>
            </a:r>
          </a:p>
          <a:p/>
          <a:p>
            <a:r>
              <a:t>If asked: a random seed makes the starting point unpredictable. It does not make a weak generator's output pattern-free. This talk is mostly about the seed.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out loud that $4E/$4F is not a jiffy clock. That's a Commodore term. The Apple II has no timer doing this.</a:t>
            </a:r>
          </a:p>
          <a:p/>
          <a:p>
            <a:r>
              <a:t>Speaker line: "This isn't a toy. It's a 15-bit maximal shift register with a zero-lock guard, in 50 hand-assembled bytes." The whole Integer BASIC RNG is 56 bytes: 6 in KEYIN, 50 in RND, in an 8K ROM that couldn't even fit the hi-res routines.</a:t>
            </a:r>
          </a:p>
          <a:p/>
          <a:p>
            <a:r>
              <a:t>Concede it before someone else does: every Integer BASIC program walks the same 32,767-step cycle; the keypress only picks where you start. Good for games, not for statistics.</a:t>
            </a:r>
          </a:p>
          <a:p/>
          <a:p>
            <a:r>
              <a:t>Don't make the regression argument yet. Just show what worked.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left side first. Point at the bne going back to KEYIN. That's the whole entropy source.</a:t>
            </a:r>
          </a:p>
          <a:p/>
          <a:p>
            <a:r>
              <a:t>The counter gets bumped before the keyboard is read, every pass. It's a loop count, not a keystroke count. The loop is 15 CPU cycles, so about 68,000 counts a second; the 16-bit counter wraps roughly once a second.</a:t>
            </a:r>
          </a:p>
          <a:p/>
          <a:p>
            <a:r>
              <a:t>It only moves while a KEYIN-style routine waits for a key. A game that polls $C000 directly never stirs it.</a:t>
            </a:r>
          </a:p>
          <a:p/>
          <a:p>
            <a:r>
              <a:t>Then the right side, in one line: the second thing Integer BASIC's RND does is read $4E. Same counter in the Autostart ROM, the IIe and the IIc; links are on the slide. Don't walk each image.</a:t>
            </a:r>
          </a:p>
          <a:p/>
          <a:p>
            <a:r>
              <a:t>Sources: 6502disassembly.com OrigF8ROM and IntegerBASIC. The monitor listing credits S. Wozniak and A. Baum. Woz wrote Integer BASIC with no assembler, so there is no original source, only hand-written pages. The disassembly is Paul Santa-Maria's work, converted by Andy McFadden.</a:t>
            </a:r>
          </a:p>
          <a:p/>
          <a:p>
            <a:r>
              <a:t>Only claim the ROMs shown. If asked about the IIgs or later IIc ROMs: not checked.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 thing. Twenty-eight instructions.</a:t>
            </a:r>
          </a:p>
          <a:p/>
          <a:p>
            <a:r>
              <a:t>Point at the top: the seed comes from $C9, which got four of its five bytes from ROM at power-on. Point at the bottom: the answer goes back to $C9. Nothing else feeds it.</a:t>
            </a:r>
          </a:p>
          <a:p/>
          <a:p>
            <a:r>
              <a:t>Read the comments aloud: "very poor RND algorithm", "this does nothing, due to small exponent". Say whose they are: Bob Sander-Cederlof's annotations, not Microsoft's source. (The add isn't literally nothing: emulated, it changed 5 of 57,021 steps. "Lost to precision" is safe.)</a:t>
            </a:r>
          </a:p>
          <a:p/>
          <a:p>
            <a:r>
              <a:t>This is Applesoft II as it sits in the ][+ ROM (1979) and the IIe ROMs, byte-identical. If asked about the 1978 cassette version: not checked.</a:t>
            </a:r>
          </a:p>
          <a:p/>
          <a:p>
            <a:r>
              <a:t>Microsoft's source had two RNDs: the Commodore build read hardware timers for RND(0); every other target, including Apple, got this fixed-seed one. Apple edited the very loop that loads the seed and never connected the counter. Say "nobody connected it", not "nobody knew".</a:t>
            </a:r>
          </a:p>
          <a:p/>
          <a:p>
            <a:r>
              <a:t>If someone wants the source: McFadden's disassembly at 6502disassembly.com, and Microsoft's own BASIC-M6502 source release.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4C7C1-4FB0-4895-7D2A-C9D953E17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F11C9-1794-700A-93A3-08768418D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6496A-8BC9-7FEF-D071-CDC4B5DF17CC}"/>
              </a:ext>
            </a:extLst>
          </p:cNvPr>
          <p:cNvSpPr>
            <a:spLocks noGrp="1"/>
          </p:cNvSpPr>
          <p:nvPr>
            <p:ph type="body" idx="1"/>
          </p:nvPr>
        </p:nvSpPr>
        <p:spPr/>
        <p:txBody>
          <a:bodyPr/>
          <a:lstStyle/>
          <a:p>
            <a:r>
              <a:t>Read the RND(n) line aloud: "generates a new random number each time it is used." True. It just never tells you the sequence starts in the same place every power-on.</a:t>
            </a:r>
          </a:p>
          <a:p/>
          <a:p>
            <a:r>
              <a:t>RND(-n): Apple documents repeatability as a feature, for debugging.</a:t>
            </a:r>
          </a:p>
          <a:p/>
          <a:p>
            <a:r>
              <a:t>The manual tells you how to get the same sequence on purpose. It never tells you you're getting it by accident. Aldridge's word for this, in 1987: "undocumented."</a:t>
            </a:r>
          </a:p>
          <a:p/>
          <a:p>
            <a:r>
              <a:t>When Aldridge's lab called Apple, the advice was X = RND(-1*(PEEK(78)+256*PEEK(79))). Hold that for the fix slide.</a:t>
            </a:r>
          </a:p>
          <a:p/>
          <a:p>
            <a:r>
              <a:t>(Consider showing this slide before the code slide: the promise, then the reality.)</a:t>
            </a:r>
          </a:p>
        </p:txBody>
      </p:sp>
      <p:sp>
        <p:nvSpPr>
          <p:cNvPr id="4" name="Slide Number Placeholder 3">
            <a:extLst>
              <a:ext uri="{FF2B5EF4-FFF2-40B4-BE49-F238E27FC236}">
                <a16:creationId xmlns:a16="http://schemas.microsoft.com/office/drawing/2014/main" id="{196DE66F-49D1-0447-4F0F-6BA538D122D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70190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harm: Aldridge's memory experiment. Every subject was supposed to get an individually randomized word list. The ones who got the repeated list were the first tested each day, right after the computer was turned on. A published experiment, contaminated by this bug.</a:t>
            </a:r>
          </a:p>
          <a:p/>
          <a:p>
            <a:r>
              <a:t>Then the timeline: found, reported, worked around one program at a time, never fixed in the ROM.</a:t>
            </a:r>
          </a:p>
          <a:p/>
          <a:p>
            <a:r>
              <a:t>202 is measured on real Applesoft by two psychologists who needed randomized experiments. Sander-Cederlof got 37,758 two years later. Same generator, different uncopied byte: emulating the ROM code, $CD=$58 falls into the 202-number loop and $CD=$FF into the 37,758 one.</a:t>
            </a:r>
          </a:p>
          <a:p/>
          <a:p>
            <a:r>
              <a:t>Say the personal line out loud: Dr. Kaner sent you the paper directly. The paper is marked 1982 but was published in MICRO in June 1984, so don't call it the first published account; Call-A.P.P.L.E. ran in January 1983.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Somebody will say just seed it first. It's on the screen: say it yourself before they do, and agree with it for new code. Apple itself gave that one-liner to Aldridge's lab.</a:t>
            </a:r>
          </a:p>
          <a:p/>
          <a:p>
            <a:r>
              <a:t>Then: you can't edit software you didn't write, the failure is silent so only people who already know can fix it, and this machine used to do it automatically.</a:t>
            </a:r>
          </a:p>
          <a:p/>
          <a:p>
            <a:r>
              <a:t>HFIND: "not called by any Applesoft routine" (S-C DocuMentor). Only a program that calls 62923 ($F5CB) directly would break. The patch must fit $F5CB-$F5FF, 53 bytes; $F600 is the RTS that HLIN branches to.</a:t>
            </a:r>
          </a:p>
          <a:p/>
          <a:p>
            <a:r>
              <a:t>CONFIRM BEFORE THE SHOW (see 01_Edited_Deck/CHANGES.md):</a:t>
            </a:r>
          </a:p>
          <a:p>
            <a:r>
              <a:t>- Exactly what positive RND does: reseed on every call, once, or when the counter changed? A tight 52-card loop with no keypress must not return near-identical values.</a:t>
            </a:r>
          </a:p>
          <a:p>
            <a:r>
              <a:t>- Patch length &lt;= 53 bytes; HPLOT TO, DRAW, XDRAW still work after install.</a:t>
            </a:r>
          </a:p>
          <a:p>
            <a:r>
              <a:t>- RND(-1) then five RND(1) repeats, with and without a GET in between.</a:t>
            </a:r>
          </a:p>
          <a:p>
            <a:r>
              <a:t>- Behavior under DOS 3.3 (FP/INT), ProDOS, and after Ctrl-RESET on a IIe/IIc.</a:t>
            </a:r>
          </a:p>
          <a:p/>
          <a:p>
            <a:r>
              <a:t>Limits to say out loud if asked: it fixes the seed, not the generator, so the 202-number loop is still reachable; a turnkey program that calls RND before any keypress gets leftover counter bits.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lines, then the link and QR. Put the URL on screen as text too: the back rows can't scan a QR, and the PDF needs a clickable link.</a:t>
            </a:r>
          </a:p>
          <a:p/>
          <a:p>
            <a:r>
              <a:t>"Then and Now", the now: the same shape keeps recurring. Debian's OpenSSL (CVE-2008-0166): a 2006 change removed nearly all the entropy mixing, and predictable keys were generated for about two years before anyone noticed. A parallel, not a lineage.</a:t>
            </a:r>
          </a:p>
          <a:p/>
          <a:p>
            <a:r>
              <a:t>Questions to expect:</a:t>
            </a:r>
          </a:p>
          <a:p>
            <a:r>
              <a:t>- Does the C64 have this too? Same Microsoft generator, same constants. But Microsoft's own Commodore build made RND(0) read hardware timers and added TI, back in the first PET ROM in 1977; Commodore carried it to the C64. On a Commodore the idiom is RND(-TI); on the Apple it's RND(-PEEK(78)-256*PEEK(79)).</a:t>
            </a:r>
          </a:p>
          <a:p>
            <a:r>
              <a:t>- Why not replace the generator? Speed, no space, and RND(-n) has to keep repeating.</a:t>
            </a:r>
          </a:p>
          <a:p>
            <a:r>
              <a:t>- What's at $F5CB? HFIND. Answer it straight: no Applesoft routine calls it.</a:t>
            </a:r>
          </a:p>
          <a:p>
            <a:r>
              <a:t>- Does the patch fix the 202 loop? No. It fixes the seed.</a:t>
            </a:r>
          </a:p>
          <a:p>
            <a:r>
              <a:t>- ProDOS lives in the language card. Answer only with what you've 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81A"/>
        </a:solidFill>
        <a:effectLst/>
      </p:bgPr>
    </p:bg>
    <p:spTree>
      <p:nvGrpSpPr>
        <p:cNvPr id="1" name=""/>
        <p:cNvGrpSpPr/>
        <p:nvPr/>
      </p:nvGrpSpPr>
      <p:grpSpPr>
        <a:xfrm>
          <a:off x="0" y="0"/>
          <a:ext cx="0" cy="0"/>
          <a:chOff x="0" y="0"/>
          <a:chExt cx="0" cy="0"/>
        </a:xfrm>
      </p:grpSpPr>
      <p:sp>
        <p:nvSpPr>
          <p:cNvPr id="2" name="Text 0"/>
          <p:cNvSpPr txBox="1"/>
          <p:nvPr/>
        </p:nvSpPr>
        <p:spPr>
          <a:xfrm>
            <a:off x="822960" y="2194560"/>
            <a:ext cx="10515600" cy="914400"/>
          </a:xfrm>
          <a:prstGeom prst="rect">
            <a:avLst/>
          </a:prstGeom>
          <a:noFill/>
          <a:ln/>
        </p:spPr>
        <p:txBody>
          <a:bodyPr wrap="square" lIns="0" tIns="0" rIns="0" bIns="0" rtlCol="0" anchor="ctr"/>
          <a:lstStyle/>
          <a:p>
            <a:pPr marL="0" indent="0">
              <a:buNone/>
            </a:pPr>
            <a:r>
              <a:rPr lang="en-US" sz="5200" b="1" dirty="0">
                <a:solidFill>
                  <a:srgbClr val="E9E7E3"/>
                </a:solidFill>
                <a:latin typeface="Arial" pitchFamily="34" charset="0"/>
                <a:ea typeface="Arial" pitchFamily="34" charset="-122"/>
                <a:cs typeface="Arial" pitchFamily="34" charset="-120"/>
              </a:rPr>
              <a:t>Applesoft's Loaded Dice</a:t>
            </a:r>
            <a:endParaRPr lang="en-US" sz="5200" dirty="0"/>
          </a:p>
        </p:txBody>
      </p:sp>
      <p:sp>
        <p:nvSpPr>
          <p:cNvPr id="3" name="Text 1"/>
          <p:cNvSpPr txBox="1"/>
          <p:nvPr/>
        </p:nvSpPr>
        <p:spPr>
          <a:xfrm>
            <a:off x="822960" y="3108960"/>
            <a:ext cx="10515600" cy="457200"/>
          </a:xfrm>
          <a:prstGeom prst="rect">
            <a:avLst/>
          </a:prstGeom>
          <a:noFill/>
          <a:ln/>
        </p:spPr>
        <p:txBody>
          <a:bodyPr wrap="square" lIns="0" tIns="0" rIns="0" bIns="0" rtlCol="0" anchor="ctr"/>
          <a:lstStyle/>
          <a:p>
            <a:pPr marL="0" indent="0">
              <a:buNone/>
            </a:pPr>
            <a:r>
              <a:rPr lang="en-US" sz="2200" dirty="0">
                <a:solidFill>
                  <a:srgbClr val="5FCB7E"/>
                </a:solidFill>
                <a:latin typeface="Arial" pitchFamily="34" charset="0"/>
                <a:ea typeface="Arial" pitchFamily="34" charset="-122"/>
                <a:cs typeface="Arial" pitchFamily="34" charset="-120"/>
              </a:rPr>
              <a:t>The Truth About Randomness on the Apple II, Then and Now</a:t>
            </a:r>
            <a:endParaRPr lang="en-US" sz="2200" dirty="0"/>
          </a:p>
        </p:txBody>
      </p:sp>
      <p:sp>
        <p:nvSpPr>
          <p:cNvPr id="4" name="Shape 2"/>
          <p:cNvSpPr/>
          <p:nvPr/>
        </p:nvSpPr>
        <p:spPr>
          <a:xfrm>
            <a:off x="841248" y="3840480"/>
            <a:ext cx="1463040" cy="27432"/>
          </a:xfrm>
          <a:prstGeom prst="rect">
            <a:avLst/>
          </a:prstGeom>
          <a:solidFill>
            <a:srgbClr val="3A3E42"/>
          </a:solidFill>
          <a:ln/>
        </p:spPr>
        <p:txBody>
          <a:bodyPr/>
          <a:lstStyle/>
          <a:p>
            <a:endParaRPr lang="en-US"/>
          </a:p>
        </p:txBody>
      </p:sp>
      <p:sp>
        <p:nvSpPr>
          <p:cNvPr id="5" name="Text 3"/>
          <p:cNvSpPr txBox="1"/>
          <p:nvPr/>
        </p:nvSpPr>
        <p:spPr>
          <a:xfrm>
            <a:off x="822960" y="4114800"/>
            <a:ext cx="10515600" cy="365760"/>
          </a:xfrm>
          <a:prstGeom prst="rect">
            <a:avLst/>
          </a:prstGeom>
          <a:noFill/>
          <a:ln/>
        </p:spPr>
        <p:txBody>
          <a:bodyPr wrap="square" lIns="0" tIns="0" rIns="0" bIns="0" rtlCol="0" anchor="ctr"/>
          <a:lstStyle/>
          <a:p>
            <a:pPr marL="0" indent="0">
              <a:buNone/>
            </a:pPr>
            <a:r>
              <a:rPr lang="en-US" sz="1600" dirty="0">
                <a:solidFill>
                  <a:srgbClr val="9DA39B"/>
                </a:solidFill>
                <a:latin typeface="Arial" pitchFamily="34" charset="0"/>
                <a:ea typeface="Arial" pitchFamily="34" charset="-122"/>
                <a:cs typeface="Arial" pitchFamily="34" charset="-120"/>
              </a:rPr>
              <a:t>Jeff Robison   ·   VCF Midwest 21 2026</a:t>
            </a:r>
            <a:endParaRPr lang="en-US" sz="1600" dirty="0"/>
          </a:p>
        </p:txBody>
      </p:sp>
      <p:sp>
        <p:nvSpPr>
          <p:cNvPr id="9" name="Shape 0">
            <a:extLst>
              <a:ext uri="{FF2B5EF4-FFF2-40B4-BE49-F238E27FC236}">
                <a16:creationId xmlns:a16="http://schemas.microsoft.com/office/drawing/2014/main" id="{F82E9071-B57E-7DEF-4B2F-E2D7489BEADD}"/>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10" name="Text 1">
            <a:extLst>
              <a:ext uri="{FF2B5EF4-FFF2-40B4-BE49-F238E27FC236}">
                <a16:creationId xmlns:a16="http://schemas.microsoft.com/office/drawing/2014/main" id="{104F5BFB-E54F-6D3A-1145-A66D5AD7A0DC}"/>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181A"/>
        </a:solidFill>
        <a:effectLst/>
      </p:bgPr>
    </p:bg>
    <p:spTree>
      <p:nvGrpSpPr>
        <p:cNvPr id="1" name="">
          <a:extLst>
            <a:ext uri="{FF2B5EF4-FFF2-40B4-BE49-F238E27FC236}">
              <a16:creationId xmlns:a16="http://schemas.microsoft.com/office/drawing/2014/main" id="{C341935B-AD13-777C-6917-F19B34B1A4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E8A61C-C838-61CF-6973-FFE0B03DD614}"/>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a:extLst>
              <a:ext uri="{FF2B5EF4-FFF2-40B4-BE49-F238E27FC236}">
                <a16:creationId xmlns:a16="http://schemas.microsoft.com/office/drawing/2014/main" id="{CB1F8243-BE61-6F5F-8EB8-23063A11FC04}"/>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1</a:t>
            </a:r>
            <a:endParaRPr lang="en-US" sz="1600" dirty="0"/>
          </a:p>
        </p:txBody>
      </p:sp>
      <p:sp>
        <p:nvSpPr>
          <p:cNvPr id="4" name="Text 2">
            <a:extLst>
              <a:ext uri="{FF2B5EF4-FFF2-40B4-BE49-F238E27FC236}">
                <a16:creationId xmlns:a16="http://schemas.microsoft.com/office/drawing/2014/main" id="{3AC61C20-0928-F186-5741-28C2F0020ADF}"/>
              </a:ext>
            </a:extLst>
          </p:cNvPr>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The Problem</a:t>
            </a:r>
            <a:endParaRPr lang="en-US" sz="3400" dirty="0"/>
          </a:p>
        </p:txBody>
      </p:sp>
      <p:grpSp>
        <p:nvGrpSpPr>
          <p:cNvPr id="15" name="Group 14">
            <a:extLst>
              <a:ext uri="{FF2B5EF4-FFF2-40B4-BE49-F238E27FC236}">
                <a16:creationId xmlns:a16="http://schemas.microsoft.com/office/drawing/2014/main" id="{FE6F6199-B65F-584B-A5E5-D8452BCA38FB}"/>
              </a:ext>
            </a:extLst>
          </p:cNvPr>
          <p:cNvGrpSpPr/>
          <p:nvPr/>
        </p:nvGrpSpPr>
        <p:grpSpPr>
          <a:xfrm>
            <a:off x="4235298" y="2678203"/>
            <a:ext cx="3474720" cy="1280160"/>
            <a:chOff x="4235298" y="2678203"/>
            <a:chExt cx="3474720" cy="1280160"/>
          </a:xfrm>
        </p:grpSpPr>
        <p:sp>
          <p:nvSpPr>
            <p:cNvPr id="13" name="Shape 4">
              <a:extLst>
                <a:ext uri="{FF2B5EF4-FFF2-40B4-BE49-F238E27FC236}">
                  <a16:creationId xmlns:a16="http://schemas.microsoft.com/office/drawing/2014/main" id="{63AE3F3C-6B04-6204-C367-539535763409}"/>
                </a:ext>
              </a:extLst>
            </p:cNvPr>
            <p:cNvSpPr/>
            <p:nvPr/>
          </p:nvSpPr>
          <p:spPr>
            <a:xfrm>
              <a:off x="4235298" y="2678203"/>
              <a:ext cx="3474720" cy="1280160"/>
            </a:xfrm>
            <a:prstGeom prst="roundRect">
              <a:avLst>
                <a:gd name="adj" fmla="val 4286"/>
              </a:avLst>
            </a:prstGeom>
            <a:solidFill>
              <a:srgbClr val="202225"/>
            </a:solidFill>
            <a:ln w="12700">
              <a:solidFill>
                <a:srgbClr val="32363A"/>
              </a:solidFill>
              <a:prstDash val="solid"/>
            </a:ln>
          </p:spPr>
          <p:txBody>
            <a:bodyPr/>
            <a:lstStyle/>
            <a:p>
              <a:endParaRPr lang="en-US"/>
            </a:p>
          </p:txBody>
        </p:sp>
        <p:sp>
          <p:nvSpPr>
            <p:cNvPr id="14" name="Text 5">
              <a:extLst>
                <a:ext uri="{FF2B5EF4-FFF2-40B4-BE49-F238E27FC236}">
                  <a16:creationId xmlns:a16="http://schemas.microsoft.com/office/drawing/2014/main" id="{7095649B-44C7-A87E-E1B2-7E318385B852}"/>
                </a:ext>
              </a:extLst>
            </p:cNvPr>
            <p:cNvSpPr txBox="1"/>
            <p:nvPr/>
          </p:nvSpPr>
          <p:spPr>
            <a:xfrm>
              <a:off x="4463898" y="2861083"/>
              <a:ext cx="3017520" cy="914400"/>
            </a:xfrm>
            <a:prstGeom prst="rect">
              <a:avLst/>
            </a:prstGeom>
            <a:noFill/>
            <a:ln/>
          </p:spPr>
          <p:txBody>
            <a:bodyPr wrap="square" lIns="0" tIns="0" rIns="0" bIns="0" rtlCol="0" anchor="t"/>
            <a:lstStyle/>
            <a:p>
              <a:pPr marL="0" indent="0">
                <a:lnSpc>
                  <a:spcPct val="130000"/>
                </a:lnSpc>
                <a:buNone/>
              </a:pPr>
              <a:r>
                <a:rPr lang="en-US" sz="1700" dirty="0">
                  <a:solidFill>
                    <a:srgbClr val="5FCB7E"/>
                  </a:solidFill>
                  <a:latin typeface="Courier New" pitchFamily="34" charset="0"/>
                  <a:ea typeface="Courier New" pitchFamily="34" charset="-122"/>
                  <a:cs typeface="Courier New" pitchFamily="34" charset="-120"/>
                </a:rPr>
                <a:t>PRINT RND(1)</a:t>
              </a:r>
              <a:endParaRPr lang="en-US" sz="1700" dirty="0"/>
            </a:p>
            <a:p>
              <a:pPr marL="0" indent="0">
                <a:lnSpc>
                  <a:spcPct val="130000"/>
                </a:lnSpc>
                <a:buNone/>
              </a:pPr>
              <a:r>
                <a:rPr lang="en-US" sz="1700" dirty="0">
                  <a:solidFill>
                    <a:srgbClr val="5FCB7E"/>
                  </a:solidFill>
                  <a:latin typeface="Courier New" pitchFamily="34" charset="0"/>
                  <a:ea typeface="Courier New" pitchFamily="34" charset="-122"/>
                  <a:cs typeface="Courier New" pitchFamily="34" charset="-120"/>
                </a:rPr>
                <a:t>.973136996</a:t>
              </a:r>
              <a:endParaRPr lang="en-US" sz="1700" dirty="0"/>
            </a:p>
          </p:txBody>
        </p:sp>
      </p:grpSp>
      <p:sp>
        <p:nvSpPr>
          <p:cNvPr id="16" name="TextBox 15"/>
          <p:cNvSpPr txBox="1"/>
          <p:nvPr/>
        </p:nvSpPr>
        <p:spPr>
          <a:xfrm>
            <a:off x="640080" y="4251960"/>
            <a:ext cx="10881360" cy="457200"/>
          </a:xfrm>
          <a:prstGeom prst="rect">
            <a:avLst/>
          </a:prstGeom>
          <a:noFill/>
        </p:spPr>
        <p:txBody>
          <a:bodyPr wrap="square">
            <a:spAutoFit/>
          </a:bodyPr>
          <a:lstStyle/>
          <a:p>
            <a:r>
              <a:rPr sz="1800" b="1">
                <a:solidFill>
                  <a:srgbClr val="5FCB7E"/>
                </a:solidFill>
                <a:latin typeface="Arial"/>
              </a:rPr>
              <a:t>Rerun the program: different numbers. Power-cycle: the same ones again.</a:t>
            </a:r>
          </a:p>
        </p:txBody>
      </p:sp>
      <p:sp>
        <p:nvSpPr>
          <p:cNvPr id="17" name="TextBox 16"/>
          <p:cNvSpPr txBox="1"/>
          <p:nvPr/>
        </p:nvSpPr>
        <p:spPr>
          <a:xfrm>
            <a:off x="640080" y="4892040"/>
            <a:ext cx="10881360" cy="731520"/>
          </a:xfrm>
          <a:prstGeom prst="rect">
            <a:avLst/>
          </a:prstGeom>
          <a:noFill/>
        </p:spPr>
        <p:txBody>
          <a:bodyPr wrap="square">
            <a:spAutoFit/>
          </a:bodyPr>
          <a:lstStyle/>
          <a:p>
            <a:r>
              <a:rPr sz="1500" b="0">
                <a:solidFill>
                  <a:srgbClr val="9DA39B"/>
                </a:solidFill>
                <a:latin typeface="Arial"/>
              </a:rPr>
              <a:t>“exactly the same sequence each time the machine is powered on.”</a:t>
            </a:r>
          </a:p>
          <a:p>
            <a:r>
              <a:rPr sz="1500" b="0">
                <a:solidFill>
                  <a:srgbClr val="9DA39B"/>
                </a:solidFill>
                <a:latin typeface="Arial"/>
              </a:rPr>
              <a:t>J. W. Aldridge, Behavior Research Methods, Instruments, &amp; Computers 19(4), 1987</a:t>
            </a:r>
          </a:p>
        </p:txBody>
      </p:sp>
    </p:spTree>
    <p:extLst>
      <p:ext uri="{BB962C8B-B14F-4D97-AF65-F5344CB8AC3E}">
        <p14:creationId xmlns:p14="http://schemas.microsoft.com/office/powerpoint/2010/main" val="179680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2</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Pseudo-random means repeatable</a:t>
            </a:r>
            <a:endParaRPr lang="en-US" sz="3400" dirty="0"/>
          </a:p>
        </p:txBody>
      </p:sp>
      <p:sp>
        <p:nvSpPr>
          <p:cNvPr id="5" name="Shape 3"/>
          <p:cNvSpPr/>
          <p:nvPr/>
        </p:nvSpPr>
        <p:spPr>
          <a:xfrm>
            <a:off x="640080" y="1965960"/>
            <a:ext cx="5394960" cy="2194560"/>
          </a:xfrm>
          <a:prstGeom prst="roundRect">
            <a:avLst>
              <a:gd name="adj" fmla="val 2500"/>
            </a:avLst>
          </a:prstGeom>
          <a:solidFill>
            <a:srgbClr val="202225"/>
          </a:solidFill>
          <a:ln w="12700">
            <a:solidFill>
              <a:srgbClr val="32363A"/>
            </a:solidFill>
            <a:prstDash val="solid"/>
          </a:ln>
        </p:spPr>
        <p:txBody>
          <a:bodyPr/>
          <a:lstStyle/>
          <a:p>
            <a:endParaRPr lang="en-US"/>
          </a:p>
        </p:txBody>
      </p:sp>
      <p:sp>
        <p:nvSpPr>
          <p:cNvPr id="6" name="Text 4"/>
          <p:cNvSpPr txBox="1"/>
          <p:nvPr/>
        </p:nvSpPr>
        <p:spPr>
          <a:xfrm>
            <a:off x="914400" y="2194560"/>
            <a:ext cx="484632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Truly random  </a:t>
            </a:r>
            <a:endParaRPr lang="en-US" sz="1600" dirty="0"/>
          </a:p>
        </p:txBody>
      </p:sp>
      <p:sp>
        <p:nvSpPr>
          <p:cNvPr id="7" name="Text 5"/>
          <p:cNvSpPr txBox="1"/>
          <p:nvPr/>
        </p:nvSpPr>
        <p:spPr>
          <a:xfrm>
            <a:off x="914400" y="2651760"/>
            <a:ext cx="4846320" cy="128016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Comes from something physical. A die. Thermal noise. You can't compute it.</a:t>
            </a:r>
            <a:endParaRPr lang="en-US" sz="1500" dirty="0"/>
          </a:p>
        </p:txBody>
      </p:sp>
      <p:sp>
        <p:nvSpPr>
          <p:cNvPr id="8" name="Shape 6"/>
          <p:cNvSpPr/>
          <p:nvPr/>
        </p:nvSpPr>
        <p:spPr>
          <a:xfrm>
            <a:off x="6309360" y="1965960"/>
            <a:ext cx="5212080" cy="2194560"/>
          </a:xfrm>
          <a:prstGeom prst="roundRect">
            <a:avLst>
              <a:gd name="adj" fmla="val 2500"/>
            </a:avLst>
          </a:prstGeom>
          <a:solidFill>
            <a:srgbClr val="202225"/>
          </a:solidFill>
          <a:ln w="25400">
            <a:solidFill>
              <a:srgbClr val="5FCB7E"/>
            </a:solidFill>
            <a:prstDash val="solid"/>
          </a:ln>
        </p:spPr>
        <p:txBody>
          <a:bodyPr/>
          <a:lstStyle/>
          <a:p>
            <a:endParaRPr lang="en-US"/>
          </a:p>
        </p:txBody>
      </p:sp>
      <p:sp>
        <p:nvSpPr>
          <p:cNvPr id="9" name="Text 7"/>
          <p:cNvSpPr txBox="1"/>
          <p:nvPr/>
        </p:nvSpPr>
        <p:spPr>
          <a:xfrm>
            <a:off x="6583680" y="2194560"/>
            <a:ext cx="466344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Pseudo-random</a:t>
            </a:r>
            <a:endParaRPr lang="en-US" sz="1600" dirty="0"/>
          </a:p>
        </p:txBody>
      </p:sp>
      <p:sp>
        <p:nvSpPr>
          <p:cNvPr id="10" name="Text 8"/>
          <p:cNvSpPr txBox="1"/>
          <p:nvPr/>
        </p:nvSpPr>
        <p:spPr>
          <a:xfrm>
            <a:off x="6583680" y="2651760"/>
            <a:ext cx="4663440" cy="128016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A formula. You give it a starting number. It does math on that number and hands back an answer. The answer becomes the next starting number.</a:t>
            </a:r>
            <a:endParaRPr lang="en-US" sz="1500" dirty="0"/>
          </a:p>
        </p:txBody>
      </p:sp>
      <p:sp>
        <p:nvSpPr>
          <p:cNvPr id="11" name="Shape 9"/>
          <p:cNvSpPr/>
          <p:nvPr/>
        </p:nvSpPr>
        <p:spPr>
          <a:xfrm>
            <a:off x="640080" y="4343400"/>
            <a:ext cx="10881360" cy="1051560"/>
          </a:xfrm>
          <a:prstGeom prst="roundRect">
            <a:avLst>
              <a:gd name="adj" fmla="val 5217"/>
            </a:avLst>
          </a:prstGeom>
          <a:solidFill>
            <a:srgbClr val="202225"/>
          </a:solidFill>
          <a:ln w="25400">
            <a:solidFill>
              <a:srgbClr val="E0A73E"/>
            </a:solidFill>
            <a:prstDash val="solid"/>
          </a:ln>
        </p:spPr>
        <p:txBody>
          <a:bodyPr/>
          <a:lstStyle/>
          <a:p>
            <a:endParaRPr lang="en-US"/>
          </a:p>
        </p:txBody>
      </p:sp>
      <p:sp>
        <p:nvSpPr>
          <p:cNvPr id="12" name="Text 10"/>
          <p:cNvSpPr txBox="1"/>
          <p:nvPr/>
        </p:nvSpPr>
        <p:spPr>
          <a:xfrm>
            <a:off x="1005840" y="4645152"/>
            <a:ext cx="10149840" cy="548640"/>
          </a:xfrm>
          <a:prstGeom prst="rect">
            <a:avLst/>
          </a:prstGeom>
          <a:noFill/>
          <a:ln/>
        </p:spPr>
        <p:txBody>
          <a:bodyPr wrap="square" lIns="0" tIns="0" rIns="0" bIns="0" rtlCol="0" anchor="ctr"/>
          <a:lstStyle/>
          <a:p>
            <a:pPr marL="0" indent="0">
              <a:buNone/>
            </a:pPr>
            <a:r>
              <a:rPr lang="en-US" sz="1900" dirty="0">
                <a:solidFill>
                  <a:srgbClr val="E9E7E3"/>
                </a:solidFill>
                <a:latin typeface="Arial" pitchFamily="34" charset="0"/>
                <a:ea typeface="Arial" pitchFamily="34" charset="-122"/>
                <a:cs typeface="Arial" pitchFamily="34" charset="-120"/>
              </a:rPr>
              <a:t>Same starting number → same “random” numbers. Entropy only picks the start.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3</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Integer BASIC, 1977</a:t>
            </a:r>
            <a:endParaRPr lang="en-US" sz="3400" dirty="0"/>
          </a:p>
        </p:txBody>
      </p:sp>
      <p:sp>
        <p:nvSpPr>
          <p:cNvPr id="5" name="Shape 3"/>
          <p:cNvSpPr/>
          <p:nvPr/>
        </p:nvSpPr>
        <p:spPr>
          <a:xfrm>
            <a:off x="640080" y="1965960"/>
            <a:ext cx="5394960" cy="2697480"/>
          </a:xfrm>
          <a:prstGeom prst="roundRect">
            <a:avLst>
              <a:gd name="adj" fmla="val 2034"/>
            </a:avLst>
          </a:prstGeom>
          <a:solidFill>
            <a:srgbClr val="202225"/>
          </a:solidFill>
          <a:ln w="25400">
            <a:solidFill>
              <a:srgbClr val="5FCB7E"/>
            </a:solidFill>
            <a:prstDash val="solid"/>
          </a:ln>
        </p:spPr>
        <p:txBody>
          <a:bodyPr/>
          <a:lstStyle/>
          <a:p>
            <a:endParaRPr lang="en-US"/>
          </a:p>
        </p:txBody>
      </p:sp>
      <p:sp>
        <p:nvSpPr>
          <p:cNvPr id="6" name="Text 4"/>
          <p:cNvSpPr txBox="1"/>
          <p:nvPr/>
        </p:nvSpPr>
        <p:spPr>
          <a:xfrm>
            <a:off x="914400" y="2194560"/>
            <a:ext cx="484632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Woz wrote a generator at $EF4E</a:t>
            </a:r>
            <a:endParaRPr lang="en-US" sz="1600" dirty="0"/>
          </a:p>
        </p:txBody>
      </p:sp>
      <p:sp>
        <p:nvSpPr>
          <p:cNvPr id="7" name="Text 5"/>
          <p:cNvSpPr txBox="1"/>
          <p:nvPr/>
        </p:nvSpPr>
        <p:spPr>
          <a:xfrm>
            <a:off x="914400" y="2697480"/>
            <a:ext cx="4846320" cy="18288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15-bit shift register: repeats every 32,767 calls</a:t>
            </a:r>
            <a:endParaRPr lang="en-US" sz="1500" dirty="0"/>
          </a:p>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RND(n) returns the register MOD n (integers only)</a:t>
            </a:r>
            <a:endParaRPr lang="en-US" sz="1500" dirty="0"/>
          </a:p>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Plenty for games. Not for statistics.</a:t>
            </a:r>
            <a:endParaRPr lang="en-US" sz="1500" dirty="0"/>
          </a:p>
        </p:txBody>
      </p:sp>
      <p:sp>
        <p:nvSpPr>
          <p:cNvPr id="8" name="Shape 6"/>
          <p:cNvSpPr/>
          <p:nvPr/>
        </p:nvSpPr>
        <p:spPr>
          <a:xfrm>
            <a:off x="6309360" y="1965960"/>
            <a:ext cx="5212080" cy="2697480"/>
          </a:xfrm>
          <a:prstGeom prst="roundRect">
            <a:avLst>
              <a:gd name="adj" fmla="val 2034"/>
            </a:avLst>
          </a:prstGeom>
          <a:solidFill>
            <a:srgbClr val="202225"/>
          </a:solidFill>
          <a:ln w="12700">
            <a:solidFill>
              <a:srgbClr val="32363A"/>
            </a:solidFill>
            <a:prstDash val="solid"/>
          </a:ln>
        </p:spPr>
        <p:txBody>
          <a:bodyPr/>
          <a:lstStyle/>
          <a:p>
            <a:endParaRPr lang="en-US"/>
          </a:p>
        </p:txBody>
      </p:sp>
      <p:sp>
        <p:nvSpPr>
          <p:cNvPr id="9" name="Text 7"/>
          <p:cNvSpPr txBox="1"/>
          <p:nvPr/>
        </p:nvSpPr>
        <p:spPr>
          <a:xfrm>
            <a:off x="6583680" y="2194560"/>
            <a:ext cx="466344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Seeded by your keypress timing</a:t>
            </a:r>
            <a:endParaRPr lang="en-US" sz="1600" dirty="0"/>
          </a:p>
        </p:txBody>
      </p:sp>
      <p:sp>
        <p:nvSpPr>
          <p:cNvPr id="10" name="Text 8"/>
          <p:cNvSpPr txBox="1"/>
          <p:nvPr/>
        </p:nvSpPr>
        <p:spPr>
          <a:xfrm>
            <a:off x="6583680" y="2697480"/>
            <a:ext cx="4663440" cy="114300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There's a counter at $4E and $4F that goes up while the monitor sits waiting for a keypress. Integer BASIC's generator is that counter: RND reads it, scrambles it, writes it back.</a:t>
            </a:r>
            <a:endParaRPr lang="en-US" sz="1500" dirty="0"/>
          </a:p>
        </p:txBody>
      </p:sp>
      <p:sp>
        <p:nvSpPr>
          <p:cNvPr id="12" name="Text 10"/>
          <p:cNvSpPr txBox="1"/>
          <p:nvPr/>
        </p:nvSpPr>
        <p:spPr>
          <a:xfrm>
            <a:off x="640080" y="5623560"/>
            <a:ext cx="10881360" cy="457200"/>
          </a:xfrm>
          <a:prstGeom prst="rect">
            <a:avLst/>
          </a:prstGeom>
          <a:noFill/>
          <a:ln/>
        </p:spPr>
        <p:txBody>
          <a:bodyPr wrap="square" lIns="0" tIns="0" rIns="0" bIns="0" rtlCol="0" anchor="ctr"/>
          <a:lstStyle/>
          <a:p>
            <a:pPr marL="0" indent="0">
              <a:buNone/>
            </a:pPr>
            <a:r>
              <a:rPr lang="en-US" sz="1500" dirty="0">
                <a:solidFill>
                  <a:srgbClr val="9DA39B"/>
                </a:solidFill>
                <a:latin typeface="Arial" pitchFamily="34" charset="0"/>
                <a:ea typeface="Arial" pitchFamily="34" charset="-122"/>
                <a:cs typeface="Arial" pitchFamily="34" charset="-120"/>
              </a:rPr>
              <a:t>Sander-Cederlof, Apple Assembly Line, August 1981  ·  Integer BASIC disassembly: Paul Santa-Maria, via Andy McFadden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4</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Built-in Entropy Source</a:t>
            </a:r>
            <a:endParaRPr lang="en-US" sz="3400" dirty="0"/>
          </a:p>
        </p:txBody>
      </p:sp>
      <p:pic>
        <p:nvPicPr>
          <p:cNvPr id="6" name="Image 0" descr="/home/claude/keyin.png"/>
          <p:cNvPicPr>
            <a:picLocks noChangeAspect="1"/>
          </p:cNvPicPr>
          <p:nvPr/>
        </p:nvPicPr>
        <p:blipFill>
          <a:blip r:embed="rId3"/>
          <a:stretch>
            <a:fillRect/>
          </a:stretch>
        </p:blipFill>
        <p:spPr>
          <a:xfrm>
            <a:off x="467085" y="1742604"/>
            <a:ext cx="5029200" cy="1069848"/>
          </a:xfrm>
          <a:prstGeom prst="rect">
            <a:avLst/>
          </a:prstGeom>
        </p:spPr>
      </p:pic>
      <p:sp>
        <p:nvSpPr>
          <p:cNvPr id="7" name="Text 4"/>
          <p:cNvSpPr txBox="1"/>
          <p:nvPr/>
        </p:nvSpPr>
        <p:spPr>
          <a:xfrm>
            <a:off x="211053" y="1468284"/>
            <a:ext cx="5394960" cy="914400"/>
          </a:xfrm>
          <a:prstGeom prst="rect">
            <a:avLst/>
          </a:prstGeom>
          <a:noFill/>
          <a:ln/>
        </p:spPr>
        <p:txBody>
          <a:bodyPr wrap="square" lIns="0" tIns="0" rIns="0" bIns="0" rtlCol="0" anchor="t"/>
          <a:lstStyle/>
          <a:p>
            <a:r>
              <a:rPr lang="en-US" sz="1500" dirty="0">
                <a:solidFill>
                  <a:srgbClr val="5FCC7E"/>
                </a:solidFill>
              </a:rPr>
              <a:t>https://6502disassembly.com/a2-rom/OrigF8ROM.html</a:t>
            </a:r>
          </a:p>
        </p:txBody>
      </p:sp>
      <p:grpSp>
        <p:nvGrpSpPr>
          <p:cNvPr id="32" name="Group 31">
            <a:extLst>
              <a:ext uri="{FF2B5EF4-FFF2-40B4-BE49-F238E27FC236}">
                <a16:creationId xmlns:a16="http://schemas.microsoft.com/office/drawing/2014/main" id="{A8C986C3-6CC0-CA6B-F5EE-16F56CF7BC3F}"/>
              </a:ext>
            </a:extLst>
          </p:cNvPr>
          <p:cNvGrpSpPr/>
          <p:nvPr/>
        </p:nvGrpSpPr>
        <p:grpSpPr>
          <a:xfrm>
            <a:off x="5562064" y="1329430"/>
            <a:ext cx="5771264" cy="3273552"/>
            <a:chOff x="5562064" y="1329430"/>
            <a:chExt cx="5771264" cy="3273552"/>
          </a:xfrm>
        </p:grpSpPr>
        <p:sp>
          <p:nvSpPr>
            <p:cNvPr id="11" name="Text 8"/>
            <p:cNvSpPr txBox="1"/>
            <p:nvPr/>
          </p:nvSpPr>
          <p:spPr>
            <a:xfrm>
              <a:off x="5562064" y="2749433"/>
              <a:ext cx="1005840" cy="320040"/>
            </a:xfrm>
            <a:prstGeom prst="rect">
              <a:avLst/>
            </a:prstGeom>
            <a:noFill/>
            <a:ln/>
          </p:spPr>
          <p:txBody>
            <a:bodyPr wrap="square" lIns="0" tIns="0" rIns="0" bIns="0" rtlCol="0" anchor="ctr"/>
            <a:lstStyle/>
            <a:p>
              <a:pPr marL="0" indent="0" algn="ctr">
                <a:buNone/>
              </a:pPr>
              <a:r>
                <a:rPr lang="en-US" sz="1100" dirty="0">
                  <a:solidFill>
                    <a:srgbClr val="5FCB7E"/>
                  </a:solidFill>
                  <a:latin typeface="Courier New" pitchFamily="34" charset="0"/>
                  <a:ea typeface="Courier New" pitchFamily="34" charset="-122"/>
                  <a:cs typeface="Courier New" pitchFamily="34" charset="-120"/>
                </a:rPr>
                <a:t>$4E/$4F</a:t>
              </a:r>
              <a:endParaRPr lang="en-US" sz="1100" dirty="0"/>
            </a:p>
          </p:txBody>
        </p:sp>
        <p:grpSp>
          <p:nvGrpSpPr>
            <p:cNvPr id="31" name="Group 30">
              <a:extLst>
                <a:ext uri="{FF2B5EF4-FFF2-40B4-BE49-F238E27FC236}">
                  <a16:creationId xmlns:a16="http://schemas.microsoft.com/office/drawing/2014/main" id="{3E3E7FBD-91A0-170C-4244-AE0EEFBBAA58}"/>
                </a:ext>
              </a:extLst>
            </p:cNvPr>
            <p:cNvGrpSpPr/>
            <p:nvPr/>
          </p:nvGrpSpPr>
          <p:grpSpPr>
            <a:xfrm>
              <a:off x="5661247" y="1329430"/>
              <a:ext cx="5672081" cy="3273552"/>
              <a:chOff x="5676364" y="1376844"/>
              <a:chExt cx="5672081" cy="3273552"/>
            </a:xfrm>
          </p:grpSpPr>
          <p:sp>
            <p:nvSpPr>
              <p:cNvPr id="10" name="Shape 7"/>
              <p:cNvSpPr/>
              <p:nvPr/>
            </p:nvSpPr>
            <p:spPr>
              <a:xfrm>
                <a:off x="5676364" y="3404588"/>
                <a:ext cx="777240" cy="0"/>
              </a:xfrm>
              <a:prstGeom prst="line">
                <a:avLst/>
              </a:prstGeom>
              <a:noFill/>
              <a:ln w="19050">
                <a:solidFill>
                  <a:srgbClr val="5FCB7E"/>
                </a:solidFill>
                <a:prstDash val="solid"/>
                <a:tailEnd type="triangle"/>
              </a:ln>
            </p:spPr>
            <p:txBody>
              <a:bodyPr/>
              <a:lstStyle/>
              <a:p>
                <a:endParaRPr lang="en-US"/>
              </a:p>
            </p:txBody>
          </p:sp>
          <p:sp>
            <p:nvSpPr>
              <p:cNvPr id="12" name="Text 9"/>
              <p:cNvSpPr txBox="1"/>
              <p:nvPr/>
            </p:nvSpPr>
            <p:spPr>
              <a:xfrm>
                <a:off x="6639285" y="1376844"/>
                <a:ext cx="4709160" cy="320040"/>
              </a:xfrm>
              <a:prstGeom prst="rect">
                <a:avLst/>
              </a:prstGeom>
              <a:noFill/>
              <a:ln/>
            </p:spPr>
            <p:txBody>
              <a:bodyPr wrap="square" lIns="0" tIns="0" rIns="0" bIns="0" rtlCol="0" anchor="ctr"/>
              <a:lstStyle/>
              <a:p>
                <a:pPr marL="0" indent="0">
                  <a:buNone/>
                </a:pPr>
                <a:r>
                  <a:rPr lang="en-US" sz="1500" b="1" dirty="0">
                    <a:solidFill>
                      <a:srgbClr val="5FCB7E"/>
                    </a:solidFill>
                    <a:latin typeface="Arial" pitchFamily="34" charset="0"/>
                    <a:ea typeface="Arial" pitchFamily="34" charset="-122"/>
                    <a:cs typeface="Arial" pitchFamily="34" charset="-120"/>
                  </a:rPr>
                  <a:t>Integer BASIC, at $EF4E</a:t>
                </a:r>
                <a:endParaRPr lang="en-US" sz="1500" dirty="0"/>
              </a:p>
            </p:txBody>
          </p:sp>
          <p:pic>
            <p:nvPicPr>
              <p:cNvPr id="13" name="Image 1" descr="/home/claude/intbasic_rnd.png"/>
              <p:cNvPicPr>
                <a:picLocks noChangeAspect="1"/>
              </p:cNvPicPr>
              <p:nvPr/>
            </p:nvPicPr>
            <p:blipFill>
              <a:blip r:embed="rId4"/>
              <a:stretch>
                <a:fillRect/>
              </a:stretch>
            </p:blipFill>
            <p:spPr>
              <a:xfrm>
                <a:off x="6639285" y="1742604"/>
                <a:ext cx="4709160" cy="2907792"/>
              </a:xfrm>
              <a:prstGeom prst="rect">
                <a:avLst/>
              </a:prstGeom>
            </p:spPr>
          </p:pic>
        </p:grpSp>
      </p:grpSp>
      <p:sp>
        <p:nvSpPr>
          <p:cNvPr id="15" name="Text 11"/>
          <p:cNvSpPr txBox="1"/>
          <p:nvPr/>
        </p:nvSpPr>
        <p:spPr>
          <a:xfrm>
            <a:off x="266287" y="1030855"/>
            <a:ext cx="5303520" cy="457200"/>
          </a:xfrm>
          <a:prstGeom prst="rect">
            <a:avLst/>
          </a:prstGeom>
          <a:noFill/>
          <a:ln/>
        </p:spPr>
        <p:txBody>
          <a:bodyPr wrap="square" lIns="0" tIns="0" rIns="0" bIns="0" rtlCol="0" anchor="ctr"/>
          <a:lstStyle/>
          <a:p>
            <a:pPr marL="0" indent="0">
              <a:buNone/>
            </a:pPr>
            <a:r>
              <a:rPr lang="en-US" sz="1600" dirty="0">
                <a:solidFill>
                  <a:srgbClr val="5FCB7E"/>
                </a:solidFill>
                <a:latin typeface="Arial" pitchFamily="34" charset="0"/>
                <a:ea typeface="Arial" pitchFamily="34" charset="-122"/>
                <a:cs typeface="Arial" pitchFamily="34" charset="-120"/>
              </a:rPr>
              <a:t>Same counter in the II, II+, IIe and IIc ROMs shown</a:t>
            </a:r>
            <a:endParaRPr lang="en-US" sz="1600" dirty="0"/>
          </a:p>
        </p:txBody>
      </p:sp>
      <p:pic>
        <p:nvPicPr>
          <p:cNvPr id="18" name="Picture 17">
            <a:extLst>
              <a:ext uri="{FF2B5EF4-FFF2-40B4-BE49-F238E27FC236}">
                <a16:creationId xmlns:a16="http://schemas.microsoft.com/office/drawing/2014/main" id="{F8886198-9BCA-7628-C105-1DC0E737DE2D}"/>
              </a:ext>
            </a:extLst>
          </p:cNvPr>
          <p:cNvPicPr>
            <a:picLocks noChangeAspect="1"/>
          </p:cNvPicPr>
          <p:nvPr/>
        </p:nvPicPr>
        <p:blipFill>
          <a:blip r:embed="rId5"/>
          <a:stretch>
            <a:fillRect/>
          </a:stretch>
        </p:blipFill>
        <p:spPr>
          <a:xfrm>
            <a:off x="491799" y="3297084"/>
            <a:ext cx="4550719" cy="1174379"/>
          </a:xfrm>
          <a:prstGeom prst="rect">
            <a:avLst/>
          </a:prstGeom>
        </p:spPr>
      </p:pic>
      <p:sp>
        <p:nvSpPr>
          <p:cNvPr id="20" name="TextBox 19">
            <a:extLst>
              <a:ext uri="{FF2B5EF4-FFF2-40B4-BE49-F238E27FC236}">
                <a16:creationId xmlns:a16="http://schemas.microsoft.com/office/drawing/2014/main" id="{1D8E2C12-7EA0-26DB-72E8-A881BEBB80A3}"/>
              </a:ext>
            </a:extLst>
          </p:cNvPr>
          <p:cNvSpPr txBox="1"/>
          <p:nvPr/>
        </p:nvSpPr>
        <p:spPr>
          <a:xfrm>
            <a:off x="93292" y="2902106"/>
            <a:ext cx="6098058" cy="369332"/>
          </a:xfrm>
          <a:prstGeom prst="rect">
            <a:avLst/>
          </a:prstGeom>
          <a:noFill/>
        </p:spPr>
        <p:txBody>
          <a:bodyPr wrap="square">
            <a:spAutoFit/>
          </a:bodyPr>
          <a:lstStyle/>
          <a:p>
            <a:r>
              <a:rPr lang="en-US" dirty="0">
                <a:solidFill>
                  <a:srgbClr val="5FCC7E"/>
                </a:solidFill>
              </a:rPr>
              <a:t>https://6502disassembly.com/a2-rom/AutoF8ROM.html</a:t>
            </a:r>
          </a:p>
        </p:txBody>
      </p:sp>
      <p:pic>
        <p:nvPicPr>
          <p:cNvPr id="22" name="Picture 21">
            <a:extLst>
              <a:ext uri="{FF2B5EF4-FFF2-40B4-BE49-F238E27FC236}">
                <a16:creationId xmlns:a16="http://schemas.microsoft.com/office/drawing/2014/main" id="{F1B3D4F5-87FC-5B8C-D9DF-5FBB3A3A3F48}"/>
              </a:ext>
            </a:extLst>
          </p:cNvPr>
          <p:cNvPicPr>
            <a:picLocks noChangeAspect="1"/>
          </p:cNvPicPr>
          <p:nvPr/>
        </p:nvPicPr>
        <p:blipFill>
          <a:blip r:embed="rId6"/>
          <a:stretch>
            <a:fillRect/>
          </a:stretch>
        </p:blipFill>
        <p:spPr>
          <a:xfrm>
            <a:off x="467085" y="4983000"/>
            <a:ext cx="4941714" cy="417204"/>
          </a:xfrm>
          <a:prstGeom prst="rect">
            <a:avLst/>
          </a:prstGeom>
        </p:spPr>
      </p:pic>
      <p:sp>
        <p:nvSpPr>
          <p:cNvPr id="24" name="TextBox 23">
            <a:extLst>
              <a:ext uri="{FF2B5EF4-FFF2-40B4-BE49-F238E27FC236}">
                <a16:creationId xmlns:a16="http://schemas.microsoft.com/office/drawing/2014/main" id="{6A7A2822-511C-51D2-BB81-EC2B63DCA37C}"/>
              </a:ext>
            </a:extLst>
          </p:cNvPr>
          <p:cNvSpPr txBox="1"/>
          <p:nvPr/>
        </p:nvSpPr>
        <p:spPr>
          <a:xfrm>
            <a:off x="211053" y="4542565"/>
            <a:ext cx="6098058" cy="369332"/>
          </a:xfrm>
          <a:prstGeom prst="rect">
            <a:avLst/>
          </a:prstGeom>
          <a:noFill/>
        </p:spPr>
        <p:txBody>
          <a:bodyPr wrap="square">
            <a:spAutoFit/>
          </a:bodyPr>
          <a:lstStyle/>
          <a:p>
            <a:r>
              <a:rPr lang="en-US" dirty="0">
                <a:solidFill>
                  <a:srgbClr val="5FCC7E"/>
                </a:solidFill>
              </a:rPr>
              <a:t>https://6502disassembly.com/a2-rom/IIc_16kb.html</a:t>
            </a:r>
          </a:p>
        </p:txBody>
      </p:sp>
      <p:pic>
        <p:nvPicPr>
          <p:cNvPr id="26" name="Picture 25">
            <a:extLst>
              <a:ext uri="{FF2B5EF4-FFF2-40B4-BE49-F238E27FC236}">
                <a16:creationId xmlns:a16="http://schemas.microsoft.com/office/drawing/2014/main" id="{4E513ED2-6116-D2E0-63C7-41EFC1C01ACA}"/>
              </a:ext>
            </a:extLst>
          </p:cNvPr>
          <p:cNvPicPr>
            <a:picLocks noChangeAspect="1"/>
          </p:cNvPicPr>
          <p:nvPr/>
        </p:nvPicPr>
        <p:blipFill>
          <a:blip r:embed="rId7"/>
          <a:stretch>
            <a:fillRect/>
          </a:stretch>
        </p:blipFill>
        <p:spPr>
          <a:xfrm>
            <a:off x="520829" y="5779364"/>
            <a:ext cx="5021298" cy="895476"/>
          </a:xfrm>
          <a:prstGeom prst="rect">
            <a:avLst/>
          </a:prstGeom>
        </p:spPr>
      </p:pic>
      <p:sp>
        <p:nvSpPr>
          <p:cNvPr id="30" name="TextBox 29">
            <a:extLst>
              <a:ext uri="{FF2B5EF4-FFF2-40B4-BE49-F238E27FC236}">
                <a16:creationId xmlns:a16="http://schemas.microsoft.com/office/drawing/2014/main" id="{FA30E583-A9EF-1930-E2D5-E99E8A1821ED}"/>
              </a:ext>
            </a:extLst>
          </p:cNvPr>
          <p:cNvSpPr txBox="1"/>
          <p:nvPr/>
        </p:nvSpPr>
        <p:spPr>
          <a:xfrm>
            <a:off x="211053" y="5435343"/>
            <a:ext cx="6098058" cy="369332"/>
          </a:xfrm>
          <a:prstGeom prst="rect">
            <a:avLst/>
          </a:prstGeom>
          <a:noFill/>
        </p:spPr>
        <p:txBody>
          <a:bodyPr wrap="square">
            <a:spAutoFit/>
          </a:bodyPr>
          <a:lstStyle/>
          <a:p>
            <a:r>
              <a:rPr lang="en-US" dirty="0">
                <a:solidFill>
                  <a:srgbClr val="5FCC7E"/>
                </a:solidFill>
              </a:rPr>
              <a:t>https://6502disassembly.com/a2-rom/Unenh_IIe_80col.html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5</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Applesoft II: Microsoft's RND</a:t>
            </a:r>
            <a:endParaRPr lang="en-US" sz="3400" dirty="0"/>
          </a:p>
        </p:txBody>
      </p:sp>
      <p:sp>
        <p:nvSpPr>
          <p:cNvPr id="5" name="Text 3"/>
          <p:cNvSpPr txBox="1"/>
          <p:nvPr/>
        </p:nvSpPr>
        <p:spPr>
          <a:xfrm>
            <a:off x="640080" y="1115568"/>
            <a:ext cx="10058400" cy="365760"/>
          </a:xfrm>
          <a:prstGeom prst="rect">
            <a:avLst/>
          </a:prstGeom>
          <a:noFill/>
          <a:ln/>
        </p:spPr>
        <p:txBody>
          <a:bodyPr wrap="square" lIns="0" tIns="0" rIns="0" bIns="0" rtlCol="0" anchor="ctr"/>
          <a:lstStyle/>
          <a:p>
            <a:pPr marL="0" indent="0">
              <a:buNone/>
            </a:pPr>
            <a:r>
              <a:rPr sz="1500">
                <a:solidFill>
                  <a:srgbClr val="9DA39B"/>
                </a:solidFill>
                <a:latin typeface="Arial"/>
              </a:rPr>
              <a:t>Microsoft wrote this generator. Apple licensed it and shipped it unchanged in ROM.</a:t>
            </a:r>
            <a:endParaRPr lang="en-US" sz="1600" dirty="0"/>
          </a:p>
        </p:txBody>
      </p:sp>
      <p:pic>
        <p:nvPicPr>
          <p:cNvPr id="6" name="Image 0" descr="Applesoft RND routine, $EFAE-$EFE7, from McFadden's disassembly of S-C DocuMentor"/>
          <p:cNvPicPr>
            <a:picLocks noChangeAspect="1"/>
          </p:cNvPicPr>
          <p:nvPr/>
        </p:nvPicPr>
        <p:blipFill>
          <a:blip r:embed="rId3"/>
          <a:stretch>
            <a:fillRect/>
          </a:stretch>
        </p:blipFill>
        <p:spPr>
          <a:xfrm>
            <a:off x="640080" y="1691640"/>
            <a:ext cx="7772400" cy="4197096"/>
          </a:xfrm>
          <a:prstGeom prst="rect">
            <a:avLst/>
          </a:prstGeom>
        </p:spPr>
      </p:pic>
      <p:sp>
        <p:nvSpPr>
          <p:cNvPr id="7" name="Shape 4"/>
          <p:cNvSpPr/>
          <p:nvPr/>
        </p:nvSpPr>
        <p:spPr>
          <a:xfrm>
            <a:off x="8641080" y="1691640"/>
            <a:ext cx="2880360" cy="1965960"/>
          </a:xfrm>
          <a:prstGeom prst="roundRect">
            <a:avLst>
              <a:gd name="adj" fmla="val 2791"/>
            </a:avLst>
          </a:prstGeom>
          <a:solidFill>
            <a:srgbClr val="202225"/>
          </a:solidFill>
          <a:ln w="25400">
            <a:solidFill>
              <a:srgbClr val="D9564A"/>
            </a:solidFill>
            <a:prstDash val="solid"/>
          </a:ln>
        </p:spPr>
        <p:txBody>
          <a:bodyPr/>
          <a:lstStyle/>
          <a:p>
            <a:endParaRPr lang="en-US"/>
          </a:p>
        </p:txBody>
      </p:sp>
      <p:sp>
        <p:nvSpPr>
          <p:cNvPr id="8" name="Text 5"/>
          <p:cNvSpPr txBox="1"/>
          <p:nvPr/>
        </p:nvSpPr>
        <p:spPr>
          <a:xfrm>
            <a:off x="8869680" y="1874520"/>
            <a:ext cx="2624328" cy="320040"/>
          </a:xfrm>
          <a:prstGeom prst="rect">
            <a:avLst/>
          </a:prstGeom>
          <a:noFill/>
          <a:ln/>
        </p:spPr>
        <p:txBody>
          <a:bodyPr wrap="square" lIns="0" tIns="0" rIns="0" bIns="0" rtlCol="0" anchor="ctr"/>
          <a:lstStyle/>
          <a:p>
            <a:pPr marL="0" indent="0">
              <a:buNone/>
            </a:pPr>
            <a:r>
              <a:rPr lang="en-US" sz="1400" b="1" dirty="0">
                <a:solidFill>
                  <a:srgbClr val="D9564A"/>
                </a:solidFill>
                <a:latin typeface="Arial" pitchFamily="34" charset="0"/>
                <a:ea typeface="Arial" pitchFamily="34" charset="-122"/>
                <a:cs typeface="Arial" pitchFamily="34" charset="-120"/>
              </a:rPr>
              <a:t>Seed: $C9, filled from ROM</a:t>
            </a:r>
            <a:endParaRPr lang="en-US" sz="1400" dirty="0"/>
          </a:p>
        </p:txBody>
      </p:sp>
      <p:sp>
        <p:nvSpPr>
          <p:cNvPr id="9" name="Text 6"/>
          <p:cNvSpPr txBox="1"/>
          <p:nvPr/>
        </p:nvSpPr>
        <p:spPr>
          <a:xfrm>
            <a:off x="8869680" y="2267712"/>
            <a:ext cx="2468880" cy="1188720"/>
          </a:xfrm>
          <a:prstGeom prst="rect">
            <a:avLst/>
          </a:prstGeom>
          <a:noFill/>
          <a:ln/>
        </p:spPr>
        <p:txBody>
          <a:bodyPr wrap="square" lIns="0" tIns="0" rIns="0" bIns="0" rtlCol="0" anchor="t"/>
          <a:lstStyle/>
          <a:p>
            <a:pPr marL="0" indent="0">
              <a:buNone/>
            </a:pPr>
            <a:r>
              <a:rPr lang="en-US" sz="1300" dirty="0">
                <a:solidFill>
                  <a:schemeClr val="bg1">
                    <a:lumMod val="95000"/>
                  </a:schemeClr>
                </a:solidFill>
              </a:rPr>
              <a:t>$4E/$4F still counts. Applesoft never reads it.</a:t>
            </a:r>
          </a:p>
        </p:txBody>
      </p:sp>
      <p:sp>
        <p:nvSpPr>
          <p:cNvPr id="10" name="Shape 7"/>
          <p:cNvSpPr/>
          <p:nvPr/>
        </p:nvSpPr>
        <p:spPr>
          <a:xfrm>
            <a:off x="8641080" y="3840480"/>
            <a:ext cx="2880360" cy="2057400"/>
          </a:xfrm>
          <a:prstGeom prst="roundRect">
            <a:avLst>
              <a:gd name="adj" fmla="val 2667"/>
            </a:avLst>
          </a:prstGeom>
          <a:solidFill>
            <a:srgbClr val="202225"/>
          </a:solidFill>
          <a:ln w="12700">
            <a:solidFill>
              <a:srgbClr val="32363A"/>
            </a:solidFill>
            <a:prstDash val="solid"/>
          </a:ln>
        </p:spPr>
        <p:txBody>
          <a:bodyPr/>
          <a:lstStyle/>
          <a:p>
            <a:endParaRPr lang="en-US"/>
          </a:p>
        </p:txBody>
      </p:sp>
      <p:sp>
        <p:nvSpPr>
          <p:cNvPr id="11" name="Text 8"/>
          <p:cNvSpPr txBox="1"/>
          <p:nvPr/>
        </p:nvSpPr>
        <p:spPr>
          <a:xfrm>
            <a:off x="8869680" y="4023360"/>
            <a:ext cx="2468880" cy="32004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What it does</a:t>
            </a:r>
            <a:endParaRPr lang="en-US" sz="1400" dirty="0"/>
          </a:p>
        </p:txBody>
      </p:sp>
      <p:sp>
        <p:nvSpPr>
          <p:cNvPr id="12" name="Text 9"/>
          <p:cNvSpPr txBox="1"/>
          <p:nvPr/>
        </p:nvSpPr>
        <p:spPr>
          <a:xfrm>
            <a:off x="8869680" y="4416552"/>
            <a:ext cx="2468880" cy="1371600"/>
          </a:xfrm>
          <a:prstGeom prst="rect">
            <a:avLst/>
          </a:prstGeom>
          <a:noFill/>
          <a:ln/>
        </p:spPr>
        <p:txBody>
          <a:bodyPr wrap="square" lIns="0" tIns="0" rIns="0" bIns="0" rtlCol="0" anchor="t"/>
          <a:lstStyle/>
          <a:p>
            <a:pPr marL="0" indent="0">
              <a:buNone/>
            </a:pPr>
            <a:r>
              <a:rPr lang="en-US" sz="1300" dirty="0">
                <a:solidFill>
                  <a:srgbClr val="E9E7E3"/>
                </a:solidFill>
                <a:latin typeface="Arial" pitchFamily="34" charset="0"/>
                <a:ea typeface="Arial" pitchFamily="34" charset="-122"/>
                <a:cs typeface="Arial" pitchFamily="34" charset="-120"/>
              </a:rPr>
              <a:t>Loads the seed at $C9, multiplies, adds (lost to precision), swaps the high and low mantissa bytes, forces the result under 1, writes it back to $C9. Nothing else touches $C9.</a:t>
            </a:r>
            <a:endParaRPr lang="en-US" sz="1300" dirty="0"/>
          </a:p>
        </p:txBody>
      </p:sp>
      <p:sp>
        <p:nvSpPr>
          <p:cNvPr id="13" name="TextBox 12"/>
          <p:cNvSpPr txBox="1"/>
          <p:nvPr/>
        </p:nvSpPr>
        <p:spPr>
          <a:xfrm>
            <a:off x="640080" y="5943600"/>
            <a:ext cx="10881360" cy="411480"/>
          </a:xfrm>
          <a:prstGeom prst="rect">
            <a:avLst/>
          </a:prstGeom>
          <a:noFill/>
        </p:spPr>
        <p:txBody>
          <a:bodyPr wrap="square">
            <a:spAutoFit/>
          </a:bodyPr>
          <a:lstStyle/>
          <a:p>
            <a:r>
              <a:rPr sz="1100" b="0">
                <a:solidFill>
                  <a:srgbClr val="9DA39B"/>
                </a:solidFill>
                <a:latin typeface="Arial"/>
              </a:rPr>
              <a:t>Listing and comments: Bob Sander-Cederlof, S-C DocuMentor, via Andy McFadden (6502disassembly.com). The comments are Sander-Cederlof's, not Microsoft's.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81A"/>
        </a:solidFill>
        <a:effectLst/>
      </p:bgPr>
    </p:bg>
    <p:spTree>
      <p:nvGrpSpPr>
        <p:cNvPr id="1" name="">
          <a:extLst>
            <a:ext uri="{FF2B5EF4-FFF2-40B4-BE49-F238E27FC236}">
              <a16:creationId xmlns:a16="http://schemas.microsoft.com/office/drawing/2014/main" id="{CC1F5726-C349-6768-6410-497A76FE1D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C15018-2CFA-75D3-5FDF-9E3150F93F93}"/>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a:extLst>
              <a:ext uri="{FF2B5EF4-FFF2-40B4-BE49-F238E27FC236}">
                <a16:creationId xmlns:a16="http://schemas.microsoft.com/office/drawing/2014/main" id="{F46158A9-6D95-E04F-35CC-08070C1AC4EA}"/>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6</a:t>
            </a:r>
            <a:endParaRPr lang="en-US" sz="1600" dirty="0"/>
          </a:p>
        </p:txBody>
      </p:sp>
      <p:sp>
        <p:nvSpPr>
          <p:cNvPr id="4" name="Text 2">
            <a:extLst>
              <a:ext uri="{FF2B5EF4-FFF2-40B4-BE49-F238E27FC236}">
                <a16:creationId xmlns:a16="http://schemas.microsoft.com/office/drawing/2014/main" id="{E8D59CB5-8EEC-411E-6243-F8BBD3C1AB25}"/>
              </a:ext>
            </a:extLst>
          </p:cNvPr>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Applesoft Manual, 1978</a:t>
            </a:r>
            <a:endParaRPr lang="en-US" sz="3400" dirty="0"/>
          </a:p>
        </p:txBody>
      </p:sp>
      <p:sp>
        <p:nvSpPr>
          <p:cNvPr id="5" name="Text 3">
            <a:extLst>
              <a:ext uri="{FF2B5EF4-FFF2-40B4-BE49-F238E27FC236}">
                <a16:creationId xmlns:a16="http://schemas.microsoft.com/office/drawing/2014/main" id="{7F2DCEE7-5C6C-80B2-F13F-61AD06F13FE6}"/>
              </a:ext>
            </a:extLst>
          </p:cNvPr>
          <p:cNvSpPr txBox="1"/>
          <p:nvPr/>
        </p:nvSpPr>
        <p:spPr>
          <a:xfrm>
            <a:off x="640080" y="1115568"/>
            <a:ext cx="10058400" cy="365760"/>
          </a:xfrm>
          <a:prstGeom prst="rect">
            <a:avLst/>
          </a:prstGeom>
          <a:noFill/>
          <a:ln/>
        </p:spPr>
        <p:txBody>
          <a:bodyPr wrap="square" lIns="0" tIns="0" rIns="0" bIns="0" rtlCol="0" anchor="ctr"/>
          <a:lstStyle/>
          <a:p>
            <a:pPr marL="0" indent="0">
              <a:buNone/>
            </a:pPr>
            <a:endParaRPr lang="en-US" sz="1600" dirty="0"/>
          </a:p>
        </p:txBody>
      </p:sp>
      <p:pic>
        <p:nvPicPr>
          <p:cNvPr id="14" name="Picture 13">
            <a:extLst>
              <a:ext uri="{FF2B5EF4-FFF2-40B4-BE49-F238E27FC236}">
                <a16:creationId xmlns:a16="http://schemas.microsoft.com/office/drawing/2014/main" id="{0CDF9C1A-9E16-66DD-4AE2-956690AEF5E8}"/>
              </a:ext>
            </a:extLst>
          </p:cNvPr>
          <p:cNvPicPr>
            <a:picLocks noChangeAspect="1"/>
          </p:cNvPicPr>
          <p:nvPr/>
        </p:nvPicPr>
        <p:blipFill>
          <a:blip r:embed="rId3"/>
          <a:stretch>
            <a:fillRect/>
          </a:stretch>
        </p:blipFill>
        <p:spPr>
          <a:xfrm>
            <a:off x="571124" y="1132648"/>
            <a:ext cx="7561569" cy="669165"/>
          </a:xfrm>
          <a:prstGeom prst="rect">
            <a:avLst/>
          </a:prstGeom>
        </p:spPr>
      </p:pic>
      <p:pic>
        <p:nvPicPr>
          <p:cNvPr id="16" name="Picture 15">
            <a:extLst>
              <a:ext uri="{FF2B5EF4-FFF2-40B4-BE49-F238E27FC236}">
                <a16:creationId xmlns:a16="http://schemas.microsoft.com/office/drawing/2014/main" id="{FEDA7149-B6AA-1D1D-55D2-A9A0583932D7}"/>
              </a:ext>
            </a:extLst>
          </p:cNvPr>
          <p:cNvPicPr>
            <a:picLocks noChangeAspect="1"/>
          </p:cNvPicPr>
          <p:nvPr/>
        </p:nvPicPr>
        <p:blipFill>
          <a:blip r:embed="rId4"/>
          <a:stretch>
            <a:fillRect/>
          </a:stretch>
        </p:blipFill>
        <p:spPr>
          <a:xfrm>
            <a:off x="548582" y="2224781"/>
            <a:ext cx="7645962" cy="580274"/>
          </a:xfrm>
          <a:prstGeom prst="rect">
            <a:avLst/>
          </a:prstGeom>
        </p:spPr>
      </p:pic>
      <p:sp>
        <p:nvSpPr>
          <p:cNvPr id="17" name="Text 2">
            <a:extLst>
              <a:ext uri="{FF2B5EF4-FFF2-40B4-BE49-F238E27FC236}">
                <a16:creationId xmlns:a16="http://schemas.microsoft.com/office/drawing/2014/main" id="{50222E10-53A8-81B4-3915-21D2A28F82C3}"/>
              </a:ext>
            </a:extLst>
          </p:cNvPr>
          <p:cNvSpPr txBox="1"/>
          <p:nvPr/>
        </p:nvSpPr>
        <p:spPr>
          <a:xfrm>
            <a:off x="244548" y="1736915"/>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RND(n)</a:t>
            </a:r>
            <a:endParaRPr lang="en-US" sz="1600" dirty="0"/>
          </a:p>
        </p:txBody>
      </p:sp>
      <p:sp>
        <p:nvSpPr>
          <p:cNvPr id="18" name="Text 2">
            <a:extLst>
              <a:ext uri="{FF2B5EF4-FFF2-40B4-BE49-F238E27FC236}">
                <a16:creationId xmlns:a16="http://schemas.microsoft.com/office/drawing/2014/main" id="{4CFF5371-2777-FC7B-B899-7E943AC9F3F0}"/>
              </a:ext>
            </a:extLst>
          </p:cNvPr>
          <p:cNvSpPr txBox="1"/>
          <p:nvPr/>
        </p:nvSpPr>
        <p:spPr>
          <a:xfrm>
            <a:off x="244548" y="2743200"/>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RND(-n)</a:t>
            </a:r>
            <a:endParaRPr lang="en-US" sz="1600" dirty="0"/>
          </a:p>
        </p:txBody>
      </p:sp>
      <p:pic>
        <p:nvPicPr>
          <p:cNvPr id="24" name="Picture 23">
            <a:extLst>
              <a:ext uri="{FF2B5EF4-FFF2-40B4-BE49-F238E27FC236}">
                <a16:creationId xmlns:a16="http://schemas.microsoft.com/office/drawing/2014/main" id="{64AF6307-19BD-2FFB-E368-69788C55C266}"/>
              </a:ext>
            </a:extLst>
          </p:cNvPr>
          <p:cNvPicPr>
            <a:picLocks noChangeAspect="1"/>
          </p:cNvPicPr>
          <p:nvPr/>
        </p:nvPicPr>
        <p:blipFill>
          <a:blip r:embed="rId5"/>
          <a:stretch>
            <a:fillRect/>
          </a:stretch>
        </p:blipFill>
        <p:spPr>
          <a:xfrm>
            <a:off x="548580" y="3359351"/>
            <a:ext cx="7645963" cy="1866467"/>
          </a:xfrm>
          <a:prstGeom prst="rect">
            <a:avLst/>
          </a:prstGeom>
        </p:spPr>
      </p:pic>
      <p:sp>
        <p:nvSpPr>
          <p:cNvPr id="25" name="Text 2">
            <a:extLst>
              <a:ext uri="{FF2B5EF4-FFF2-40B4-BE49-F238E27FC236}">
                <a16:creationId xmlns:a16="http://schemas.microsoft.com/office/drawing/2014/main" id="{6B0FCE1F-78B1-0FA7-A06A-9AED4B76CC6D}"/>
              </a:ext>
            </a:extLst>
          </p:cNvPr>
          <p:cNvSpPr txBox="1"/>
          <p:nvPr/>
        </p:nvSpPr>
        <p:spPr>
          <a:xfrm>
            <a:off x="244548" y="5156169"/>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RND(0)</a:t>
            </a:r>
            <a:endParaRPr lang="en-US" sz="1600" dirty="0"/>
          </a:p>
        </p:txBody>
      </p:sp>
      <p:pic>
        <p:nvPicPr>
          <p:cNvPr id="27" name="Picture 26">
            <a:extLst>
              <a:ext uri="{FF2B5EF4-FFF2-40B4-BE49-F238E27FC236}">
                <a16:creationId xmlns:a16="http://schemas.microsoft.com/office/drawing/2014/main" id="{0D35BECF-8176-D8D4-940E-F68E11F7E6F4}"/>
              </a:ext>
            </a:extLst>
          </p:cNvPr>
          <p:cNvPicPr>
            <a:picLocks noChangeAspect="1"/>
          </p:cNvPicPr>
          <p:nvPr/>
        </p:nvPicPr>
        <p:blipFill>
          <a:blip r:embed="rId6"/>
          <a:stretch>
            <a:fillRect/>
          </a:stretch>
        </p:blipFill>
        <p:spPr>
          <a:xfrm>
            <a:off x="548580" y="5725352"/>
            <a:ext cx="7645963" cy="925816"/>
          </a:xfrm>
          <a:prstGeom prst="rect">
            <a:avLst/>
          </a:prstGeom>
        </p:spPr>
      </p:pic>
      <p:pic>
        <p:nvPicPr>
          <p:cNvPr id="29" name="Picture 28">
            <a:extLst>
              <a:ext uri="{FF2B5EF4-FFF2-40B4-BE49-F238E27FC236}">
                <a16:creationId xmlns:a16="http://schemas.microsoft.com/office/drawing/2014/main" id="{8FE12990-0DD9-EFA3-EC44-5EF1BF538716}"/>
              </a:ext>
            </a:extLst>
          </p:cNvPr>
          <p:cNvPicPr>
            <a:picLocks noChangeAspect="1"/>
          </p:cNvPicPr>
          <p:nvPr/>
        </p:nvPicPr>
        <p:blipFill>
          <a:blip r:embed="rId7"/>
          <a:stretch>
            <a:fillRect/>
          </a:stretch>
        </p:blipFill>
        <p:spPr>
          <a:xfrm>
            <a:off x="8633518" y="2273618"/>
            <a:ext cx="3009900" cy="482600"/>
          </a:xfrm>
          <a:prstGeom prst="rect">
            <a:avLst/>
          </a:prstGeom>
        </p:spPr>
      </p:pic>
      <p:sp>
        <p:nvSpPr>
          <p:cNvPr id="30" name="TextBox 29"/>
          <p:cNvSpPr txBox="1"/>
          <p:nvPr/>
        </p:nvSpPr>
        <p:spPr>
          <a:xfrm>
            <a:off x="8631936" y="2816352"/>
            <a:ext cx="3017520" cy="365760"/>
          </a:xfrm>
          <a:prstGeom prst="rect">
            <a:avLst/>
          </a:prstGeom>
          <a:noFill/>
        </p:spPr>
        <p:txBody>
          <a:bodyPr wrap="square">
            <a:spAutoFit/>
          </a:bodyPr>
          <a:lstStyle/>
          <a:p>
            <a:r>
              <a:rPr sz="1400" b="1">
                <a:solidFill>
                  <a:srgbClr val="5FCB7E"/>
                </a:solidFill>
                <a:latin typeface="Arial"/>
              </a:rPr>
              <a:t>…starting here, every power-on.</a:t>
            </a:r>
          </a:p>
        </p:txBody>
      </p:sp>
      <p:sp>
        <p:nvSpPr>
          <p:cNvPr id="31" name="Rectangle 30"/>
          <p:cNvSpPr/>
          <p:nvPr/>
        </p:nvSpPr>
        <p:spPr>
          <a:xfrm>
            <a:off x="8631936" y="3749039"/>
            <a:ext cx="2926080" cy="1600200"/>
          </a:xfrm>
          <a:prstGeom prst="rect">
            <a:avLst/>
          </a:prstGeom>
          <a:solidFill>
            <a:srgbClr val="2022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78240" y="3886200"/>
            <a:ext cx="2697480" cy="1371600"/>
          </a:xfrm>
          <a:prstGeom prst="rect">
            <a:avLst/>
          </a:prstGeom>
          <a:noFill/>
        </p:spPr>
        <p:txBody>
          <a:bodyPr wrap="square">
            <a:spAutoFit/>
          </a:bodyPr>
          <a:lstStyle/>
          <a:p>
            <a:r>
              <a:rPr sz="1700" b="1">
                <a:solidFill>
                  <a:srgbClr val="E9E7E3"/>
                </a:solidFill>
                <a:latin typeface="Arial"/>
              </a:rPr>
              <a:t>Repeatable on purpose: documented.</a:t>
            </a:r>
          </a:p>
          <a:p>
            <a:r>
              <a:rPr sz="1700" b="1">
                <a:solidFill>
                  <a:srgbClr val="E9E7E3"/>
                </a:solidFill>
                <a:latin typeface="Arial"/>
              </a:rPr>
              <a:t/>
            </a:r>
          </a:p>
          <a:p>
            <a:r>
              <a:rPr sz="1700" b="1">
                <a:solidFill>
                  <a:srgbClr val="E9E7E3"/>
                </a:solidFill>
                <a:latin typeface="Arial"/>
              </a:rPr>
              <a:t>Repeatable by accident: not.</a:t>
            </a:r>
          </a:p>
        </p:txBody>
      </p:sp>
    </p:spTree>
    <p:extLst>
      <p:ext uri="{BB962C8B-B14F-4D97-AF65-F5344CB8AC3E}">
        <p14:creationId xmlns:p14="http://schemas.microsoft.com/office/powerpoint/2010/main" val="344743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7</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Found. Published. Worked around.</a:t>
            </a:r>
            <a:endParaRPr lang="en-US" sz="3400" dirty="0"/>
          </a:p>
        </p:txBody>
      </p:sp>
      <p:sp>
        <p:nvSpPr>
          <p:cNvPr id="5" name="Text 3"/>
          <p:cNvSpPr txBox="1"/>
          <p:nvPr/>
        </p:nvSpPr>
        <p:spPr>
          <a:xfrm>
            <a:off x="731520" y="1920240"/>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Kaner &amp; Vokey (1982; MICRO, 1984)</a:t>
            </a:r>
            <a:endParaRPr lang="en-US" sz="1400" dirty="0"/>
          </a:p>
        </p:txBody>
      </p:sp>
      <p:sp>
        <p:nvSpPr>
          <p:cNvPr id="6" name="Text 4"/>
          <p:cNvSpPr txBox="1"/>
          <p:nvPr/>
        </p:nvSpPr>
        <p:spPr>
          <a:xfrm>
            <a:off x="4754880" y="1920240"/>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RND fell into an endless loop of 202 numbers.</a:t>
            </a:r>
            <a:endParaRPr lang="en-US" sz="1400" dirty="0"/>
          </a:p>
        </p:txBody>
      </p:sp>
      <p:sp>
        <p:nvSpPr>
          <p:cNvPr id="7" name="Text 5"/>
          <p:cNvSpPr txBox="1"/>
          <p:nvPr/>
        </p:nvSpPr>
        <p:spPr>
          <a:xfrm>
            <a:off x="731520" y="2578608"/>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Call-A.P.P.L.E., Jan 1983, pp. 29–34</a:t>
            </a:r>
            <a:endParaRPr lang="en-US" sz="1400" dirty="0"/>
          </a:p>
        </p:txBody>
      </p:sp>
      <p:sp>
        <p:nvSpPr>
          <p:cNvPr id="8" name="Text 6"/>
          <p:cNvSpPr txBox="1"/>
          <p:nvPr/>
        </p:nvSpPr>
        <p:spPr>
          <a:xfrm>
            <a:off x="4754880" y="2578608"/>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“RND is Fatally Flawed.”</a:t>
            </a:r>
            <a:endParaRPr lang="en-US" sz="1400" dirty="0"/>
          </a:p>
        </p:txBody>
      </p:sp>
      <p:sp>
        <p:nvSpPr>
          <p:cNvPr id="9" name="Text 7"/>
          <p:cNvSpPr txBox="1"/>
          <p:nvPr/>
        </p:nvSpPr>
        <p:spPr>
          <a:xfrm>
            <a:off x="731520" y="3236976"/>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Sander-Cederlof, AAL May 1984</a:t>
            </a:r>
            <a:endParaRPr lang="en-US" sz="1400" dirty="0"/>
          </a:p>
        </p:txBody>
      </p:sp>
      <p:sp>
        <p:nvSpPr>
          <p:cNvPr id="10" name="Text 8"/>
          <p:cNvSpPr txBox="1"/>
          <p:nvPr/>
        </p:nvSpPr>
        <p:spPr>
          <a:xfrm>
            <a:off x="4754880" y="3236976"/>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Seed copy is off by one ($F151: $1C→$1D). Repeats at number 37,758.</a:t>
            </a:r>
            <a:endParaRPr lang="en-US" sz="1400" dirty="0"/>
          </a:p>
        </p:txBody>
      </p:sp>
      <p:sp>
        <p:nvSpPr>
          <p:cNvPr id="11" name="Text 9"/>
          <p:cNvSpPr txBox="1"/>
          <p:nvPr/>
        </p:nvSpPr>
        <p:spPr>
          <a:xfrm>
            <a:off x="731520" y="3895344"/>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Aldridge, BRMIC 19(4), 1987</a:t>
            </a:r>
            <a:endParaRPr lang="en-US" sz="1400" dirty="0"/>
          </a:p>
        </p:txBody>
      </p:sp>
      <p:sp>
        <p:nvSpPr>
          <p:cNvPr id="12" name="Text 10"/>
          <p:cNvSpPr txBox="1"/>
          <p:nvPr/>
        </p:nvSpPr>
        <p:spPr>
          <a:xfrm>
            <a:off x="4754880" y="3895344"/>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Each day's first subject got the same “random” word list.</a:t>
            </a:r>
            <a:endParaRPr lang="en-US" sz="1400" dirty="0"/>
          </a:p>
        </p:txBody>
      </p:sp>
      <p:sp>
        <p:nvSpPr>
          <p:cNvPr id="13" name="Text 11"/>
          <p:cNvSpPr txBox="1"/>
          <p:nvPr/>
        </p:nvSpPr>
        <p:spPr>
          <a:xfrm>
            <a:off x="731520" y="4553712"/>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Gleason, Collegiate Microcomputer, 1988</a:t>
            </a:r>
            <a:endParaRPr lang="en-US" sz="1400" dirty="0"/>
          </a:p>
        </p:txBody>
      </p:sp>
      <p:sp>
        <p:nvSpPr>
          <p:cNvPr id="14" name="Text 12"/>
          <p:cNvSpPr txBox="1"/>
          <p:nvPr/>
        </p:nvSpPr>
        <p:spPr>
          <a:xfrm>
            <a:off x="4754880" y="4553712"/>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Tested Apple IIe RND; published suggested seeds. ERIC EJ372427.</a:t>
            </a:r>
            <a:endParaRPr lang="en-US" sz="1400" dirty="0"/>
          </a:p>
        </p:txBody>
      </p:sp>
      <p:sp>
        <p:nvSpPr>
          <p:cNvPr id="15" name="Text 11"/>
          <p:cNvSpPr txBox="1"/>
          <p:nvPr/>
        </p:nvSpPr>
        <p:spPr>
          <a:xfrm>
            <a:off x="731520" y="5212080"/>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Empson, GS WorldView, 1999</a:t>
            </a:r>
            <a:endParaRPr lang="en-US" sz="1400" dirty="0"/>
          </a:p>
        </p:txBody>
      </p:sp>
      <p:sp>
        <p:nvSpPr>
          <p:cNvPr id="16" name="Text 12"/>
          <p:cNvSpPr txBox="1"/>
          <p:nvPr/>
        </p:nvSpPr>
        <p:spPr>
          <a:xfrm>
            <a:off x="4754880" y="5212080"/>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Wrote up R. C. Moore's 1989 shift-register RNG, seeded from $4E/$4F.</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8</a:t>
            </a:r>
            <a:endParaRPr lang="en-US" sz="1600" dirty="0"/>
          </a:p>
        </p:txBody>
      </p:sp>
      <p:sp>
        <p:nvSpPr>
          <p:cNvPr id="4" name="Text 2"/>
          <p:cNvSpPr txBox="1"/>
          <p:nvPr/>
        </p:nvSpPr>
        <p:spPr>
          <a:xfrm>
            <a:off x="474134" y="384048"/>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The Fix: Put the Counter Back</a:t>
            </a:r>
            <a:endParaRPr lang="en-US" sz="3400" dirty="0"/>
          </a:p>
        </p:txBody>
      </p:sp>
      <p:sp>
        <p:nvSpPr>
          <p:cNvPr id="19" name="TextBox 18">
            <a:extLst>
              <a:ext uri="{FF2B5EF4-FFF2-40B4-BE49-F238E27FC236}">
                <a16:creationId xmlns:a16="http://schemas.microsoft.com/office/drawing/2014/main" id="{8462916D-E1EA-BBD6-2BC9-975C565E3736}"/>
              </a:ext>
            </a:extLst>
          </p:cNvPr>
          <p:cNvSpPr txBox="1"/>
          <p:nvPr/>
        </p:nvSpPr>
        <p:spPr>
          <a:xfrm>
            <a:off x="550334" y="1670728"/>
            <a:ext cx="6096000" cy="2923877"/>
          </a:xfrm>
          <a:prstGeom prst="rect">
            <a:avLst/>
          </a:prstGeom>
          <a:noFill/>
        </p:spPr>
        <p:txBody>
          <a:bodyPr wrap="square">
            <a:spAutoFit/>
          </a:bodyPr>
          <a:lstStyle/>
          <a:p>
            <a:pPr marL="342900" lvl="0" indent="-342900" algn="l">
              <a:spcAft>
                <a:spcPts val="1200"/>
              </a:spcAft>
              <a:buFont typeface="+mj-lt"/>
              <a:buAutoNum type="arabicPeriod"/>
            </a:pPr>
            <a:r>
              <a:rPr lang="en-US" sz="1800" b="0" i="0" dirty="0">
                <a:solidFill>
                  <a:schemeClr val="bg1">
                    <a:lumMod val="95000"/>
                  </a:schemeClr>
                </a:solidFill>
                <a:effectLst/>
                <a:latin typeface="+mn-lt"/>
              </a:rPr>
              <a:t>Enables language card write mode while keeping ROM readable</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Copies $D000-$FFFF (all of Applesoft and the monitor ROM) from ROM to LC RAM</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Writes the patch code into the LC at $F5CB, over HFIND, which no Applesoft routine calls</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Writes JMP $F5CB at $EFAE in the LC copy</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Switches the language card to read mode</a:t>
            </a:r>
          </a:p>
        </p:txBody>
      </p:sp>
      <p:sp>
        <p:nvSpPr>
          <p:cNvPr id="20" name="TextBox 19">
            <a:extLst>
              <a:ext uri="{FF2B5EF4-FFF2-40B4-BE49-F238E27FC236}">
                <a16:creationId xmlns:a16="http://schemas.microsoft.com/office/drawing/2014/main" id="{47DE3E91-E1F4-1BB1-C9E1-DE19C1DF1B89}"/>
              </a:ext>
            </a:extLst>
          </p:cNvPr>
          <p:cNvSpPr txBox="1"/>
          <p:nvPr/>
        </p:nvSpPr>
        <p:spPr>
          <a:xfrm>
            <a:off x="474134" y="1199338"/>
            <a:ext cx="6096000" cy="369332"/>
          </a:xfrm>
          <a:prstGeom prst="rect">
            <a:avLst/>
          </a:prstGeom>
          <a:noFill/>
        </p:spPr>
        <p:txBody>
          <a:bodyPr wrap="square">
            <a:spAutoFit/>
          </a:bodyPr>
          <a:lstStyle/>
          <a:p>
            <a:pPr lvl="0" algn="l">
              <a:spcAft>
                <a:spcPts val="1200"/>
              </a:spcAft>
            </a:pPr>
            <a:r>
              <a:rPr lang="en-US" u="sng" dirty="0" err="1">
                <a:solidFill>
                  <a:schemeClr val="bg1">
                    <a:lumMod val="95000"/>
                  </a:schemeClr>
                </a:solidFill>
              </a:rPr>
              <a:t>Part 1 · LC_Loader.bin</a:t>
            </a:r>
            <a:endParaRPr lang="en-US" sz="1800" b="0" i="0" u="sng" dirty="0">
              <a:solidFill>
                <a:schemeClr val="bg1">
                  <a:lumMod val="95000"/>
                </a:schemeClr>
              </a:solidFill>
              <a:effectLst/>
              <a:latin typeface="-apple-system"/>
            </a:endParaRPr>
          </a:p>
        </p:txBody>
      </p:sp>
      <p:sp>
        <p:nvSpPr>
          <p:cNvPr id="21" name="TextBox 20">
            <a:extLst>
              <a:ext uri="{FF2B5EF4-FFF2-40B4-BE49-F238E27FC236}">
                <a16:creationId xmlns:a16="http://schemas.microsoft.com/office/drawing/2014/main" id="{F7C4D2C5-364A-3040-A75E-4943A29F9D4B}"/>
              </a:ext>
            </a:extLst>
          </p:cNvPr>
          <p:cNvSpPr txBox="1"/>
          <p:nvPr/>
        </p:nvSpPr>
        <p:spPr>
          <a:xfrm>
            <a:off x="474134" y="4734467"/>
            <a:ext cx="6096000" cy="369332"/>
          </a:xfrm>
          <a:prstGeom prst="rect">
            <a:avLst/>
          </a:prstGeom>
          <a:noFill/>
        </p:spPr>
        <p:txBody>
          <a:bodyPr wrap="square">
            <a:spAutoFit/>
          </a:bodyPr>
          <a:lstStyle/>
          <a:p>
            <a:pPr lvl="0" algn="l">
              <a:spcAft>
                <a:spcPts val="1200"/>
              </a:spcAft>
            </a:pPr>
            <a:r>
              <a:rPr lang="en-US" u="sng" dirty="0" err="1">
                <a:solidFill>
                  <a:schemeClr val="bg1">
                    <a:lumMod val="95000"/>
                  </a:schemeClr>
                </a:solidFill>
              </a:rPr>
              <a:t>Part 2 · Patch_lc.bin</a:t>
            </a:r>
            <a:endParaRPr lang="en-US" u="sng" dirty="0">
              <a:solidFill>
                <a:schemeClr val="bg1">
                  <a:lumMod val="95000"/>
                </a:schemeClr>
              </a:solidFill>
            </a:endParaRPr>
          </a:p>
        </p:txBody>
      </p:sp>
      <p:sp>
        <p:nvSpPr>
          <p:cNvPr id="24" name="TextBox 23">
            <a:extLst>
              <a:ext uri="{FF2B5EF4-FFF2-40B4-BE49-F238E27FC236}">
                <a16:creationId xmlns:a16="http://schemas.microsoft.com/office/drawing/2014/main" id="{661F91C8-80F1-851F-01AA-8E6CC3C15F25}"/>
              </a:ext>
            </a:extLst>
          </p:cNvPr>
          <p:cNvSpPr txBox="1"/>
          <p:nvPr/>
        </p:nvSpPr>
        <p:spPr>
          <a:xfrm>
            <a:off x="474134" y="5137665"/>
            <a:ext cx="6096000" cy="1143000"/>
          </a:xfrm>
          <a:prstGeom prst="rect">
            <a:avLst/>
          </a:prstGeom>
          <a:noFill/>
        </p:spPr>
        <p:txBody>
          <a:bodyPr wrap="square">
            <a:spAutoFit/>
          </a:bodyPr>
          <a:lstStyle/>
          <a:p>
            <a:pPr lvl="0" algn="l">
              <a:spcAft>
                <a:spcPts val="1200"/>
              </a:spcAft>
            </a:pPr>
            <a:r>
              <a:rPr lang="en-US" dirty="0">
                <a:solidFill>
                  <a:schemeClr val="bg1">
                    <a:lumMod val="95000"/>
                  </a:schemeClr>
                </a:solidFill>
              </a:rPr>
              <a:t>RND(−n) and RND(0) behave as documented; RND with a positive argument draws on the KEYIN counter.</a:t>
            </a:r>
          </a:p>
          <a:p>
            <a:pPr lvl="0" algn="l">
              <a:spcAft>
                <a:spcPts val="1200"/>
              </a:spcAft>
            </a:pPr>
            <a:r>
              <a:rPr lang="en-US" dirty="0">
                <a:solidFill>
                  <a:schemeClr val="bg1">
                    <a:lumMod val="95000"/>
                  </a:schemeClr>
                </a:solidFill>
              </a:rPr>
              <a:t>Fixes the seed, not the generator. Needs a language card.</a:t>
            </a:r>
          </a:p>
        </p:txBody>
      </p:sp>
      <p:sp>
        <p:nvSpPr>
          <p:cNvPr id="25" name="Rectangle 24"/>
          <p:cNvSpPr/>
          <p:nvPr/>
        </p:nvSpPr>
        <p:spPr>
          <a:xfrm>
            <a:off x="6949440" y="1673352"/>
            <a:ext cx="4526280" cy="2148840"/>
          </a:xfrm>
          <a:prstGeom prst="rect">
            <a:avLst/>
          </a:prstGeom>
          <a:solidFill>
            <a:srgbClr val="2022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0" y="1783080"/>
            <a:ext cx="4206240" cy="365760"/>
          </a:xfrm>
          <a:prstGeom prst="rect">
            <a:avLst/>
          </a:prstGeom>
          <a:noFill/>
        </p:spPr>
        <p:txBody>
          <a:bodyPr wrap="square">
            <a:spAutoFit/>
          </a:bodyPr>
          <a:lstStyle/>
          <a:p>
            <a:r>
              <a:rPr sz="1600" b="1">
                <a:solidFill>
                  <a:srgbClr val="5FCB7E"/>
                </a:solidFill>
                <a:latin typeface="Arial"/>
              </a:rPr>
              <a:t>“Just seed it first.”</a:t>
            </a:r>
          </a:p>
        </p:txBody>
      </p:sp>
      <p:sp>
        <p:nvSpPr>
          <p:cNvPr id="27" name="TextBox 26"/>
          <p:cNvSpPr txBox="1"/>
          <p:nvPr/>
        </p:nvSpPr>
        <p:spPr>
          <a:xfrm>
            <a:off x="7132320" y="2194560"/>
            <a:ext cx="4206240" cy="1554480"/>
          </a:xfrm>
          <a:prstGeom prst="rect">
            <a:avLst/>
          </a:prstGeom>
          <a:noFill/>
        </p:spPr>
        <p:txBody>
          <a:bodyPr wrap="square">
            <a:spAutoFit/>
          </a:bodyPr>
          <a:lstStyle/>
          <a:p>
            <a:r>
              <a:rPr sz="1300" b="0">
                <a:solidFill>
                  <a:srgbClr val="E9E7E3"/>
                </a:solidFill>
                <a:latin typeface="Arial"/>
              </a:rPr>
              <a:t>New code: X = RND(-(PEEK(78)+256*PEEK(79))) after a keypress. Apple's own advice (Aldridge 1987).</a:t>
            </a:r>
          </a:p>
          <a:p>
            <a:r>
              <a:rPr sz="1300" b="0">
                <a:solidFill>
                  <a:srgbClr val="E9E7E3"/>
                </a:solidFill>
                <a:latin typeface="Arial"/>
              </a:rPr>
              <a:t>Existing code: you can't edit it, and it fails silently.</a:t>
            </a:r>
          </a:p>
        </p:txBody>
      </p:sp>
      <p:sp>
        <p:nvSpPr>
          <p:cNvPr id="28" name="Rectangle 27"/>
          <p:cNvSpPr/>
          <p:nvPr/>
        </p:nvSpPr>
        <p:spPr>
          <a:xfrm>
            <a:off x="6949440" y="3977639"/>
            <a:ext cx="4526280" cy="1828800"/>
          </a:xfrm>
          <a:prstGeom prst="rect">
            <a:avLst/>
          </a:prstGeom>
          <a:solidFill>
            <a:srgbClr val="2022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0" y="4087368"/>
            <a:ext cx="4206240" cy="365760"/>
          </a:xfrm>
          <a:prstGeom prst="rect">
            <a:avLst/>
          </a:prstGeom>
          <a:noFill/>
        </p:spPr>
        <p:txBody>
          <a:bodyPr wrap="square">
            <a:spAutoFit/>
          </a:bodyPr>
          <a:lstStyle/>
          <a:p>
            <a:r>
              <a:rPr sz="1600" b="1">
                <a:solidFill>
                  <a:srgbClr val="5FCB7E"/>
                </a:solidFill>
                <a:latin typeface="Arial"/>
              </a:rPr>
              <a:t>Patch budget</a:t>
            </a:r>
          </a:p>
        </p:txBody>
      </p:sp>
      <p:sp>
        <p:nvSpPr>
          <p:cNvPr id="30" name="TextBox 29"/>
          <p:cNvSpPr txBox="1"/>
          <p:nvPr/>
        </p:nvSpPr>
        <p:spPr>
          <a:xfrm>
            <a:off x="7132320" y="4498848"/>
            <a:ext cx="4206240" cy="1280160"/>
          </a:xfrm>
          <a:prstGeom prst="rect">
            <a:avLst/>
          </a:prstGeom>
          <a:noFill/>
        </p:spPr>
        <p:txBody>
          <a:bodyPr wrap="square">
            <a:spAutoFit/>
          </a:bodyPr>
          <a:lstStyle/>
          <a:p>
            <a:r>
              <a:rPr sz="1300" b="0">
                <a:solidFill>
                  <a:srgbClr val="E9E7E3"/>
                </a:solidFill>
                <a:latin typeface="Arial"/>
              </a:rPr>
              <a:t>HFIND spans $F5CB–$F5FF: 53 bytes.</a:t>
            </a:r>
          </a:p>
          <a:p>
            <a:r>
              <a:rPr sz="1300" b="0">
                <a:solidFill>
                  <a:srgbClr val="E9E7E3"/>
                </a:solidFill>
                <a:latin typeface="Arial"/>
              </a:rPr>
              <a:t>$F600 is an RTS that HLIN (HPLOT TO) branches to: leave it.</a:t>
            </a:r>
          </a:p>
          <a:p>
            <a:r>
              <a:rPr sz="1300" b="0">
                <a:solidFill>
                  <a:srgbClr val="E9E7E3"/>
                </a:solidFill>
                <a:latin typeface="Arial"/>
              </a:rPr>
              <a:t>No JSR or JMP to $F5CB anywhere in the ][+ ROM.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7181A"/>
        </a:solidFill>
        <a:effectLst/>
      </p:bgPr>
    </p:bg>
    <p:spTree>
      <p:nvGrpSpPr>
        <p:cNvPr id="1" name=""/>
        <p:cNvGrpSpPr/>
        <p:nvPr/>
      </p:nvGrpSpPr>
      <p:grpSpPr>
        <a:xfrm>
          <a:off x="0" y="0"/>
          <a:ext cx="0" cy="0"/>
          <a:chOff x="0" y="0"/>
          <a:chExt cx="0" cy="0"/>
        </a:xfrm>
      </p:grpSpPr>
      <p:sp>
        <p:nvSpPr>
          <p:cNvPr id="2" name="Text 0"/>
          <p:cNvSpPr txBox="1"/>
          <p:nvPr/>
        </p:nvSpPr>
        <p:spPr>
          <a:xfrm>
            <a:off x="822960" y="2286000"/>
            <a:ext cx="10515600" cy="731520"/>
          </a:xfrm>
          <a:prstGeom prst="rect">
            <a:avLst/>
          </a:prstGeom>
          <a:noFill/>
          <a:ln/>
        </p:spPr>
        <p:txBody>
          <a:bodyPr wrap="square" lIns="0" tIns="0" rIns="0" bIns="0" rtlCol="0" anchor="ctr"/>
          <a:lstStyle/>
          <a:p>
            <a:pPr marL="0" indent="0">
              <a:buNone/>
            </a:pPr>
            <a:r>
              <a:rPr lang="en-US" sz="4400" b="1" dirty="0">
                <a:solidFill>
                  <a:srgbClr val="E9E7E3"/>
                </a:solidFill>
                <a:latin typeface="Arial" pitchFamily="34" charset="0"/>
                <a:ea typeface="Arial" pitchFamily="34" charset="-122"/>
                <a:cs typeface="Arial" pitchFamily="34" charset="-120"/>
              </a:rPr>
              <a:t>Try it yourself</a:t>
            </a:r>
            <a:endParaRPr lang="en-US" sz="4400" dirty="0"/>
          </a:p>
        </p:txBody>
      </p:sp>
      <p:sp>
        <p:nvSpPr>
          <p:cNvPr id="3" name="Shape 1"/>
          <p:cNvSpPr/>
          <p:nvPr/>
        </p:nvSpPr>
        <p:spPr>
          <a:xfrm>
            <a:off x="841248" y="3200400"/>
            <a:ext cx="1463040" cy="27432"/>
          </a:xfrm>
          <a:prstGeom prst="rect">
            <a:avLst/>
          </a:prstGeom>
          <a:solidFill>
            <a:srgbClr val="5FCB7E"/>
          </a:solidFill>
          <a:ln/>
        </p:spPr>
        <p:txBody>
          <a:bodyPr/>
          <a:lstStyle/>
          <a:p>
            <a:endParaRPr lang="en-US"/>
          </a:p>
        </p:txBody>
      </p:sp>
      <p:sp>
        <p:nvSpPr>
          <p:cNvPr id="5" name="Text 3"/>
          <p:cNvSpPr txBox="1"/>
          <p:nvPr/>
        </p:nvSpPr>
        <p:spPr>
          <a:xfrm>
            <a:off x="822960" y="5394960"/>
            <a:ext cx="10515600" cy="365760"/>
          </a:xfrm>
          <a:prstGeom prst="rect">
            <a:avLst/>
          </a:prstGeom>
          <a:noFill/>
          <a:ln/>
        </p:spPr>
        <p:txBody>
          <a:bodyPr wrap="square" lIns="0" tIns="0" rIns="0" bIns="0" rtlCol="0" anchor="ctr"/>
          <a:lstStyle/>
          <a:p>
            <a:pPr marL="0" indent="0">
              <a:buNone/>
            </a:pPr>
            <a:r>
              <a:rPr lang="en-US" sz="1500" dirty="0">
                <a:solidFill>
                  <a:srgbClr val="9DA39B"/>
                </a:solidFill>
                <a:latin typeface="Arial" pitchFamily="34" charset="0"/>
                <a:ea typeface="Arial" pitchFamily="34" charset="-122"/>
                <a:cs typeface="Arial" pitchFamily="34" charset="-120"/>
              </a:rPr>
              <a:t>Jeff Robison   ·   VCF Midwest 21 2026</a:t>
            </a:r>
            <a:endParaRPr lang="en-US" sz="1500" dirty="0"/>
          </a:p>
        </p:txBody>
      </p:sp>
      <p:sp>
        <p:nvSpPr>
          <p:cNvPr id="8"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9"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9</a:t>
            </a:r>
            <a:endParaRPr lang="en-US" sz="1600" dirty="0"/>
          </a:p>
        </p:txBody>
      </p:sp>
      <p:sp>
        <p:nvSpPr>
          <p:cNvPr id="6" name="TextBox 5"/>
          <p:cNvSpPr txBox="1"/>
          <p:nvPr/>
        </p:nvSpPr>
        <p:spPr>
          <a:xfrm>
            <a:off x="822960" y="3474720"/>
            <a:ext cx="10515600" cy="1280160"/>
          </a:xfrm>
          <a:prstGeom prst="rect">
            <a:avLst/>
          </a:prstGeom>
          <a:noFill/>
        </p:spPr>
        <p:txBody>
          <a:bodyPr wrap="square">
            <a:spAutoFit/>
          </a:bodyPr>
          <a:lstStyle/>
          <a:p>
            <a:r>
              <a:rPr sz="1800" b="0">
                <a:solidFill>
                  <a:srgbClr val="E9E7E3"/>
                </a:solidFill>
                <a:latin typeface="Arial"/>
              </a:rPr>
              <a:t>1977: Integer BASIC's RND was seeded by you.</a:t>
            </a:r>
          </a:p>
          <a:p>
            <a:r>
              <a:rPr sz="1800" b="0">
                <a:solidFill>
                  <a:srgbClr val="E9E7E3"/>
                </a:solidFill>
                <a:latin typeface="Arial"/>
              </a:rPr>
              <a:t>1978: Applesoft's RND was seeded by ROM, and the counter went unread.</a:t>
            </a:r>
          </a:p>
          <a:p>
            <a:r>
              <a:rPr sz="1800" b="0">
                <a:solidFill>
                  <a:srgbClr val="E9E7E3"/>
                </a:solidFill>
                <a:latin typeface="Arial"/>
              </a:rPr>
              <a:t>It hid for years: rerun looked random; only power-on repeated.</a:t>
            </a:r>
          </a:p>
        </p:txBody>
      </p:sp>
      <p:sp>
        <p:nvSpPr>
          <p:cNvPr id="7" name="TextBox 6"/>
          <p:cNvSpPr txBox="1"/>
          <p:nvPr/>
        </p:nvSpPr>
        <p:spPr>
          <a:xfrm>
            <a:off x="822960" y="4800600"/>
            <a:ext cx="10515600" cy="411480"/>
          </a:xfrm>
          <a:prstGeom prst="rect">
            <a:avLst/>
          </a:prstGeom>
          <a:noFill/>
        </p:spPr>
        <p:txBody>
          <a:bodyPr wrap="square">
            <a:spAutoFit/>
          </a:bodyPr>
          <a:lstStyle/>
          <a:p>
            <a:r>
              <a:rPr sz="1500" b="0">
                <a:solidFill>
                  <a:srgbClr val="E0A73E"/>
                </a:solidFill>
                <a:latin typeface="Arial"/>
              </a:rPr>
              <a:t>[ presenter: add link text and QR code here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1104</Words>
  <Application>Microsoft Macintosh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-apple-system</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Applesoft's Loaded Dice (edited)</dc:title>
  <dc:subject>VCF Midwest 21, 2026 - Jeff Robison</dc:subject>
  <dc:creator>PptxGenJS</dc:creator>
  <cp:lastModifiedBy>Jeff Robison</cp:lastModifiedBy>
  <cp:revision>2</cp:revision>
  <dcterms:created xsi:type="dcterms:W3CDTF">2026-09-12T23:48:10Z</dcterms:created>
  <dcterms:modified xsi:type="dcterms:W3CDTF">2026-09-13T03:24:31Z</dcterms:modified>
</cp:coreProperties>
</file>